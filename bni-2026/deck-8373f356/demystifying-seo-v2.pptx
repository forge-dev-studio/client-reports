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take the mystery out of SEO. No jargon, no tricks. One simple picture: a library. By the end you will know exactly what SEO is, and this morning every one of you gets something personal to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last time you needed a plumber or a venue. You did not browse. You asked, and you picked from the top. Your customers do exactly the same thing with your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picture for the whole talk. The internet is a library. Your website is one book in it. Existing is not the problem. Being found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who decides what gets found? The librarian. Google. People ask, and the librarian hands over three books. That is the whole game: this talk is about what makes the librarian trust a book enough to hand it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of SEO is simply your book. Does the cover say what you do and where? Do the chapters answer real questions: cost, timeline, service area, before and after? If your whole site is one page, it is a business card, and librarians do not recommend business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everything that exists about you outside your book. Think of it like references, or peer review. Your card in the catalog, the books that cite yours, and what readers write on the review cards. The librarian weighs all of it, and you cannot write any of it yourself. One rule above all: every reference must match. An inconsistent name, address, or phone quietly kills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parts together and the decision is not magic: a book worth reading, references that agree, readers who come back. And ads? Ads are the flyers handed out on the sidewalk. Useful, instant, clearly labeled, and gone when the money stops. The recommendation cannot be bought. That is why it is worth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nobody expects. Ask a room what matters most and people guess reviews, sixty or seventy percent. The industry research says about a fifth. Reviews did grow, sixteen percent a few years ago to about twenty now, but the biggest lever is the boring one: a complete, active Business Profile at thirty two. Your book and your references carry most of the rest, and citations are worth fixing once, not obsessing over. This is the Whitespark annual industry survey, the standard reference for local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fog clearing, because this industry is full of it. SEO is not a one time fix, not keyword stuffing, not something you buy from Google, and not magic. If someone promises you page one by Friday, hold on to your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matters most for every business in this room. For local searches the librarian keeps a display shelf at the front door: the map with three names. Most customers pick from it without ever scrolling further. Local SEO is the fight for that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theory. We ran a real audit on the room you are sitting in. Twenty searches in the Rome market: River Arts Venue is on the front shelf for seventeen of them and number one for twelve, including event venue, the big one. And the audit shows the edges too: wedding venue sits at six, birthday party and rehearsal dinner at five. Knowing exactly where you stand, win and miss, is what an audit is. The full report is at the link on screen, same style yours will arrive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I am excited about. We did not stop at the venue. We measured this chapter. Fourteen member businesses, twenty search phrases each, a thirty mile radius around every one of you. Four thousand four hundred forty real Google searches.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you gets your own report this morning: where you already own the shelf, where you are one step from it, and three actions, in plain English like today. Watch your inbox. If it is not there by ten, come see me and I will resend it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Your report lands this morning. Read it, and if anything in it does not make sense, grab me after the meeting or any time this week. I would rather explain it over coffee than have it sit unread.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forge-dev-studio.github.io/client-reports/river-arts-venue/" TargetMode="External"/><Relationship Id="rId1" Type="http://schemas.openxmlformats.org/officeDocument/2006/relationships/image" Target="../media/Slide-11-image-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72400" y="640080"/>
            <a:ext cx="3383280" cy="3383280"/>
          </a:xfrm>
          <a:prstGeom prst="ellipse">
            <a:avLst/>
          </a:prstGeom>
          <a:ln w="12700">
            <a:solidFill>
              <a:srgbClr val="3B82F6">
                <a:alpha val="28000"/>
              </a:srgbClr>
            </a:solidFill>
            <a:prstDash val="solid"/>
          </a:ln>
        </p:spPr>
      </p:sp>
      <p:sp>
        <p:nvSpPr>
          <p:cNvPr id="3" name="Shape 1"/>
          <p:cNvSpPr/>
          <p:nvPr/>
        </p:nvSpPr>
        <p:spPr>
          <a:xfrm>
            <a:off x="8275320" y="1143000"/>
            <a:ext cx="2377440" cy="2377440"/>
          </a:xfrm>
          <a:prstGeom prst="ellipse">
            <a:avLst/>
          </a:prstGeom>
          <a:ln w="12700">
            <a:solidFill>
              <a:srgbClr val="38BDF8">
                <a:alpha val="45000"/>
              </a:srgbClr>
            </a:solidFill>
            <a:prstDash val="solid"/>
          </a:ln>
        </p:spPr>
      </p:sp>
      <p:sp>
        <p:nvSpPr>
          <p:cNvPr id="4" name="Shape 2"/>
          <p:cNvSpPr/>
          <p:nvPr/>
        </p:nvSpPr>
        <p:spPr>
          <a:xfrm>
            <a:off x="8897112" y="1764792"/>
            <a:ext cx="1133856" cy="1133856"/>
          </a:xfrm>
          <a:prstGeom prst="ellipse">
            <a:avLst/>
          </a:prstGeom>
          <a:solidFill>
            <a:srgbClr val="243146"/>
          </a:solidFill>
          <a:ln w="9525">
            <a:solidFill>
              <a:srgbClr val="334155">
                <a:alpha val="70000"/>
              </a:srgbClr>
            </a:solidFill>
            <a:prstDash val="solid"/>
          </a:ln>
        </p:spPr>
      </p:sp>
      <p:pic>
        <p:nvPicPr>
          <p:cNvPr id="5" name="Image 0" descr="preencoded.png">    </p:cNvPr>
          <p:cNvPicPr>
            <a:picLocks noChangeAspect="1"/>
          </p:cNvPicPr>
          <p:nvPr/>
        </p:nvPicPr>
        <p:blipFill>
          <a:blip r:embed="rId2"/>
          <a:stretch>
            <a:fillRect/>
          </a:stretch>
        </p:blipFill>
        <p:spPr>
          <a:xfrm>
            <a:off x="9191915" y="2059595"/>
            <a:ext cx="544251" cy="544251"/>
          </a:xfrm>
          <a:prstGeom prst="rect">
            <a:avLst/>
          </a:prstGeom>
        </p:spPr>
      </p:pic>
      <p:sp>
        <p:nvSpPr>
          <p:cNvPr id="6" name="Text 3"/>
          <p:cNvSpPr/>
          <p:nvPr/>
        </p:nvSpPr>
        <p:spPr>
          <a:xfrm>
            <a:off x="822960" y="1920240"/>
            <a:ext cx="82296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BNI COMMUNITY CONNECTORS  ·  RIVER ARTS VENUE  ·  JULY 21, 2026</a:t>
            </a:r>
            <a:endParaRPr lang="en-US" sz="1200" dirty="0"/>
          </a:p>
        </p:txBody>
      </p:sp>
      <p:sp>
        <p:nvSpPr>
          <p:cNvPr id="7" name="Text 4"/>
          <p:cNvSpPr/>
          <p:nvPr/>
        </p:nvSpPr>
        <p:spPr>
          <a:xfrm>
            <a:off x="795528" y="2286000"/>
            <a:ext cx="8778240" cy="1234440"/>
          </a:xfrm>
          <a:prstGeom prst="rect">
            <a:avLst/>
          </a:prstGeom>
          <a:noFill/>
          <a:ln/>
        </p:spPr>
        <p:txBody>
          <a:bodyPr wrap="square" lIns="0" tIns="0" rIns="0" bIns="0" rtlCol="0" anchor="ctr"/>
          <a:lstStyle/>
          <a:p>
            <a:pPr algn="l" indent="0" marL="0">
              <a:lnSpc>
                <a:spcPct val="104000"/>
              </a:lnSpc>
              <a:buNone/>
            </a:pPr>
            <a:r>
              <a:rPr lang="en-US" sz="6000" b="1" dirty="0">
                <a:solidFill>
                  <a:srgbClr val="F8FAFC"/>
                </a:solidFill>
                <a:latin typeface="Outfit" pitchFamily="34" charset="0"/>
                <a:ea typeface="Outfit" pitchFamily="34" charset="-122"/>
                <a:cs typeface="Outfit" pitchFamily="34" charset="-120"/>
              </a:rPr>
              <a:t>Demystifying SEO</a:t>
            </a:r>
            <a:endParaRPr lang="en-US" sz="6000" dirty="0"/>
          </a:p>
        </p:txBody>
      </p:sp>
      <p:sp>
        <p:nvSpPr>
          <p:cNvPr id="8" name="Text 5"/>
          <p:cNvSpPr/>
          <p:nvPr/>
        </p:nvSpPr>
        <p:spPr>
          <a:xfrm>
            <a:off x="822960" y="3611880"/>
            <a:ext cx="7315200" cy="457200"/>
          </a:xfrm>
          <a:prstGeom prst="rect">
            <a:avLst/>
          </a:prstGeom>
          <a:noFill/>
          <a:ln/>
        </p:spPr>
        <p:txBody>
          <a:bodyPr wrap="square" lIns="0" tIns="0" rIns="0" bIns="0" rtlCol="0" anchor="ctr"/>
          <a:lstStyle/>
          <a:p>
            <a:pPr indent="0" marL="0">
              <a:buNone/>
            </a:pPr>
            <a:r>
              <a:rPr lang="en-US" sz="2100" dirty="0">
                <a:solidFill>
                  <a:srgbClr val="38BDF8"/>
                </a:solidFill>
                <a:latin typeface="Inter" pitchFamily="34" charset="0"/>
                <a:ea typeface="Inter" pitchFamily="34" charset="-122"/>
                <a:cs typeface="Inter" pitchFamily="34" charset="-120"/>
              </a:rPr>
              <a:t>What it is, in plain English.</a:t>
            </a:r>
            <a:endParaRPr lang="en-US" sz="2100" dirty="0"/>
          </a:p>
        </p:txBody>
      </p:sp>
      <p:sp>
        <p:nvSpPr>
          <p:cNvPr id="9" name="Shape 6"/>
          <p:cNvSpPr/>
          <p:nvPr/>
        </p:nvSpPr>
        <p:spPr>
          <a:xfrm>
            <a:off x="822960" y="5166360"/>
            <a:ext cx="4206240" cy="914400"/>
          </a:xfrm>
          <a:prstGeom prst="roundRect">
            <a:avLst>
              <a:gd name="adj" fmla="val 12000"/>
            </a:avLst>
          </a:prstGeom>
          <a:solidFill>
            <a:srgbClr val="1E293B">
              <a:alpha val="78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Text 7"/>
          <p:cNvSpPr/>
          <p:nvPr/>
        </p:nvSpPr>
        <p:spPr>
          <a:xfrm>
            <a:off x="1097280" y="5349240"/>
            <a:ext cx="365760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Eric Kirby</a:t>
            </a:r>
            <a:endParaRPr lang="en-US" sz="1600" dirty="0"/>
          </a:p>
        </p:txBody>
      </p:sp>
      <p:sp>
        <p:nvSpPr>
          <p:cNvPr id="11" name="Text 8"/>
          <p:cNvSpPr/>
          <p:nvPr/>
        </p:nvSpPr>
        <p:spPr>
          <a:xfrm>
            <a:off x="1097280" y="5687568"/>
            <a:ext cx="3749040" cy="274320"/>
          </a:xfrm>
          <a:prstGeom prst="rect">
            <a:avLst/>
          </a:prstGeom>
          <a:noFill/>
          <a:ln/>
        </p:spPr>
        <p:txBody>
          <a:bodyPr wrap="square" lIns="0" tIns="0" rIns="0" bIns="0" rtlCol="0" anchor="ctr"/>
          <a:lstStyle/>
          <a:p>
            <a:pPr indent="0" marL="0">
              <a:buNone/>
            </a:pPr>
            <a:r>
              <a:rPr lang="en-US" sz="1300" dirty="0">
                <a:solidFill>
                  <a:srgbClr val="E2E8F2"/>
                </a:solidFill>
                <a:latin typeface="Inter" pitchFamily="34" charset="0"/>
                <a:ea typeface="Inter" pitchFamily="34" charset="-122"/>
                <a:cs typeface="Inter" pitchFamily="34" charset="-120"/>
              </a:rPr>
              <a:t>Synergy Telecom  ·  synergytelecom.org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HOW CUSTOMERS FIND YOU</a:t>
            </a:r>
            <a:endParaRPr lang="en-US" sz="1200" dirty="0"/>
          </a:p>
        </p:txBody>
      </p:sp>
      <p:sp>
        <p:nvSpPr>
          <p:cNvPr id="3" name="Text 1"/>
          <p:cNvSpPr/>
          <p:nvPr/>
        </p:nvSpPr>
        <p:spPr>
          <a:xfrm>
            <a:off x="795528" y="1188720"/>
            <a:ext cx="5120640" cy="1737360"/>
          </a:xfrm>
          <a:prstGeom prst="rect">
            <a:avLst/>
          </a:prstGeom>
          <a:noFill/>
          <a:ln/>
        </p:spPr>
        <p:txBody>
          <a:bodyPr wrap="square" lIns="0" tIns="0" rIns="0" bIns="0" rtlCol="0" anchor="ctr"/>
          <a:lstStyle/>
          <a:p>
            <a:pPr algn="l" indent="0" marL="0">
              <a:lnSpc>
                <a:spcPct val="104000"/>
              </a:lnSpc>
              <a:buNone/>
            </a:pPr>
            <a:r>
              <a:rPr lang="en-US" sz="4000" b="1" dirty="0">
                <a:solidFill>
                  <a:srgbClr val="F8FAFC"/>
                </a:solidFill>
                <a:latin typeface="Outfit" pitchFamily="34" charset="0"/>
                <a:ea typeface="Outfit" pitchFamily="34" charset="-122"/>
                <a:cs typeface="Outfit" pitchFamily="34" charset="-120"/>
              </a:rPr>
              <a:t>Nobody browses.</a:t>
            </a:r>
            <a:endParaRPr lang="en-US" sz="4000" dirty="0"/>
          </a:p>
          <a:p>
            <a:pPr algn="l" indent="0" marL="0">
              <a:lnSpc>
                <a:spcPct val="104000"/>
              </a:lnSpc>
              <a:buNone/>
            </a:pPr>
            <a:r>
              <a:rPr lang="en-US" sz="4000" b="1" dirty="0">
                <a:solidFill>
                  <a:srgbClr val="F8FAFC"/>
                </a:solidFill>
                <a:latin typeface="Outfit" pitchFamily="34" charset="0"/>
                <a:ea typeface="Outfit" pitchFamily="34" charset="-122"/>
                <a:cs typeface="Outfit" pitchFamily="34" charset="-120"/>
              </a:rPr>
              <a:t>They ask.</a:t>
            </a:r>
            <a:endParaRPr lang="en-US" sz="4000" dirty="0"/>
          </a:p>
        </p:txBody>
      </p:sp>
      <p:sp>
        <p:nvSpPr>
          <p:cNvPr id="4" name="Text 2"/>
          <p:cNvSpPr/>
          <p:nvPr/>
        </p:nvSpPr>
        <p:spPr>
          <a:xfrm>
            <a:off x="822960" y="3154680"/>
            <a:ext cx="4754880" cy="1463040"/>
          </a:xfrm>
          <a:prstGeom prst="rect">
            <a:avLst/>
          </a:prstGeom>
          <a:noFill/>
          <a:ln/>
        </p:spPr>
        <p:txBody>
          <a:bodyPr wrap="square" lIns="0" tIns="0" rIns="0" bIns="0" rtlCol="0" anchor="t"/>
          <a:lstStyle/>
          <a:p>
            <a:pPr algn="l" indent="0" marL="0">
              <a:lnSpc>
                <a:spcPct val="125000"/>
              </a:lnSpc>
              <a:buNone/>
            </a:pPr>
            <a:r>
              <a:rPr lang="en-US" sz="1600" dirty="0">
                <a:solidFill>
                  <a:srgbClr val="E2E8F2"/>
                </a:solidFill>
                <a:latin typeface="Inter" pitchFamily="34" charset="0"/>
                <a:ea typeface="Inter" pitchFamily="34" charset="-122"/>
                <a:cs typeface="Inter" pitchFamily="34" charset="-120"/>
              </a:rPr>
              <a:t>When someone needs what you do, they do not wander the internet hoping to bump into you. They type a question and pick from the first answers they see.</a:t>
            </a:r>
            <a:endParaRPr lang="en-US" sz="1600" dirty="0"/>
          </a:p>
        </p:txBody>
      </p:sp>
      <p:sp>
        <p:nvSpPr>
          <p:cNvPr id="5" name="Shape 3"/>
          <p:cNvSpPr/>
          <p:nvPr/>
        </p:nvSpPr>
        <p:spPr>
          <a:xfrm>
            <a:off x="6309360" y="1600200"/>
            <a:ext cx="5029200" cy="777240"/>
          </a:xfrm>
          <a:prstGeom prst="roundRect">
            <a:avLst>
              <a:gd name="adj" fmla="val 49412"/>
            </a:avLst>
          </a:prstGeom>
          <a:solidFill>
            <a:srgbClr val="1E293B">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pic>
        <p:nvPicPr>
          <p:cNvPr id="6" name="Image 0" descr="preencoded.png">    </p:cNvPr>
          <p:cNvPicPr>
            <a:picLocks noChangeAspect="1"/>
          </p:cNvPicPr>
          <p:nvPr/>
        </p:nvPicPr>
        <p:blipFill>
          <a:blip r:embed="rId2"/>
          <a:stretch>
            <a:fillRect/>
          </a:stretch>
        </p:blipFill>
        <p:spPr>
          <a:xfrm>
            <a:off x="6629400" y="1819656"/>
            <a:ext cx="347472" cy="347472"/>
          </a:xfrm>
          <a:prstGeom prst="rect">
            <a:avLst/>
          </a:prstGeom>
        </p:spPr>
      </p:pic>
      <p:sp>
        <p:nvSpPr>
          <p:cNvPr id="7" name="Text 4"/>
          <p:cNvSpPr/>
          <p:nvPr/>
        </p:nvSpPr>
        <p:spPr>
          <a:xfrm>
            <a:off x="7132320" y="1737360"/>
            <a:ext cx="4023360" cy="502920"/>
          </a:xfrm>
          <a:prstGeom prst="rect">
            <a:avLst/>
          </a:prstGeom>
          <a:noFill/>
          <a:ln/>
        </p:spPr>
        <p:txBody>
          <a:bodyPr wrap="square" lIns="0" tIns="0" rIns="0" bIns="0" rtlCol="0" anchor="ctr"/>
          <a:lstStyle/>
          <a:p>
            <a:pPr indent="0" marL="0">
              <a:buNone/>
            </a:pPr>
            <a:r>
              <a:rPr lang="en-US" sz="1600" dirty="0">
                <a:solidFill>
                  <a:srgbClr val="F8FAFC"/>
                </a:solidFill>
                <a:latin typeface="Inter" pitchFamily="34" charset="0"/>
                <a:ea typeface="Inter" pitchFamily="34" charset="-122"/>
                <a:cs typeface="Inter" pitchFamily="34" charset="-120"/>
              </a:rPr>
              <a:t>wedding venue rome ga</a:t>
            </a:r>
            <a:endParaRPr lang="en-US" sz="1600" dirty="0"/>
          </a:p>
        </p:txBody>
      </p:sp>
      <p:sp>
        <p:nvSpPr>
          <p:cNvPr id="8" name="Shape 5"/>
          <p:cNvSpPr/>
          <p:nvPr/>
        </p:nvSpPr>
        <p:spPr>
          <a:xfrm>
            <a:off x="6309360" y="2697480"/>
            <a:ext cx="5029200" cy="2377440"/>
          </a:xfrm>
          <a:prstGeom prst="roundRect">
            <a:avLst>
              <a:gd name="adj" fmla="val 4615"/>
            </a:avLst>
          </a:prstGeom>
          <a:solidFill>
            <a:srgbClr val="1E293B">
              <a:alpha val="70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9" name="Shape 6"/>
          <p:cNvSpPr/>
          <p:nvPr/>
        </p:nvSpPr>
        <p:spPr>
          <a:xfrm>
            <a:off x="6675120" y="3063240"/>
            <a:ext cx="3017520" cy="274320"/>
          </a:xfrm>
          <a:prstGeom prst="roundRect">
            <a:avLst>
              <a:gd name="adj" fmla="val 50000"/>
            </a:avLst>
          </a:prstGeom>
          <a:solidFill>
            <a:srgbClr val="3B82F6">
              <a:alpha val="85000"/>
            </a:srgbClr>
          </a:solidFill>
          <a:ln/>
        </p:spPr>
      </p:sp>
      <p:sp>
        <p:nvSpPr>
          <p:cNvPr id="10" name="Shape 7"/>
          <p:cNvSpPr/>
          <p:nvPr/>
        </p:nvSpPr>
        <p:spPr>
          <a:xfrm>
            <a:off x="6675120" y="3520440"/>
            <a:ext cx="4206240" cy="201168"/>
          </a:xfrm>
          <a:prstGeom prst="roundRect">
            <a:avLst>
              <a:gd name="adj" fmla="val 50000"/>
            </a:avLst>
          </a:prstGeom>
          <a:solidFill>
            <a:srgbClr val="334155">
              <a:alpha val="60000"/>
            </a:srgbClr>
          </a:solidFill>
          <a:ln/>
        </p:spPr>
      </p:sp>
      <p:sp>
        <p:nvSpPr>
          <p:cNvPr id="11" name="Shape 8"/>
          <p:cNvSpPr/>
          <p:nvPr/>
        </p:nvSpPr>
        <p:spPr>
          <a:xfrm>
            <a:off x="6675120" y="3904488"/>
            <a:ext cx="3749040" cy="201168"/>
          </a:xfrm>
          <a:prstGeom prst="roundRect">
            <a:avLst>
              <a:gd name="adj" fmla="val 50000"/>
            </a:avLst>
          </a:prstGeom>
          <a:solidFill>
            <a:srgbClr val="334155">
              <a:alpha val="60000"/>
            </a:srgbClr>
          </a:solidFill>
          <a:ln/>
        </p:spPr>
      </p:sp>
      <p:sp>
        <p:nvSpPr>
          <p:cNvPr id="12" name="Shape 9"/>
          <p:cNvSpPr/>
          <p:nvPr/>
        </p:nvSpPr>
        <p:spPr>
          <a:xfrm>
            <a:off x="6675120" y="4288536"/>
            <a:ext cx="4023360" cy="201168"/>
          </a:xfrm>
          <a:prstGeom prst="roundRect">
            <a:avLst>
              <a:gd name="adj" fmla="val 50000"/>
            </a:avLst>
          </a:prstGeom>
          <a:solidFill>
            <a:srgbClr val="334155">
              <a:alpha val="60000"/>
            </a:srgbClr>
          </a:solidFill>
          <a:ln/>
        </p:spPr>
      </p:sp>
      <p:sp>
        <p:nvSpPr>
          <p:cNvPr id="13" name="Shape 10"/>
          <p:cNvSpPr/>
          <p:nvPr/>
        </p:nvSpPr>
        <p:spPr>
          <a:xfrm>
            <a:off x="6675120" y="4672584"/>
            <a:ext cx="2651760" cy="201168"/>
          </a:xfrm>
          <a:prstGeom prst="roundRect">
            <a:avLst>
              <a:gd name="adj" fmla="val 50000"/>
            </a:avLst>
          </a:prstGeom>
          <a:solidFill>
            <a:srgbClr val="334155">
              <a:alpha val="60000"/>
            </a:srgbClr>
          </a:solidFill>
          <a:ln/>
        </p:spPr>
      </p:sp>
      <p:sp>
        <p:nvSpPr>
          <p:cNvPr id="14" name="Text 11"/>
          <p:cNvSpPr/>
          <p:nvPr/>
        </p:nvSpPr>
        <p:spPr>
          <a:xfrm>
            <a:off x="6355080" y="5257800"/>
            <a:ext cx="4937760" cy="365760"/>
          </a:xfrm>
          <a:prstGeom prst="rect">
            <a:avLst/>
          </a:prstGeom>
          <a:noFill/>
          <a:ln/>
        </p:spPr>
        <p:txBody>
          <a:bodyPr wrap="square" lIns="0" tIns="0" rIns="0" bIns="0" rtlCol="0" anchor="ctr"/>
          <a:lstStyle/>
          <a:p>
            <a:pPr indent="0" marL="0">
              <a:buNone/>
            </a:pPr>
            <a:r>
              <a:rPr lang="en-US" sz="1350" i="1" dirty="0">
                <a:solidFill>
                  <a:srgbClr val="E2E8F2"/>
                </a:solidFill>
                <a:latin typeface="Inter" pitchFamily="34" charset="0"/>
                <a:ea typeface="Inter" pitchFamily="34" charset="-122"/>
                <a:cs typeface="Inter" pitchFamily="34" charset="-120"/>
              </a:rPr>
              <a:t>The first answers win. The rest are invisible.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THE PICTURE</a:t>
            </a:r>
            <a:endParaRPr lang="en-US" sz="1200" dirty="0"/>
          </a:p>
        </p:txBody>
      </p:sp>
      <p:sp>
        <p:nvSpPr>
          <p:cNvPr id="3" name="Text 1"/>
          <p:cNvSpPr/>
          <p:nvPr/>
        </p:nvSpPr>
        <p:spPr>
          <a:xfrm>
            <a:off x="795528" y="1188720"/>
            <a:ext cx="5394960" cy="914400"/>
          </a:xfrm>
          <a:prstGeom prst="rect">
            <a:avLst/>
          </a:prstGeom>
          <a:noFill/>
          <a:ln/>
        </p:spPr>
        <p:txBody>
          <a:bodyPr wrap="square" lIns="0" tIns="0" rIns="0" bIns="0" rtlCol="0" anchor="ctr"/>
          <a:lstStyle/>
          <a:p>
            <a:pPr algn="l" indent="0" marL="0">
              <a:lnSpc>
                <a:spcPct val="104000"/>
              </a:lnSpc>
              <a:buNone/>
            </a:pPr>
            <a:r>
              <a:rPr lang="en-US" sz="3800" b="1" dirty="0">
                <a:solidFill>
                  <a:srgbClr val="F8FAFC"/>
                </a:solidFill>
                <a:latin typeface="Outfit" pitchFamily="34" charset="0"/>
                <a:ea typeface="Outfit" pitchFamily="34" charset="-122"/>
                <a:cs typeface="Outfit" pitchFamily="34" charset="-120"/>
              </a:rPr>
              <a:t>The internet is a library.</a:t>
            </a:r>
            <a:endParaRPr lang="en-US" sz="3800" dirty="0"/>
          </a:p>
        </p:txBody>
      </p:sp>
      <p:sp>
        <p:nvSpPr>
          <p:cNvPr id="4" name="Text 2"/>
          <p:cNvSpPr/>
          <p:nvPr/>
        </p:nvSpPr>
        <p:spPr>
          <a:xfrm>
            <a:off x="822960" y="2286000"/>
            <a:ext cx="4663440" cy="1828800"/>
          </a:xfrm>
          <a:prstGeom prst="rect">
            <a:avLst/>
          </a:prstGeom>
          <a:noFill/>
          <a:ln/>
        </p:spPr>
        <p:txBody>
          <a:bodyPr wrap="square" lIns="0" tIns="0" rIns="0" bIns="0" rtlCol="0" anchor="t"/>
          <a:lstStyle/>
          <a:p>
            <a:pPr algn="l" indent="0" marL="0">
              <a:lnSpc>
                <a:spcPct val="125000"/>
              </a:lnSpc>
              <a:buNone/>
            </a:pPr>
            <a:r>
              <a:rPr lang="en-US" sz="1600" dirty="0">
                <a:solidFill>
                  <a:srgbClr val="E2E8F2"/>
                </a:solidFill>
                <a:latin typeface="Inter" pitchFamily="34" charset="0"/>
                <a:ea typeface="Inter" pitchFamily="34" charset="-122"/>
                <a:cs typeface="Inter" pitchFamily="34" charset="-120"/>
              </a:rPr>
              <a:t>Every business, every article, every menu, every review. All of it shelved in one impossibly large building.</a:t>
            </a:r>
            <a:endParaRPr lang="en-US" sz="1600" dirty="0"/>
          </a:p>
          <a:p>
            <a:pPr algn="l" indent="0" marL="0">
              <a:lnSpc>
                <a:spcPct val="125000"/>
              </a:lnSpc>
              <a:buNone/>
            </a:pPr>
            <a:endParaRPr lang="en-US" sz="1600" dirty="0"/>
          </a:p>
          <a:p>
            <a:pPr algn="l" indent="0" marL="0">
              <a:lnSpc>
                <a:spcPct val="125000"/>
              </a:lnSpc>
              <a:buNone/>
            </a:pPr>
            <a:r>
              <a:rPr lang="en-US" sz="1600" dirty="0">
                <a:solidFill>
                  <a:srgbClr val="E2E8F2"/>
                </a:solidFill>
                <a:latin typeface="Inter" pitchFamily="34" charset="0"/>
                <a:ea typeface="Inter" pitchFamily="34" charset="-122"/>
                <a:cs typeface="Inter" pitchFamily="34" charset="-120"/>
              </a:rPr>
              <a:t>Your website is in there right now.</a:t>
            </a:r>
            <a:endParaRPr lang="en-US" sz="1600" dirty="0"/>
          </a:p>
        </p:txBody>
      </p:sp>
      <p:sp>
        <p:nvSpPr>
          <p:cNvPr id="5" name="Text 3"/>
          <p:cNvSpPr/>
          <p:nvPr/>
        </p:nvSpPr>
        <p:spPr>
          <a:xfrm>
            <a:off x="822960" y="4572000"/>
            <a:ext cx="4754880" cy="822960"/>
          </a:xfrm>
          <a:prstGeom prst="rect">
            <a:avLst/>
          </a:prstGeom>
          <a:noFill/>
          <a:ln/>
        </p:spPr>
        <p:txBody>
          <a:bodyPr wrap="square" lIns="0" tIns="0" rIns="0" bIns="0" rtlCol="0" anchor="ctr"/>
          <a:lstStyle/>
          <a:p>
            <a:pPr indent="0" marL="0">
              <a:lnSpc>
                <a:spcPct val="115000"/>
              </a:lnSpc>
              <a:buNone/>
            </a:pPr>
            <a:r>
              <a:rPr lang="en-US" sz="1900" b="1" dirty="0">
                <a:solidFill>
                  <a:srgbClr val="38BDF8"/>
                </a:solidFill>
                <a:latin typeface="Outfit" pitchFamily="34" charset="0"/>
                <a:ea typeface="Outfit" pitchFamily="34" charset="-122"/>
                <a:cs typeface="Outfit" pitchFamily="34" charset="-120"/>
              </a:rPr>
              <a:t>Being in the library is not the same as being found.</a:t>
            </a:r>
            <a:endParaRPr lang="en-US" sz="1900" dirty="0"/>
          </a:p>
        </p:txBody>
      </p:sp>
      <p:sp>
        <p:nvSpPr>
          <p:cNvPr id="6" name="Shape 4"/>
          <p:cNvSpPr/>
          <p:nvPr/>
        </p:nvSpPr>
        <p:spPr>
          <a:xfrm>
            <a:off x="6217920" y="1051560"/>
            <a:ext cx="5120640" cy="4480560"/>
          </a:xfrm>
          <a:prstGeom prst="roundRect">
            <a:avLst>
              <a:gd name="adj" fmla="val 2449"/>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6629400" y="1645920"/>
            <a:ext cx="310896" cy="1371600"/>
          </a:xfrm>
          <a:prstGeom prst="roundRect">
            <a:avLst>
              <a:gd name="adj" fmla="val 8824"/>
            </a:avLst>
          </a:prstGeom>
          <a:solidFill>
            <a:srgbClr val="2A3852">
              <a:alpha val="82000"/>
            </a:srgbClr>
          </a:solidFill>
          <a:ln/>
        </p:spPr>
      </p:sp>
      <p:sp>
        <p:nvSpPr>
          <p:cNvPr id="8" name="Shape 6"/>
          <p:cNvSpPr/>
          <p:nvPr/>
        </p:nvSpPr>
        <p:spPr>
          <a:xfrm>
            <a:off x="7050024" y="1783080"/>
            <a:ext cx="356616" cy="1234440"/>
          </a:xfrm>
          <a:prstGeom prst="roundRect">
            <a:avLst>
              <a:gd name="adj" fmla="val 7692"/>
            </a:avLst>
          </a:prstGeom>
          <a:solidFill>
            <a:srgbClr val="3A4A63">
              <a:alpha val="82000"/>
            </a:srgbClr>
          </a:solidFill>
          <a:ln/>
        </p:spPr>
      </p:sp>
      <p:sp>
        <p:nvSpPr>
          <p:cNvPr id="9" name="Shape 7"/>
          <p:cNvSpPr/>
          <p:nvPr/>
        </p:nvSpPr>
        <p:spPr>
          <a:xfrm>
            <a:off x="7516368" y="1600200"/>
            <a:ext cx="402336" cy="1417320"/>
          </a:xfrm>
          <a:prstGeom prst="roundRect">
            <a:avLst>
              <a:gd name="adj" fmla="val 6818"/>
            </a:avLst>
          </a:prstGeom>
          <a:solidFill>
            <a:srgbClr val="2A3852">
              <a:alpha val="82000"/>
            </a:srgbClr>
          </a:solidFill>
          <a:ln/>
        </p:spPr>
      </p:sp>
      <p:sp>
        <p:nvSpPr>
          <p:cNvPr id="10" name="Shape 8"/>
          <p:cNvSpPr/>
          <p:nvPr/>
        </p:nvSpPr>
        <p:spPr>
          <a:xfrm>
            <a:off x="8028432" y="1737360"/>
            <a:ext cx="310896" cy="1280160"/>
          </a:xfrm>
          <a:prstGeom prst="roundRect">
            <a:avLst>
              <a:gd name="adj" fmla="val 8824"/>
            </a:avLst>
          </a:prstGeom>
          <a:solidFill>
            <a:srgbClr val="3A4A63">
              <a:alpha val="82000"/>
            </a:srgbClr>
          </a:solidFill>
          <a:ln/>
        </p:spPr>
      </p:sp>
      <p:sp>
        <p:nvSpPr>
          <p:cNvPr id="11" name="Shape 9"/>
          <p:cNvSpPr/>
          <p:nvPr/>
        </p:nvSpPr>
        <p:spPr>
          <a:xfrm>
            <a:off x="8449056" y="1645920"/>
            <a:ext cx="356616" cy="1371600"/>
          </a:xfrm>
          <a:prstGeom prst="roundRect">
            <a:avLst>
              <a:gd name="adj" fmla="val 7692"/>
            </a:avLst>
          </a:prstGeom>
          <a:solidFill>
            <a:srgbClr val="2A3852">
              <a:alpha val="82000"/>
            </a:srgbClr>
          </a:solidFill>
          <a:ln/>
        </p:spPr>
      </p:sp>
      <p:sp>
        <p:nvSpPr>
          <p:cNvPr id="12" name="Shape 10"/>
          <p:cNvSpPr/>
          <p:nvPr/>
        </p:nvSpPr>
        <p:spPr>
          <a:xfrm>
            <a:off x="8915400" y="1828800"/>
            <a:ext cx="402336" cy="1188720"/>
          </a:xfrm>
          <a:prstGeom prst="roundRect">
            <a:avLst>
              <a:gd name="adj" fmla="val 6818"/>
            </a:avLst>
          </a:prstGeom>
          <a:solidFill>
            <a:srgbClr val="3A4A63">
              <a:alpha val="82000"/>
            </a:srgbClr>
          </a:solidFill>
          <a:ln/>
        </p:spPr>
      </p:sp>
      <p:sp>
        <p:nvSpPr>
          <p:cNvPr id="13" name="Shape 11"/>
          <p:cNvSpPr/>
          <p:nvPr/>
        </p:nvSpPr>
        <p:spPr>
          <a:xfrm>
            <a:off x="9427464" y="1600200"/>
            <a:ext cx="310896" cy="1417320"/>
          </a:xfrm>
          <a:prstGeom prst="roundRect">
            <a:avLst>
              <a:gd name="adj" fmla="val 8824"/>
            </a:avLst>
          </a:prstGeom>
          <a:solidFill>
            <a:srgbClr val="2A3852">
              <a:alpha val="82000"/>
            </a:srgbClr>
          </a:solidFill>
          <a:ln/>
        </p:spPr>
      </p:sp>
      <p:sp>
        <p:nvSpPr>
          <p:cNvPr id="14" name="Shape 12"/>
          <p:cNvSpPr/>
          <p:nvPr/>
        </p:nvSpPr>
        <p:spPr>
          <a:xfrm>
            <a:off x="9848088" y="1691640"/>
            <a:ext cx="356616" cy="1325880"/>
          </a:xfrm>
          <a:prstGeom prst="roundRect">
            <a:avLst>
              <a:gd name="adj" fmla="val 7692"/>
            </a:avLst>
          </a:prstGeom>
          <a:solidFill>
            <a:srgbClr val="3A4A63">
              <a:alpha val="82000"/>
            </a:srgbClr>
          </a:solidFill>
          <a:ln/>
        </p:spPr>
      </p:sp>
      <p:sp>
        <p:nvSpPr>
          <p:cNvPr id="15" name="Shape 13"/>
          <p:cNvSpPr/>
          <p:nvPr/>
        </p:nvSpPr>
        <p:spPr>
          <a:xfrm>
            <a:off x="10314432" y="1783080"/>
            <a:ext cx="402336" cy="1234440"/>
          </a:xfrm>
          <a:prstGeom prst="roundRect">
            <a:avLst>
              <a:gd name="adj" fmla="val 6818"/>
            </a:avLst>
          </a:prstGeom>
          <a:solidFill>
            <a:srgbClr val="2A3852">
              <a:alpha val="82000"/>
            </a:srgbClr>
          </a:solidFill>
          <a:ln/>
        </p:spPr>
      </p:sp>
      <p:sp>
        <p:nvSpPr>
          <p:cNvPr id="16" name="Shape 14"/>
          <p:cNvSpPr/>
          <p:nvPr/>
        </p:nvSpPr>
        <p:spPr>
          <a:xfrm>
            <a:off x="10826496" y="1645920"/>
            <a:ext cx="310896" cy="1371600"/>
          </a:xfrm>
          <a:prstGeom prst="roundRect">
            <a:avLst>
              <a:gd name="adj" fmla="val 8824"/>
            </a:avLst>
          </a:prstGeom>
          <a:solidFill>
            <a:srgbClr val="3A4A63">
              <a:alpha val="82000"/>
            </a:srgbClr>
          </a:solidFill>
          <a:ln/>
        </p:spPr>
      </p:sp>
      <p:sp>
        <p:nvSpPr>
          <p:cNvPr id="17" name="Shape 15"/>
          <p:cNvSpPr/>
          <p:nvPr/>
        </p:nvSpPr>
        <p:spPr>
          <a:xfrm>
            <a:off x="6446520" y="3072384"/>
            <a:ext cx="4663440" cy="54864"/>
          </a:xfrm>
          <a:prstGeom prst="rect">
            <a:avLst/>
          </a:prstGeom>
          <a:solidFill>
            <a:srgbClr val="334155">
              <a:alpha val="80000"/>
            </a:srgbClr>
          </a:solidFill>
          <a:ln/>
        </p:spPr>
      </p:sp>
      <p:sp>
        <p:nvSpPr>
          <p:cNvPr id="18" name="Shape 16"/>
          <p:cNvSpPr/>
          <p:nvPr/>
        </p:nvSpPr>
        <p:spPr>
          <a:xfrm>
            <a:off x="6629400" y="3749040"/>
            <a:ext cx="310896" cy="1371600"/>
          </a:xfrm>
          <a:prstGeom prst="roundRect">
            <a:avLst>
              <a:gd name="adj" fmla="val 8824"/>
            </a:avLst>
          </a:prstGeom>
          <a:solidFill>
            <a:srgbClr val="2A3852">
              <a:alpha val="82000"/>
            </a:srgbClr>
          </a:solidFill>
          <a:ln/>
        </p:spPr>
      </p:sp>
      <p:sp>
        <p:nvSpPr>
          <p:cNvPr id="19" name="Shape 17"/>
          <p:cNvSpPr/>
          <p:nvPr/>
        </p:nvSpPr>
        <p:spPr>
          <a:xfrm>
            <a:off x="7050024" y="3886200"/>
            <a:ext cx="356616" cy="1234440"/>
          </a:xfrm>
          <a:prstGeom prst="roundRect">
            <a:avLst>
              <a:gd name="adj" fmla="val 7692"/>
            </a:avLst>
          </a:prstGeom>
          <a:solidFill>
            <a:srgbClr val="3A4A63">
              <a:alpha val="82000"/>
            </a:srgbClr>
          </a:solidFill>
          <a:ln/>
        </p:spPr>
      </p:sp>
      <p:sp>
        <p:nvSpPr>
          <p:cNvPr id="20" name="Shape 18"/>
          <p:cNvSpPr/>
          <p:nvPr/>
        </p:nvSpPr>
        <p:spPr>
          <a:xfrm>
            <a:off x="7516368" y="3703320"/>
            <a:ext cx="402336" cy="1417320"/>
          </a:xfrm>
          <a:prstGeom prst="roundRect">
            <a:avLst>
              <a:gd name="adj" fmla="val 6818"/>
            </a:avLst>
          </a:prstGeom>
          <a:solidFill>
            <a:srgbClr val="2A3852">
              <a:alpha val="82000"/>
            </a:srgbClr>
          </a:solidFill>
          <a:ln/>
        </p:spPr>
      </p:sp>
      <p:sp>
        <p:nvSpPr>
          <p:cNvPr id="21" name="Shape 19"/>
          <p:cNvSpPr/>
          <p:nvPr/>
        </p:nvSpPr>
        <p:spPr>
          <a:xfrm>
            <a:off x="8028432" y="3840480"/>
            <a:ext cx="310896" cy="1280160"/>
          </a:xfrm>
          <a:prstGeom prst="roundRect">
            <a:avLst>
              <a:gd name="adj" fmla="val 8824"/>
            </a:avLst>
          </a:prstGeom>
          <a:solidFill>
            <a:srgbClr val="3A4A63">
              <a:alpha val="82000"/>
            </a:srgbClr>
          </a:solidFill>
          <a:ln/>
        </p:spPr>
      </p:sp>
      <p:sp>
        <p:nvSpPr>
          <p:cNvPr id="22" name="Shape 20"/>
          <p:cNvSpPr/>
          <p:nvPr/>
        </p:nvSpPr>
        <p:spPr>
          <a:xfrm>
            <a:off x="8449056" y="3749040"/>
            <a:ext cx="356616" cy="1371600"/>
          </a:xfrm>
          <a:prstGeom prst="roundRect">
            <a:avLst>
              <a:gd name="adj" fmla="val 7692"/>
            </a:avLst>
          </a:prstGeom>
          <a:solidFill>
            <a:srgbClr val="3B82F6"/>
          </a:solidFill>
          <a:ln/>
        </p:spPr>
      </p:sp>
      <p:sp>
        <p:nvSpPr>
          <p:cNvPr id="23" name="Shape 21"/>
          <p:cNvSpPr/>
          <p:nvPr/>
        </p:nvSpPr>
        <p:spPr>
          <a:xfrm>
            <a:off x="8915400" y="3931920"/>
            <a:ext cx="402336" cy="1188720"/>
          </a:xfrm>
          <a:prstGeom prst="roundRect">
            <a:avLst>
              <a:gd name="adj" fmla="val 6818"/>
            </a:avLst>
          </a:prstGeom>
          <a:solidFill>
            <a:srgbClr val="3A4A63">
              <a:alpha val="82000"/>
            </a:srgbClr>
          </a:solidFill>
          <a:ln/>
        </p:spPr>
      </p:sp>
      <p:sp>
        <p:nvSpPr>
          <p:cNvPr id="24" name="Shape 22"/>
          <p:cNvSpPr/>
          <p:nvPr/>
        </p:nvSpPr>
        <p:spPr>
          <a:xfrm>
            <a:off x="9427464" y="3703320"/>
            <a:ext cx="310896" cy="1417320"/>
          </a:xfrm>
          <a:prstGeom prst="roundRect">
            <a:avLst>
              <a:gd name="adj" fmla="val 8824"/>
            </a:avLst>
          </a:prstGeom>
          <a:solidFill>
            <a:srgbClr val="2A3852">
              <a:alpha val="82000"/>
            </a:srgbClr>
          </a:solidFill>
          <a:ln/>
        </p:spPr>
      </p:sp>
      <p:sp>
        <p:nvSpPr>
          <p:cNvPr id="25" name="Shape 23"/>
          <p:cNvSpPr/>
          <p:nvPr/>
        </p:nvSpPr>
        <p:spPr>
          <a:xfrm>
            <a:off x="9848088" y="3794760"/>
            <a:ext cx="356616" cy="1325880"/>
          </a:xfrm>
          <a:prstGeom prst="roundRect">
            <a:avLst>
              <a:gd name="adj" fmla="val 7692"/>
            </a:avLst>
          </a:prstGeom>
          <a:solidFill>
            <a:srgbClr val="3A4A63">
              <a:alpha val="82000"/>
            </a:srgbClr>
          </a:solidFill>
          <a:ln/>
        </p:spPr>
      </p:sp>
      <p:sp>
        <p:nvSpPr>
          <p:cNvPr id="26" name="Shape 24"/>
          <p:cNvSpPr/>
          <p:nvPr/>
        </p:nvSpPr>
        <p:spPr>
          <a:xfrm>
            <a:off x="10314432" y="3886200"/>
            <a:ext cx="402336" cy="1234440"/>
          </a:xfrm>
          <a:prstGeom prst="roundRect">
            <a:avLst>
              <a:gd name="adj" fmla="val 6818"/>
            </a:avLst>
          </a:prstGeom>
          <a:solidFill>
            <a:srgbClr val="2A3852">
              <a:alpha val="82000"/>
            </a:srgbClr>
          </a:solidFill>
          <a:ln/>
        </p:spPr>
      </p:sp>
      <p:sp>
        <p:nvSpPr>
          <p:cNvPr id="27" name="Shape 25"/>
          <p:cNvSpPr/>
          <p:nvPr/>
        </p:nvSpPr>
        <p:spPr>
          <a:xfrm>
            <a:off x="10826496" y="3749040"/>
            <a:ext cx="310896" cy="1371600"/>
          </a:xfrm>
          <a:prstGeom prst="roundRect">
            <a:avLst>
              <a:gd name="adj" fmla="val 8824"/>
            </a:avLst>
          </a:prstGeom>
          <a:solidFill>
            <a:srgbClr val="3A4A63">
              <a:alpha val="82000"/>
            </a:srgbClr>
          </a:solidFill>
          <a:ln/>
        </p:spPr>
      </p:sp>
      <p:sp>
        <p:nvSpPr>
          <p:cNvPr id="28" name="Shape 26"/>
          <p:cNvSpPr/>
          <p:nvPr/>
        </p:nvSpPr>
        <p:spPr>
          <a:xfrm>
            <a:off x="6446520" y="5175504"/>
            <a:ext cx="4663440" cy="54864"/>
          </a:xfrm>
          <a:prstGeom prst="rect">
            <a:avLst/>
          </a:prstGeom>
          <a:solidFill>
            <a:srgbClr val="334155">
              <a:alpha val="80000"/>
            </a:srgbClr>
          </a:solidFill>
          <a:ln/>
        </p:spPr>
      </p:sp>
      <p:sp>
        <p:nvSpPr>
          <p:cNvPr id="29" name="Shape 27"/>
          <p:cNvSpPr/>
          <p:nvPr/>
        </p:nvSpPr>
        <p:spPr>
          <a:xfrm>
            <a:off x="8275320" y="5138928"/>
            <a:ext cx="146304" cy="146304"/>
          </a:xfrm>
          <a:prstGeom prst="roundRect">
            <a:avLst>
              <a:gd name="adj" fmla="val 18750"/>
            </a:avLst>
          </a:prstGeom>
          <a:solidFill>
            <a:srgbClr val="3B82F6"/>
          </a:solidFill>
          <a:ln/>
        </p:spPr>
      </p:sp>
      <p:sp>
        <p:nvSpPr>
          <p:cNvPr id="30" name="Text 28"/>
          <p:cNvSpPr/>
          <p:nvPr/>
        </p:nvSpPr>
        <p:spPr>
          <a:xfrm>
            <a:off x="8503920" y="5074920"/>
            <a:ext cx="2286000" cy="274320"/>
          </a:xfrm>
          <a:prstGeom prst="rect">
            <a:avLst/>
          </a:prstGeom>
          <a:noFill/>
          <a:ln/>
        </p:spPr>
        <p:txBody>
          <a:bodyPr wrap="square" lIns="0" tIns="0" rIns="0" bIns="0" rtlCol="0" anchor="ctr"/>
          <a:lstStyle/>
          <a:p>
            <a:pPr indent="0" marL="0">
              <a:buNone/>
            </a:pPr>
            <a:r>
              <a:rPr lang="en-US" sz="1400" dirty="0">
                <a:solidFill>
                  <a:srgbClr val="E2E8F2"/>
                </a:solidFill>
                <a:latin typeface="Inter" pitchFamily="34" charset="0"/>
                <a:ea typeface="Inter" pitchFamily="34" charset="-122"/>
                <a:cs typeface="Inter" pitchFamily="34" charset="-120"/>
              </a:rPr>
              <a:t>your book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WHO DECIDES</a:t>
            </a:r>
            <a:endParaRPr lang="en-US" sz="1200" dirty="0"/>
          </a:p>
        </p:txBody>
      </p:sp>
      <p:sp>
        <p:nvSpPr>
          <p:cNvPr id="3" name="Text 1"/>
          <p:cNvSpPr/>
          <p:nvPr/>
        </p:nvSpPr>
        <p:spPr>
          <a:xfrm>
            <a:off x="795528" y="1188720"/>
            <a:ext cx="5394960" cy="914400"/>
          </a:xfrm>
          <a:prstGeom prst="rect">
            <a:avLst/>
          </a:prstGeom>
          <a:noFill/>
          <a:ln/>
        </p:spPr>
        <p:txBody>
          <a:bodyPr wrap="square" lIns="0" tIns="0" rIns="0" bIns="0" rtlCol="0" anchor="ctr"/>
          <a:lstStyle/>
          <a:p>
            <a:pPr algn="l" indent="0" marL="0">
              <a:lnSpc>
                <a:spcPct val="104000"/>
              </a:lnSpc>
              <a:buNone/>
            </a:pPr>
            <a:r>
              <a:rPr lang="en-US" sz="3800" b="1" dirty="0">
                <a:solidFill>
                  <a:srgbClr val="F8FAFC"/>
                </a:solidFill>
                <a:latin typeface="Outfit" pitchFamily="34" charset="0"/>
                <a:ea typeface="Outfit" pitchFamily="34" charset="-122"/>
                <a:cs typeface="Outfit" pitchFamily="34" charset="-120"/>
              </a:rPr>
              <a:t>Google is the librarian.</a:t>
            </a:r>
            <a:endParaRPr lang="en-US" sz="3800" dirty="0"/>
          </a:p>
        </p:txBody>
      </p:sp>
      <p:sp>
        <p:nvSpPr>
          <p:cNvPr id="4" name="Text 2"/>
          <p:cNvSpPr/>
          <p:nvPr/>
        </p:nvSpPr>
        <p:spPr>
          <a:xfrm>
            <a:off x="822960" y="2286000"/>
            <a:ext cx="4663440" cy="1554480"/>
          </a:xfrm>
          <a:prstGeom prst="rect">
            <a:avLst/>
          </a:prstGeom>
          <a:noFill/>
          <a:ln/>
        </p:spPr>
        <p:txBody>
          <a:bodyPr wrap="square" lIns="0" tIns="0" rIns="0" bIns="0" rtlCol="0" anchor="t"/>
          <a:lstStyle/>
          <a:p>
            <a:pPr algn="l" indent="0" marL="0">
              <a:lnSpc>
                <a:spcPct val="125000"/>
              </a:lnSpc>
              <a:buNone/>
            </a:pPr>
            <a:r>
              <a:rPr lang="en-US" sz="1600" dirty="0">
                <a:solidFill>
                  <a:srgbClr val="E2E8F2"/>
                </a:solidFill>
                <a:latin typeface="Inter" pitchFamily="34" charset="0"/>
                <a:ea typeface="Inter" pitchFamily="34" charset="-122"/>
                <a:cs typeface="Inter" pitchFamily="34" charset="-120"/>
              </a:rPr>
              <a:t>Nobody searches the stacks. They ask the librarian, and the librarian hands over three books first. Almost everyone takes one of those three.</a:t>
            </a:r>
            <a:endParaRPr lang="en-US" sz="1600" dirty="0"/>
          </a:p>
        </p:txBody>
      </p:sp>
      <p:sp>
        <p:nvSpPr>
          <p:cNvPr id="5" name="Text 3"/>
          <p:cNvSpPr/>
          <p:nvPr/>
        </p:nvSpPr>
        <p:spPr>
          <a:xfrm>
            <a:off x="822960" y="4206240"/>
            <a:ext cx="4754880" cy="1097280"/>
          </a:xfrm>
          <a:prstGeom prst="rect">
            <a:avLst/>
          </a:prstGeom>
          <a:noFill/>
          <a:ln/>
        </p:spPr>
        <p:txBody>
          <a:bodyPr wrap="square" lIns="0" tIns="0" rIns="0" bIns="0" rtlCol="0" anchor="ctr"/>
          <a:lstStyle/>
          <a:p>
            <a:pPr indent="0" marL="0">
              <a:lnSpc>
                <a:spcPct val="115000"/>
              </a:lnSpc>
              <a:buNone/>
            </a:pPr>
            <a:r>
              <a:rPr lang="en-US" sz="1900" b="1" dirty="0">
                <a:solidFill>
                  <a:srgbClr val="38BDF8"/>
                </a:solidFill>
                <a:latin typeface="Outfit" pitchFamily="34" charset="0"/>
                <a:ea typeface="Outfit" pitchFamily="34" charset="-122"/>
                <a:cs typeface="Outfit" pitchFamily="34" charset="-120"/>
              </a:rPr>
              <a:t>SEO is earning the librarian’s recommendation. Nothing more, nothing less.</a:t>
            </a:r>
            <a:endParaRPr lang="en-US" sz="1900" dirty="0"/>
          </a:p>
        </p:txBody>
      </p:sp>
      <p:sp>
        <p:nvSpPr>
          <p:cNvPr id="6" name="Shape 4"/>
          <p:cNvSpPr/>
          <p:nvPr/>
        </p:nvSpPr>
        <p:spPr>
          <a:xfrm>
            <a:off x="6217920" y="1234440"/>
            <a:ext cx="5120640" cy="4114800"/>
          </a:xfrm>
          <a:prstGeom prst="roundRect">
            <a:avLst>
              <a:gd name="adj" fmla="val 266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Text 5"/>
          <p:cNvSpPr/>
          <p:nvPr/>
        </p:nvSpPr>
        <p:spPr>
          <a:xfrm>
            <a:off x="6583680" y="1554480"/>
            <a:ext cx="4480560" cy="320040"/>
          </a:xfrm>
          <a:prstGeom prst="rect">
            <a:avLst/>
          </a:prstGeom>
          <a:noFill/>
          <a:ln/>
        </p:spPr>
        <p:txBody>
          <a:bodyPr wrap="square" lIns="0" tIns="0" rIns="0" bIns="0" rtlCol="0" anchor="ctr"/>
          <a:lstStyle/>
          <a:p>
            <a:pPr indent="0" marL="0">
              <a:buNone/>
            </a:pPr>
            <a:r>
              <a:rPr lang="en-US" sz="1400" i="1" dirty="0">
                <a:solidFill>
                  <a:srgbClr val="E2E8F2"/>
                </a:solidFill>
                <a:latin typeface="Inter" pitchFamily="34" charset="0"/>
                <a:ea typeface="Inter" pitchFamily="34" charset="-122"/>
                <a:cs typeface="Inter" pitchFamily="34" charset="-120"/>
              </a:rPr>
              <a:t>someone asks: best hvac company near me</a:t>
            </a:r>
            <a:endParaRPr lang="en-US" sz="1400" dirty="0"/>
          </a:p>
        </p:txBody>
      </p:sp>
      <p:sp>
        <p:nvSpPr>
          <p:cNvPr id="8" name="Shape 6"/>
          <p:cNvSpPr/>
          <p:nvPr/>
        </p:nvSpPr>
        <p:spPr>
          <a:xfrm>
            <a:off x="6583680" y="2148840"/>
            <a:ext cx="4389120" cy="749808"/>
          </a:xfrm>
          <a:prstGeom prst="roundRect">
            <a:avLst>
              <a:gd name="adj" fmla="val 14634"/>
            </a:avLst>
          </a:prstGeom>
          <a:solidFill>
            <a:srgbClr val="243146">
              <a:alpha val="94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9" name="Shape 7"/>
          <p:cNvSpPr/>
          <p:nvPr/>
        </p:nvSpPr>
        <p:spPr>
          <a:xfrm>
            <a:off x="6812280" y="2322576"/>
            <a:ext cx="402336" cy="402336"/>
          </a:xfrm>
          <a:prstGeom prst="ellipse">
            <a:avLst/>
          </a:prstGeom>
          <a:solidFill>
            <a:srgbClr val="3B82F6"/>
          </a:solidFill>
          <a:ln/>
        </p:spPr>
      </p:sp>
      <p:sp>
        <p:nvSpPr>
          <p:cNvPr id="10" name="Text 8"/>
          <p:cNvSpPr/>
          <p:nvPr/>
        </p:nvSpPr>
        <p:spPr>
          <a:xfrm>
            <a:off x="6812280" y="2304288"/>
            <a:ext cx="402336" cy="402336"/>
          </a:xfrm>
          <a:prstGeom prst="rect">
            <a:avLst/>
          </a:prstGeom>
          <a:noFill/>
          <a:ln/>
        </p:spPr>
        <p:txBody>
          <a:bodyPr wrap="square" lIns="0" tIns="0" rIns="0" bIns="0" rtlCol="0" anchor="ctr"/>
          <a:lstStyle/>
          <a:p>
            <a:pPr algn="ctr" indent="0" marL="0">
              <a:buNone/>
            </a:pPr>
            <a:r>
              <a:rPr lang="en-US" sz="1500" b="1" dirty="0">
                <a:solidFill>
                  <a:srgbClr val="F8FAFC"/>
                </a:solidFill>
                <a:latin typeface="Outfit" pitchFamily="34" charset="0"/>
                <a:ea typeface="Outfit" pitchFamily="34" charset="-122"/>
                <a:cs typeface="Outfit" pitchFamily="34" charset="-120"/>
              </a:rPr>
              <a:t>1</a:t>
            </a:r>
            <a:endParaRPr lang="en-US" sz="1500" dirty="0"/>
          </a:p>
        </p:txBody>
      </p:sp>
      <p:sp>
        <p:nvSpPr>
          <p:cNvPr id="11" name="Shape 9"/>
          <p:cNvSpPr/>
          <p:nvPr/>
        </p:nvSpPr>
        <p:spPr>
          <a:xfrm>
            <a:off x="7406640" y="2313432"/>
            <a:ext cx="2377440" cy="182880"/>
          </a:xfrm>
          <a:prstGeom prst="roundRect">
            <a:avLst>
              <a:gd name="adj" fmla="val 50000"/>
            </a:avLst>
          </a:prstGeom>
          <a:solidFill>
            <a:srgbClr val="334155">
              <a:alpha val="60000"/>
            </a:srgbClr>
          </a:solidFill>
          <a:ln/>
        </p:spPr>
      </p:sp>
      <p:sp>
        <p:nvSpPr>
          <p:cNvPr id="12" name="Shape 10"/>
          <p:cNvSpPr/>
          <p:nvPr/>
        </p:nvSpPr>
        <p:spPr>
          <a:xfrm>
            <a:off x="7406640" y="2587752"/>
            <a:ext cx="1554480" cy="128016"/>
          </a:xfrm>
          <a:prstGeom prst="roundRect">
            <a:avLst>
              <a:gd name="adj" fmla="val 50000"/>
            </a:avLst>
          </a:prstGeom>
          <a:solidFill>
            <a:srgbClr val="334155">
              <a:alpha val="45000"/>
            </a:srgbClr>
          </a:solidFill>
          <a:ln/>
        </p:spPr>
      </p:sp>
      <p:sp>
        <p:nvSpPr>
          <p:cNvPr id="13" name="Shape 11"/>
          <p:cNvSpPr/>
          <p:nvPr/>
        </p:nvSpPr>
        <p:spPr>
          <a:xfrm>
            <a:off x="6583680" y="3108960"/>
            <a:ext cx="4389120" cy="749808"/>
          </a:xfrm>
          <a:prstGeom prst="roundRect">
            <a:avLst>
              <a:gd name="adj" fmla="val 14634"/>
            </a:avLst>
          </a:prstGeom>
          <a:solidFill>
            <a:srgbClr val="243146">
              <a:alpha val="94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4" name="Shape 12"/>
          <p:cNvSpPr/>
          <p:nvPr/>
        </p:nvSpPr>
        <p:spPr>
          <a:xfrm>
            <a:off x="6812280" y="3282696"/>
            <a:ext cx="402336" cy="402336"/>
          </a:xfrm>
          <a:prstGeom prst="ellipse">
            <a:avLst/>
          </a:prstGeom>
          <a:solidFill>
            <a:srgbClr val="3B82F6">
              <a:alpha val="55000"/>
            </a:srgbClr>
          </a:solidFill>
          <a:ln/>
        </p:spPr>
      </p:sp>
      <p:sp>
        <p:nvSpPr>
          <p:cNvPr id="15" name="Text 13"/>
          <p:cNvSpPr/>
          <p:nvPr/>
        </p:nvSpPr>
        <p:spPr>
          <a:xfrm>
            <a:off x="6812280" y="3264408"/>
            <a:ext cx="402336" cy="402336"/>
          </a:xfrm>
          <a:prstGeom prst="rect">
            <a:avLst/>
          </a:prstGeom>
          <a:noFill/>
          <a:ln/>
        </p:spPr>
        <p:txBody>
          <a:bodyPr wrap="square" lIns="0" tIns="0" rIns="0" bIns="0" rtlCol="0" anchor="ctr"/>
          <a:lstStyle/>
          <a:p>
            <a:pPr algn="ctr" indent="0" marL="0">
              <a:buNone/>
            </a:pPr>
            <a:r>
              <a:rPr lang="en-US" sz="1500" b="1" dirty="0">
                <a:solidFill>
                  <a:srgbClr val="F8FAFC"/>
                </a:solidFill>
                <a:latin typeface="Outfit" pitchFamily="34" charset="0"/>
                <a:ea typeface="Outfit" pitchFamily="34" charset="-122"/>
                <a:cs typeface="Outfit" pitchFamily="34" charset="-120"/>
              </a:rPr>
              <a:t>2</a:t>
            </a:r>
            <a:endParaRPr lang="en-US" sz="1500" dirty="0"/>
          </a:p>
        </p:txBody>
      </p:sp>
      <p:sp>
        <p:nvSpPr>
          <p:cNvPr id="16" name="Shape 14"/>
          <p:cNvSpPr/>
          <p:nvPr/>
        </p:nvSpPr>
        <p:spPr>
          <a:xfrm>
            <a:off x="7406640" y="3273552"/>
            <a:ext cx="2103120" cy="182880"/>
          </a:xfrm>
          <a:prstGeom prst="roundRect">
            <a:avLst>
              <a:gd name="adj" fmla="val 50000"/>
            </a:avLst>
          </a:prstGeom>
          <a:solidFill>
            <a:srgbClr val="334155">
              <a:alpha val="60000"/>
            </a:srgbClr>
          </a:solidFill>
          <a:ln/>
        </p:spPr>
      </p:sp>
      <p:sp>
        <p:nvSpPr>
          <p:cNvPr id="17" name="Shape 15"/>
          <p:cNvSpPr/>
          <p:nvPr/>
        </p:nvSpPr>
        <p:spPr>
          <a:xfrm>
            <a:off x="7406640" y="3547872"/>
            <a:ext cx="1554480" cy="128016"/>
          </a:xfrm>
          <a:prstGeom prst="roundRect">
            <a:avLst>
              <a:gd name="adj" fmla="val 50000"/>
            </a:avLst>
          </a:prstGeom>
          <a:solidFill>
            <a:srgbClr val="334155">
              <a:alpha val="45000"/>
            </a:srgbClr>
          </a:solidFill>
          <a:ln/>
        </p:spPr>
      </p:sp>
      <p:sp>
        <p:nvSpPr>
          <p:cNvPr id="18" name="Shape 16"/>
          <p:cNvSpPr/>
          <p:nvPr/>
        </p:nvSpPr>
        <p:spPr>
          <a:xfrm>
            <a:off x="6583680" y="4069080"/>
            <a:ext cx="4389120" cy="749808"/>
          </a:xfrm>
          <a:prstGeom prst="roundRect">
            <a:avLst>
              <a:gd name="adj" fmla="val 14634"/>
            </a:avLst>
          </a:prstGeom>
          <a:solidFill>
            <a:srgbClr val="243146">
              <a:alpha val="94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9" name="Shape 17"/>
          <p:cNvSpPr/>
          <p:nvPr/>
        </p:nvSpPr>
        <p:spPr>
          <a:xfrm>
            <a:off x="6812280" y="4242816"/>
            <a:ext cx="402336" cy="402336"/>
          </a:xfrm>
          <a:prstGeom prst="ellipse">
            <a:avLst/>
          </a:prstGeom>
          <a:solidFill>
            <a:srgbClr val="3B82F6">
              <a:alpha val="55000"/>
            </a:srgbClr>
          </a:solidFill>
          <a:ln/>
        </p:spPr>
      </p:sp>
      <p:sp>
        <p:nvSpPr>
          <p:cNvPr id="20" name="Text 18"/>
          <p:cNvSpPr/>
          <p:nvPr/>
        </p:nvSpPr>
        <p:spPr>
          <a:xfrm>
            <a:off x="6812280" y="4224528"/>
            <a:ext cx="402336" cy="402336"/>
          </a:xfrm>
          <a:prstGeom prst="rect">
            <a:avLst/>
          </a:prstGeom>
          <a:noFill/>
          <a:ln/>
        </p:spPr>
        <p:txBody>
          <a:bodyPr wrap="square" lIns="0" tIns="0" rIns="0" bIns="0" rtlCol="0" anchor="ctr"/>
          <a:lstStyle/>
          <a:p>
            <a:pPr algn="ctr" indent="0" marL="0">
              <a:buNone/>
            </a:pPr>
            <a:r>
              <a:rPr lang="en-US" sz="1500" b="1" dirty="0">
                <a:solidFill>
                  <a:srgbClr val="F8FAFC"/>
                </a:solidFill>
                <a:latin typeface="Outfit" pitchFamily="34" charset="0"/>
                <a:ea typeface="Outfit" pitchFamily="34" charset="-122"/>
                <a:cs typeface="Outfit" pitchFamily="34" charset="-120"/>
              </a:rPr>
              <a:t>3</a:t>
            </a:r>
            <a:endParaRPr lang="en-US" sz="1500" dirty="0"/>
          </a:p>
        </p:txBody>
      </p:sp>
      <p:sp>
        <p:nvSpPr>
          <p:cNvPr id="21" name="Shape 19"/>
          <p:cNvSpPr/>
          <p:nvPr/>
        </p:nvSpPr>
        <p:spPr>
          <a:xfrm>
            <a:off x="7406640" y="4233672"/>
            <a:ext cx="1828800" cy="182880"/>
          </a:xfrm>
          <a:prstGeom prst="roundRect">
            <a:avLst>
              <a:gd name="adj" fmla="val 50000"/>
            </a:avLst>
          </a:prstGeom>
          <a:solidFill>
            <a:srgbClr val="334155">
              <a:alpha val="60000"/>
            </a:srgbClr>
          </a:solidFill>
          <a:ln/>
        </p:spPr>
      </p:sp>
      <p:sp>
        <p:nvSpPr>
          <p:cNvPr id="22" name="Shape 20"/>
          <p:cNvSpPr/>
          <p:nvPr/>
        </p:nvSpPr>
        <p:spPr>
          <a:xfrm>
            <a:off x="7406640" y="4507992"/>
            <a:ext cx="1554480" cy="128016"/>
          </a:xfrm>
          <a:prstGeom prst="roundRect">
            <a:avLst>
              <a:gd name="adj" fmla="val 50000"/>
            </a:avLst>
          </a:prstGeom>
          <a:solidFill>
            <a:srgbClr val="334155">
              <a:alpha val="45000"/>
            </a:srgbClr>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PART ONE  ·  YOUR BOOK</a:t>
            </a:r>
            <a:endParaRPr lang="en-US" sz="1200" dirty="0"/>
          </a:p>
        </p:txBody>
      </p:sp>
      <p:sp>
        <p:nvSpPr>
          <p:cNvPr id="3" name="Text 1"/>
          <p:cNvSpPr/>
          <p:nvPr/>
        </p:nvSpPr>
        <p:spPr>
          <a:xfrm>
            <a:off x="795528" y="1188720"/>
            <a:ext cx="6400800" cy="914400"/>
          </a:xfrm>
          <a:prstGeom prst="rect">
            <a:avLst/>
          </a:prstGeom>
          <a:noFill/>
          <a:ln/>
        </p:spPr>
        <p:txBody>
          <a:bodyPr wrap="square" lIns="0" tIns="0" rIns="0" bIns="0" rtlCol="0" anchor="ctr"/>
          <a:lstStyle/>
          <a:p>
            <a:pPr algn="l" indent="0" marL="0">
              <a:lnSpc>
                <a:spcPct val="104000"/>
              </a:lnSpc>
              <a:buNone/>
            </a:pPr>
            <a:r>
              <a:rPr lang="en-US" sz="3600" b="1" dirty="0">
                <a:solidFill>
                  <a:srgbClr val="F8FAFC"/>
                </a:solidFill>
                <a:latin typeface="Outfit" pitchFamily="34" charset="0"/>
                <a:ea typeface="Outfit" pitchFamily="34" charset="-122"/>
                <a:cs typeface="Outfit" pitchFamily="34" charset="-120"/>
              </a:rPr>
              <a:t>Your website is your book.</a:t>
            </a:r>
            <a:endParaRPr lang="en-US" sz="3600" dirty="0"/>
          </a:p>
        </p:txBody>
      </p:sp>
      <p:sp>
        <p:nvSpPr>
          <p:cNvPr id="4" name="Shape 2"/>
          <p:cNvSpPr/>
          <p:nvPr/>
        </p:nvSpPr>
        <p:spPr>
          <a:xfrm>
            <a:off x="822960" y="2368296"/>
            <a:ext cx="566928" cy="566928"/>
          </a:xfrm>
          <a:prstGeom prst="ellipse">
            <a:avLst/>
          </a:prstGeom>
          <a:solidFill>
            <a:srgbClr val="243146">
              <a:alpha val="90000"/>
            </a:srgbClr>
          </a:solidFill>
          <a:ln w="9525">
            <a:solidFill>
              <a:srgbClr val="334155">
                <a:alpha val="70000"/>
              </a:srgbClr>
            </a:solidFill>
            <a:prstDash val="solid"/>
          </a:ln>
        </p:spPr>
      </p:sp>
      <p:pic>
        <p:nvPicPr>
          <p:cNvPr id="5" name="Image 0" descr="preencoded.png">    </p:cNvPr>
          <p:cNvPicPr>
            <a:picLocks noChangeAspect="1"/>
          </p:cNvPicPr>
          <p:nvPr/>
        </p:nvPicPr>
        <p:blipFill>
          <a:blip r:embed="rId2"/>
          <a:stretch>
            <a:fillRect/>
          </a:stretch>
        </p:blipFill>
        <p:spPr>
          <a:xfrm>
            <a:off x="970361" y="2515697"/>
            <a:ext cx="272125" cy="272125"/>
          </a:xfrm>
          <a:prstGeom prst="rect">
            <a:avLst/>
          </a:prstGeom>
        </p:spPr>
      </p:pic>
      <p:sp>
        <p:nvSpPr>
          <p:cNvPr id="6" name="Text 3"/>
          <p:cNvSpPr/>
          <p:nvPr/>
        </p:nvSpPr>
        <p:spPr>
          <a:xfrm>
            <a:off x="1627632" y="2313432"/>
            <a:ext cx="5230368" cy="329184"/>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The cover</a:t>
            </a:r>
            <a:endParaRPr lang="en-US" sz="1700" dirty="0"/>
          </a:p>
        </p:txBody>
      </p:sp>
      <p:sp>
        <p:nvSpPr>
          <p:cNvPr id="7" name="Text 4"/>
          <p:cNvSpPr/>
          <p:nvPr/>
        </p:nvSpPr>
        <p:spPr>
          <a:xfrm>
            <a:off x="1627632" y="2660904"/>
            <a:ext cx="5230368" cy="685800"/>
          </a:xfrm>
          <a:prstGeom prst="rect">
            <a:avLst/>
          </a:prstGeom>
          <a:noFill/>
          <a:ln/>
        </p:spPr>
        <p:txBody>
          <a:bodyPr wrap="square" lIns="0" tIns="0" rIns="0" bIns="0" rtlCol="0" anchor="t"/>
          <a:lstStyle/>
          <a:p>
            <a:pPr indent="0" marL="0">
              <a:lnSpc>
                <a:spcPct val="120000"/>
              </a:lnSpc>
              <a:buNone/>
            </a:pPr>
            <a:r>
              <a:rPr lang="en-US" sz="1400" dirty="0">
                <a:solidFill>
                  <a:srgbClr val="E2E8F2"/>
                </a:solidFill>
                <a:latin typeface="Inter" pitchFamily="34" charset="0"/>
                <a:ea typeface="Inter" pitchFamily="34" charset="-122"/>
                <a:cs typeface="Inter" pitchFamily="34" charset="-120"/>
              </a:rPr>
              <a:t>Says what you do and where you do it. A vague cover never gets opened.</a:t>
            </a:r>
            <a:endParaRPr lang="en-US" sz="1400" dirty="0"/>
          </a:p>
        </p:txBody>
      </p:sp>
      <p:sp>
        <p:nvSpPr>
          <p:cNvPr id="8" name="Shape 5"/>
          <p:cNvSpPr/>
          <p:nvPr/>
        </p:nvSpPr>
        <p:spPr>
          <a:xfrm>
            <a:off x="822960" y="3511296"/>
            <a:ext cx="566928" cy="566928"/>
          </a:xfrm>
          <a:prstGeom prst="ellipse">
            <a:avLst/>
          </a:prstGeom>
          <a:solidFill>
            <a:srgbClr val="243146">
              <a:alpha val="90000"/>
            </a:srgbClr>
          </a:solidFill>
          <a:ln w="9525">
            <a:solidFill>
              <a:srgbClr val="334155">
                <a:alpha val="70000"/>
              </a:srgbClr>
            </a:solidFill>
            <a:prstDash val="solid"/>
          </a:ln>
        </p:spPr>
      </p:sp>
      <p:pic>
        <p:nvPicPr>
          <p:cNvPr id="9" name="Image 1" descr="preencoded.png">    </p:cNvPr>
          <p:cNvPicPr>
            <a:picLocks noChangeAspect="1"/>
          </p:cNvPicPr>
          <p:nvPr/>
        </p:nvPicPr>
        <p:blipFill>
          <a:blip r:embed="rId3"/>
          <a:stretch>
            <a:fillRect/>
          </a:stretch>
        </p:blipFill>
        <p:spPr>
          <a:xfrm>
            <a:off x="970361" y="3658697"/>
            <a:ext cx="272125" cy="272125"/>
          </a:xfrm>
          <a:prstGeom prst="rect">
            <a:avLst/>
          </a:prstGeom>
        </p:spPr>
      </p:pic>
      <p:sp>
        <p:nvSpPr>
          <p:cNvPr id="10" name="Text 6"/>
          <p:cNvSpPr/>
          <p:nvPr/>
        </p:nvSpPr>
        <p:spPr>
          <a:xfrm>
            <a:off x="1627632" y="3456432"/>
            <a:ext cx="5230368" cy="329184"/>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The chapters</a:t>
            </a:r>
            <a:endParaRPr lang="en-US" sz="1700" dirty="0"/>
          </a:p>
        </p:txBody>
      </p:sp>
      <p:sp>
        <p:nvSpPr>
          <p:cNvPr id="11" name="Text 7"/>
          <p:cNvSpPr/>
          <p:nvPr/>
        </p:nvSpPr>
        <p:spPr>
          <a:xfrm>
            <a:off x="1627632" y="3803904"/>
            <a:ext cx="5230368" cy="685800"/>
          </a:xfrm>
          <a:prstGeom prst="rect">
            <a:avLst/>
          </a:prstGeom>
          <a:noFill/>
          <a:ln/>
        </p:spPr>
        <p:txBody>
          <a:bodyPr wrap="square" lIns="0" tIns="0" rIns="0" bIns="0" rtlCol="0" anchor="t"/>
          <a:lstStyle/>
          <a:p>
            <a:pPr indent="0" marL="0">
              <a:lnSpc>
                <a:spcPct val="120000"/>
              </a:lnSpc>
              <a:buNone/>
            </a:pPr>
            <a:r>
              <a:rPr lang="en-US" sz="1400" dirty="0">
                <a:solidFill>
                  <a:srgbClr val="E2E8F2"/>
                </a:solidFill>
                <a:latin typeface="Inter" pitchFamily="34" charset="0"/>
                <a:ea typeface="Inter" pitchFamily="34" charset="-122"/>
                <a:cs typeface="Inter" pitchFamily="34" charset="-120"/>
              </a:rPr>
              <a:t>Pages that answer the questions customers actually ask. One page per question.</a:t>
            </a:r>
            <a:endParaRPr lang="en-US" sz="1400" dirty="0"/>
          </a:p>
        </p:txBody>
      </p:sp>
      <p:sp>
        <p:nvSpPr>
          <p:cNvPr id="12" name="Shape 8"/>
          <p:cNvSpPr/>
          <p:nvPr/>
        </p:nvSpPr>
        <p:spPr>
          <a:xfrm>
            <a:off x="822960" y="4654296"/>
            <a:ext cx="566928" cy="566928"/>
          </a:xfrm>
          <a:prstGeom prst="ellipse">
            <a:avLst/>
          </a:prstGeom>
          <a:solidFill>
            <a:srgbClr val="243146">
              <a:alpha val="90000"/>
            </a:srgbClr>
          </a:solidFill>
          <a:ln w="9525">
            <a:solidFill>
              <a:srgbClr val="334155">
                <a:alpha val="70000"/>
              </a:srgbClr>
            </a:solidFill>
            <a:prstDash val="solid"/>
          </a:ln>
        </p:spPr>
      </p:sp>
      <p:pic>
        <p:nvPicPr>
          <p:cNvPr id="13" name="Image 2" descr="preencoded.png">    </p:cNvPr>
          <p:cNvPicPr>
            <a:picLocks noChangeAspect="1"/>
          </p:cNvPicPr>
          <p:nvPr/>
        </p:nvPicPr>
        <p:blipFill>
          <a:blip r:embed="rId4"/>
          <a:stretch>
            <a:fillRect/>
          </a:stretch>
        </p:blipFill>
        <p:spPr>
          <a:xfrm>
            <a:off x="970361" y="4801697"/>
            <a:ext cx="272125" cy="272125"/>
          </a:xfrm>
          <a:prstGeom prst="rect">
            <a:avLst/>
          </a:prstGeom>
        </p:spPr>
      </p:pic>
      <p:sp>
        <p:nvSpPr>
          <p:cNvPr id="14" name="Text 9"/>
          <p:cNvSpPr/>
          <p:nvPr/>
        </p:nvSpPr>
        <p:spPr>
          <a:xfrm>
            <a:off x="1627632" y="4599432"/>
            <a:ext cx="5230368" cy="329184"/>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More than a business card</a:t>
            </a:r>
            <a:endParaRPr lang="en-US" sz="1700" dirty="0"/>
          </a:p>
        </p:txBody>
      </p:sp>
      <p:sp>
        <p:nvSpPr>
          <p:cNvPr id="15" name="Text 10"/>
          <p:cNvSpPr/>
          <p:nvPr/>
        </p:nvSpPr>
        <p:spPr>
          <a:xfrm>
            <a:off x="1627632" y="4946904"/>
            <a:ext cx="5230368" cy="685800"/>
          </a:xfrm>
          <a:prstGeom prst="rect">
            <a:avLst/>
          </a:prstGeom>
          <a:noFill/>
          <a:ln/>
        </p:spPr>
        <p:txBody>
          <a:bodyPr wrap="square" lIns="0" tIns="0" rIns="0" bIns="0" rtlCol="0" anchor="t"/>
          <a:lstStyle/>
          <a:p>
            <a:pPr indent="0" marL="0">
              <a:lnSpc>
                <a:spcPct val="120000"/>
              </a:lnSpc>
              <a:buNone/>
            </a:pPr>
            <a:r>
              <a:rPr lang="en-US" sz="1400" dirty="0">
                <a:solidFill>
                  <a:srgbClr val="E2E8F2"/>
                </a:solidFill>
                <a:latin typeface="Inter" pitchFamily="34" charset="0"/>
                <a:ea typeface="Inter" pitchFamily="34" charset="-122"/>
                <a:cs typeface="Inter" pitchFamily="34" charset="-120"/>
              </a:rPr>
              <a:t>A one page site is a card on a shelf. Librarians recommend books.</a:t>
            </a:r>
            <a:endParaRPr lang="en-US" sz="1400" dirty="0"/>
          </a:p>
        </p:txBody>
      </p:sp>
      <p:sp>
        <p:nvSpPr>
          <p:cNvPr id="16" name="Shape 11"/>
          <p:cNvSpPr/>
          <p:nvPr/>
        </p:nvSpPr>
        <p:spPr>
          <a:xfrm>
            <a:off x="7589520" y="1371600"/>
            <a:ext cx="3566160" cy="4297680"/>
          </a:xfrm>
          <a:prstGeom prst="roundRect">
            <a:avLst>
              <a:gd name="adj" fmla="val 3077"/>
            </a:avLst>
          </a:prstGeom>
          <a:solidFill>
            <a:srgbClr val="1E293B">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7589520" y="1371600"/>
            <a:ext cx="256032" cy="4297680"/>
          </a:xfrm>
          <a:prstGeom prst="rect">
            <a:avLst/>
          </a:prstGeom>
          <a:solidFill>
            <a:srgbClr val="3B82F6"/>
          </a:solidFill>
          <a:ln/>
        </p:spPr>
      </p:sp>
      <p:sp>
        <p:nvSpPr>
          <p:cNvPr id="18" name="Text 13"/>
          <p:cNvSpPr/>
          <p:nvPr/>
        </p:nvSpPr>
        <p:spPr>
          <a:xfrm>
            <a:off x="8092440" y="2103120"/>
            <a:ext cx="2834640" cy="365760"/>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YOUR BUSINESS</a:t>
            </a:r>
            <a:endParaRPr lang="en-US" sz="1700" dirty="0"/>
          </a:p>
        </p:txBody>
      </p:sp>
      <p:sp>
        <p:nvSpPr>
          <p:cNvPr id="19" name="Text 14"/>
          <p:cNvSpPr/>
          <p:nvPr/>
        </p:nvSpPr>
        <p:spPr>
          <a:xfrm>
            <a:off x="8092440" y="2514600"/>
            <a:ext cx="2834640" cy="274320"/>
          </a:xfrm>
          <a:prstGeom prst="rect">
            <a:avLst/>
          </a:prstGeom>
          <a:noFill/>
          <a:ln/>
        </p:spPr>
        <p:txBody>
          <a:bodyPr wrap="square" lIns="0" tIns="0" rIns="0" bIns="0" rtlCol="0" anchor="ctr"/>
          <a:lstStyle/>
          <a:p>
            <a:pPr indent="0" marL="0">
              <a:buNone/>
            </a:pPr>
            <a:r>
              <a:rPr lang="en-US" sz="1150" dirty="0">
                <a:solidFill>
                  <a:srgbClr val="38BDF8"/>
                </a:solidFill>
                <a:latin typeface="Inter" pitchFamily="34" charset="0"/>
                <a:ea typeface="Inter" pitchFamily="34" charset="-122"/>
                <a:cs typeface="Inter" pitchFamily="34" charset="-120"/>
              </a:rPr>
              <a:t>what you do  ·  where you are</a:t>
            </a:r>
            <a:endParaRPr lang="en-US" sz="1150" dirty="0"/>
          </a:p>
        </p:txBody>
      </p:sp>
      <p:sp>
        <p:nvSpPr>
          <p:cNvPr id="20" name="Shape 15"/>
          <p:cNvSpPr/>
          <p:nvPr/>
        </p:nvSpPr>
        <p:spPr>
          <a:xfrm>
            <a:off x="8092440" y="3200400"/>
            <a:ext cx="2651760" cy="146304"/>
          </a:xfrm>
          <a:prstGeom prst="roundRect">
            <a:avLst>
              <a:gd name="adj" fmla="val 50000"/>
            </a:avLst>
          </a:prstGeom>
          <a:solidFill>
            <a:srgbClr val="334155">
              <a:alpha val="60000"/>
            </a:srgbClr>
          </a:solidFill>
          <a:ln/>
        </p:spPr>
      </p:sp>
      <p:sp>
        <p:nvSpPr>
          <p:cNvPr id="21" name="Shape 16"/>
          <p:cNvSpPr/>
          <p:nvPr/>
        </p:nvSpPr>
        <p:spPr>
          <a:xfrm>
            <a:off x="8092440" y="3493008"/>
            <a:ext cx="2286000" cy="146304"/>
          </a:xfrm>
          <a:prstGeom prst="roundRect">
            <a:avLst>
              <a:gd name="adj" fmla="val 50000"/>
            </a:avLst>
          </a:prstGeom>
          <a:solidFill>
            <a:srgbClr val="334155">
              <a:alpha val="60000"/>
            </a:srgbClr>
          </a:solidFill>
          <a:ln/>
        </p:spPr>
      </p:sp>
      <p:sp>
        <p:nvSpPr>
          <p:cNvPr id="22" name="Shape 17"/>
          <p:cNvSpPr/>
          <p:nvPr/>
        </p:nvSpPr>
        <p:spPr>
          <a:xfrm>
            <a:off x="8092440" y="3785616"/>
            <a:ext cx="2560320" cy="146304"/>
          </a:xfrm>
          <a:prstGeom prst="roundRect">
            <a:avLst>
              <a:gd name="adj" fmla="val 50000"/>
            </a:avLst>
          </a:prstGeom>
          <a:solidFill>
            <a:srgbClr val="334155">
              <a:alpha val="60000"/>
            </a:srgbClr>
          </a:solidFill>
          <a:ln/>
        </p:spPr>
      </p:sp>
      <p:sp>
        <p:nvSpPr>
          <p:cNvPr id="23" name="Shape 18"/>
          <p:cNvSpPr/>
          <p:nvPr/>
        </p:nvSpPr>
        <p:spPr>
          <a:xfrm>
            <a:off x="8092440" y="4078224"/>
            <a:ext cx="2011680" cy="146304"/>
          </a:xfrm>
          <a:prstGeom prst="roundRect">
            <a:avLst>
              <a:gd name="adj" fmla="val 50000"/>
            </a:avLst>
          </a:prstGeom>
          <a:solidFill>
            <a:srgbClr val="334155">
              <a:alpha val="60000"/>
            </a:srgbClr>
          </a:solidFill>
          <a:ln/>
        </p:spPr>
      </p:sp>
      <p:sp>
        <p:nvSpPr>
          <p:cNvPr id="24" name="Shape 19"/>
          <p:cNvSpPr/>
          <p:nvPr/>
        </p:nvSpPr>
        <p:spPr>
          <a:xfrm>
            <a:off x="8092440" y="4370832"/>
            <a:ext cx="2377440" cy="146304"/>
          </a:xfrm>
          <a:prstGeom prst="roundRect">
            <a:avLst>
              <a:gd name="adj" fmla="val 50000"/>
            </a:avLst>
          </a:prstGeom>
          <a:solidFill>
            <a:srgbClr val="334155">
              <a:alpha val="60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PART TWO  ·  YOUR REFERENCES</a:t>
            </a:r>
            <a:endParaRPr lang="en-US" sz="1200" dirty="0"/>
          </a:p>
        </p:txBody>
      </p:sp>
      <p:sp>
        <p:nvSpPr>
          <p:cNvPr id="3" name="Text 1"/>
          <p:cNvSpPr/>
          <p:nvPr/>
        </p:nvSpPr>
        <p:spPr>
          <a:xfrm>
            <a:off x="795528" y="1188720"/>
            <a:ext cx="6766560" cy="914400"/>
          </a:xfrm>
          <a:prstGeom prst="rect">
            <a:avLst/>
          </a:prstGeom>
          <a:noFill/>
          <a:ln/>
        </p:spPr>
        <p:txBody>
          <a:bodyPr wrap="square" lIns="0" tIns="0" rIns="0" bIns="0" rtlCol="0" anchor="ctr"/>
          <a:lstStyle/>
          <a:p>
            <a:pPr algn="l" indent="0" marL="0">
              <a:lnSpc>
                <a:spcPct val="104000"/>
              </a:lnSpc>
              <a:buNone/>
            </a:pPr>
            <a:r>
              <a:rPr lang="en-US" sz="3400" b="1" dirty="0">
                <a:solidFill>
                  <a:srgbClr val="F8FAFC"/>
                </a:solidFill>
                <a:latin typeface="Outfit" pitchFamily="34" charset="0"/>
                <a:ea typeface="Outfit" pitchFamily="34" charset="-122"/>
                <a:cs typeface="Outfit" pitchFamily="34" charset="-120"/>
              </a:rPr>
              <a:t>Your references: who vouches for you.</a:t>
            </a:r>
            <a:endParaRPr lang="en-US" sz="3400" dirty="0"/>
          </a:p>
        </p:txBody>
      </p:sp>
      <p:sp>
        <p:nvSpPr>
          <p:cNvPr id="4" name="Shape 2"/>
          <p:cNvSpPr/>
          <p:nvPr/>
        </p:nvSpPr>
        <p:spPr>
          <a:xfrm>
            <a:off x="822960" y="2368296"/>
            <a:ext cx="566928" cy="566928"/>
          </a:xfrm>
          <a:prstGeom prst="ellipse">
            <a:avLst/>
          </a:prstGeom>
          <a:solidFill>
            <a:srgbClr val="243146">
              <a:alpha val="90000"/>
            </a:srgbClr>
          </a:solidFill>
          <a:ln w="9525">
            <a:solidFill>
              <a:srgbClr val="334155">
                <a:alpha val="70000"/>
              </a:srgbClr>
            </a:solidFill>
            <a:prstDash val="solid"/>
          </a:ln>
        </p:spPr>
      </p:sp>
      <p:pic>
        <p:nvPicPr>
          <p:cNvPr id="5" name="Image 0" descr="preencoded.png">    </p:cNvPr>
          <p:cNvPicPr>
            <a:picLocks noChangeAspect="1"/>
          </p:cNvPicPr>
          <p:nvPr/>
        </p:nvPicPr>
        <p:blipFill>
          <a:blip r:embed="rId2"/>
          <a:stretch>
            <a:fillRect/>
          </a:stretch>
        </p:blipFill>
        <p:spPr>
          <a:xfrm>
            <a:off x="970361" y="2515697"/>
            <a:ext cx="272125" cy="272125"/>
          </a:xfrm>
          <a:prstGeom prst="rect">
            <a:avLst/>
          </a:prstGeom>
        </p:spPr>
      </p:pic>
      <p:sp>
        <p:nvSpPr>
          <p:cNvPr id="6" name="Text 3"/>
          <p:cNvSpPr/>
          <p:nvPr/>
        </p:nvSpPr>
        <p:spPr>
          <a:xfrm>
            <a:off x="1627632" y="2313432"/>
            <a:ext cx="5047488" cy="329184"/>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Your card in the catalog</a:t>
            </a:r>
            <a:endParaRPr lang="en-US" sz="1700" dirty="0"/>
          </a:p>
        </p:txBody>
      </p:sp>
      <p:sp>
        <p:nvSpPr>
          <p:cNvPr id="7" name="Text 4"/>
          <p:cNvSpPr/>
          <p:nvPr/>
        </p:nvSpPr>
        <p:spPr>
          <a:xfrm>
            <a:off x="1627632" y="2660904"/>
            <a:ext cx="5047488" cy="685800"/>
          </a:xfrm>
          <a:prstGeom prst="rect">
            <a:avLst/>
          </a:prstGeom>
          <a:noFill/>
          <a:ln/>
        </p:spPr>
        <p:txBody>
          <a:bodyPr wrap="square" lIns="0" tIns="0" rIns="0" bIns="0" rtlCol="0" anchor="t"/>
          <a:lstStyle/>
          <a:p>
            <a:pPr indent="0" marL="0">
              <a:lnSpc>
                <a:spcPct val="120000"/>
              </a:lnSpc>
              <a:buNone/>
            </a:pPr>
            <a:r>
              <a:rPr lang="en-US" sz="1400" dirty="0">
                <a:solidFill>
                  <a:srgbClr val="E2E8F2"/>
                </a:solidFill>
                <a:latin typeface="Inter" pitchFamily="34" charset="0"/>
                <a:ea typeface="Inter" pitchFamily="34" charset="-122"/>
                <a:cs typeface="Inter" pitchFamily="34" charset="-120"/>
              </a:rPr>
              <a:t>Directories and maps. Every listing of your business around the library.</a:t>
            </a:r>
            <a:endParaRPr lang="en-US" sz="1400" dirty="0"/>
          </a:p>
        </p:txBody>
      </p:sp>
      <p:sp>
        <p:nvSpPr>
          <p:cNvPr id="8" name="Shape 5"/>
          <p:cNvSpPr/>
          <p:nvPr/>
        </p:nvSpPr>
        <p:spPr>
          <a:xfrm>
            <a:off x="822960" y="3511296"/>
            <a:ext cx="566928" cy="566928"/>
          </a:xfrm>
          <a:prstGeom prst="ellipse">
            <a:avLst/>
          </a:prstGeom>
          <a:solidFill>
            <a:srgbClr val="243146">
              <a:alpha val="90000"/>
            </a:srgbClr>
          </a:solidFill>
          <a:ln w="9525">
            <a:solidFill>
              <a:srgbClr val="334155">
                <a:alpha val="70000"/>
              </a:srgbClr>
            </a:solidFill>
            <a:prstDash val="solid"/>
          </a:ln>
        </p:spPr>
      </p:sp>
      <p:pic>
        <p:nvPicPr>
          <p:cNvPr id="9" name="Image 1" descr="preencoded.png">    </p:cNvPr>
          <p:cNvPicPr>
            <a:picLocks noChangeAspect="1"/>
          </p:cNvPicPr>
          <p:nvPr/>
        </p:nvPicPr>
        <p:blipFill>
          <a:blip r:embed="rId3"/>
          <a:stretch>
            <a:fillRect/>
          </a:stretch>
        </p:blipFill>
        <p:spPr>
          <a:xfrm>
            <a:off x="970361" y="3658697"/>
            <a:ext cx="272125" cy="272125"/>
          </a:xfrm>
          <a:prstGeom prst="rect">
            <a:avLst/>
          </a:prstGeom>
        </p:spPr>
      </p:pic>
      <p:sp>
        <p:nvSpPr>
          <p:cNvPr id="10" name="Text 6"/>
          <p:cNvSpPr/>
          <p:nvPr/>
        </p:nvSpPr>
        <p:spPr>
          <a:xfrm>
            <a:off x="1627632" y="3456432"/>
            <a:ext cx="5047488" cy="329184"/>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Cited by other books</a:t>
            </a:r>
            <a:endParaRPr lang="en-US" sz="1700" dirty="0"/>
          </a:p>
        </p:txBody>
      </p:sp>
      <p:sp>
        <p:nvSpPr>
          <p:cNvPr id="11" name="Text 7"/>
          <p:cNvSpPr/>
          <p:nvPr/>
        </p:nvSpPr>
        <p:spPr>
          <a:xfrm>
            <a:off x="1627632" y="3803904"/>
            <a:ext cx="5047488" cy="685800"/>
          </a:xfrm>
          <a:prstGeom prst="rect">
            <a:avLst/>
          </a:prstGeom>
          <a:noFill/>
          <a:ln/>
        </p:spPr>
        <p:txBody>
          <a:bodyPr wrap="square" lIns="0" tIns="0" rIns="0" bIns="0" rtlCol="0" anchor="t"/>
          <a:lstStyle/>
          <a:p>
            <a:pPr indent="0" marL="0">
              <a:lnSpc>
                <a:spcPct val="120000"/>
              </a:lnSpc>
              <a:buNone/>
            </a:pPr>
            <a:r>
              <a:rPr lang="en-US" sz="1400" dirty="0">
                <a:solidFill>
                  <a:srgbClr val="E2E8F2"/>
                </a:solidFill>
                <a:latin typeface="Inter" pitchFamily="34" charset="0"/>
                <a:ea typeface="Inter" pitchFamily="34" charset="-122"/>
                <a:cs typeface="Inter" pitchFamily="34" charset="-120"/>
              </a:rPr>
              <a:t>Respected websites that reference yours. Vouching you cannot write yourself.</a:t>
            </a:r>
            <a:endParaRPr lang="en-US" sz="1400" dirty="0"/>
          </a:p>
        </p:txBody>
      </p:sp>
      <p:sp>
        <p:nvSpPr>
          <p:cNvPr id="12" name="Shape 8"/>
          <p:cNvSpPr/>
          <p:nvPr/>
        </p:nvSpPr>
        <p:spPr>
          <a:xfrm>
            <a:off x="822960" y="4654296"/>
            <a:ext cx="566928" cy="566928"/>
          </a:xfrm>
          <a:prstGeom prst="ellipse">
            <a:avLst/>
          </a:prstGeom>
          <a:solidFill>
            <a:srgbClr val="243146">
              <a:alpha val="90000"/>
            </a:srgbClr>
          </a:solidFill>
          <a:ln w="9525">
            <a:solidFill>
              <a:srgbClr val="334155">
                <a:alpha val="70000"/>
              </a:srgbClr>
            </a:solidFill>
            <a:prstDash val="solid"/>
          </a:ln>
        </p:spPr>
      </p:sp>
      <p:pic>
        <p:nvPicPr>
          <p:cNvPr id="13" name="Image 2" descr="preencoded.png">    </p:cNvPr>
          <p:cNvPicPr>
            <a:picLocks noChangeAspect="1"/>
          </p:cNvPicPr>
          <p:nvPr/>
        </p:nvPicPr>
        <p:blipFill>
          <a:blip r:embed="rId4"/>
          <a:stretch>
            <a:fillRect/>
          </a:stretch>
        </p:blipFill>
        <p:spPr>
          <a:xfrm>
            <a:off x="970361" y="4801697"/>
            <a:ext cx="272125" cy="272125"/>
          </a:xfrm>
          <a:prstGeom prst="rect">
            <a:avLst/>
          </a:prstGeom>
        </p:spPr>
      </p:pic>
      <p:sp>
        <p:nvSpPr>
          <p:cNvPr id="14" name="Text 9"/>
          <p:cNvSpPr/>
          <p:nvPr/>
        </p:nvSpPr>
        <p:spPr>
          <a:xfrm>
            <a:off x="1627632" y="4599432"/>
            <a:ext cx="5047488" cy="329184"/>
          </a:xfrm>
          <a:prstGeom prst="rect">
            <a:avLst/>
          </a:prstGeom>
          <a:noFill/>
          <a:ln/>
        </p:spPr>
        <p:txBody>
          <a:bodyPr wrap="square" lIns="0" tIns="0" rIns="0" bIns="0" rtlCol="0" anchor="ctr"/>
          <a:lstStyle/>
          <a:p>
            <a:pPr indent="0" marL="0">
              <a:buNone/>
            </a:pPr>
            <a:r>
              <a:rPr lang="en-US" sz="1700" b="1" dirty="0">
                <a:solidFill>
                  <a:srgbClr val="F8FAFC"/>
                </a:solidFill>
                <a:latin typeface="Outfit" pitchFamily="34" charset="0"/>
                <a:ea typeface="Outfit" pitchFamily="34" charset="-122"/>
                <a:cs typeface="Outfit" pitchFamily="34" charset="-120"/>
              </a:rPr>
              <a:t>What readers say</a:t>
            </a:r>
            <a:endParaRPr lang="en-US" sz="1700" dirty="0"/>
          </a:p>
        </p:txBody>
      </p:sp>
      <p:sp>
        <p:nvSpPr>
          <p:cNvPr id="15" name="Text 10"/>
          <p:cNvSpPr/>
          <p:nvPr/>
        </p:nvSpPr>
        <p:spPr>
          <a:xfrm>
            <a:off x="1627632" y="4946904"/>
            <a:ext cx="5047488" cy="685800"/>
          </a:xfrm>
          <a:prstGeom prst="rect">
            <a:avLst/>
          </a:prstGeom>
          <a:noFill/>
          <a:ln/>
        </p:spPr>
        <p:txBody>
          <a:bodyPr wrap="square" lIns="0" tIns="0" rIns="0" bIns="0" rtlCol="0" anchor="t"/>
          <a:lstStyle/>
          <a:p>
            <a:pPr indent="0" marL="0">
              <a:lnSpc>
                <a:spcPct val="120000"/>
              </a:lnSpc>
              <a:buNone/>
            </a:pPr>
            <a:r>
              <a:rPr lang="en-US" sz="1400" dirty="0">
                <a:solidFill>
                  <a:srgbClr val="E2E8F2"/>
                </a:solidFill>
                <a:latin typeface="Inter" pitchFamily="34" charset="0"/>
                <a:ea typeface="Inter" pitchFamily="34" charset="-122"/>
                <a:cs typeface="Inter" pitchFamily="34" charset="-120"/>
              </a:rPr>
              <a:t>Reviews. The librarian reads every single one.</a:t>
            </a:r>
            <a:endParaRPr lang="en-US" sz="1400" dirty="0"/>
          </a:p>
        </p:txBody>
      </p:sp>
      <p:sp>
        <p:nvSpPr>
          <p:cNvPr id="16" name="Shape 11"/>
          <p:cNvSpPr/>
          <p:nvPr/>
        </p:nvSpPr>
        <p:spPr>
          <a:xfrm>
            <a:off x="7223760" y="2148840"/>
            <a:ext cx="4114800" cy="3063240"/>
          </a:xfrm>
          <a:prstGeom prst="roundRect">
            <a:avLst>
              <a:gd name="adj" fmla="val 3582"/>
            </a:avLst>
          </a:prstGeom>
          <a:solidFill>
            <a:srgbClr val="1E293B">
              <a:alpha val="88000"/>
            </a:srgbClr>
          </a:solidFill>
          <a:ln w="9525">
            <a:solidFill>
              <a:srgbClr val="F59E0B">
                <a:alpha val="45000"/>
              </a:srgbClr>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7543800" y="2487168"/>
            <a:ext cx="621792" cy="621792"/>
          </a:xfrm>
          <a:prstGeom prst="ellipse">
            <a:avLst/>
          </a:prstGeom>
          <a:solidFill>
            <a:srgbClr val="243146">
              <a:alpha val="90000"/>
            </a:srgbClr>
          </a:solidFill>
          <a:ln w="9525">
            <a:solidFill>
              <a:srgbClr val="334155">
                <a:alpha val="70000"/>
              </a:srgbClr>
            </a:solidFill>
            <a:prstDash val="solid"/>
          </a:ln>
        </p:spPr>
      </p:sp>
      <p:pic>
        <p:nvPicPr>
          <p:cNvPr id="18" name="Image 3" descr="preencoded.png">    </p:cNvPr>
          <p:cNvPicPr>
            <a:picLocks noChangeAspect="1"/>
          </p:cNvPicPr>
          <p:nvPr/>
        </p:nvPicPr>
        <p:blipFill>
          <a:blip r:embed="rId5"/>
          <a:stretch>
            <a:fillRect/>
          </a:stretch>
        </p:blipFill>
        <p:spPr>
          <a:xfrm>
            <a:off x="7705466" y="2648834"/>
            <a:ext cx="298460" cy="298460"/>
          </a:xfrm>
          <a:prstGeom prst="rect">
            <a:avLst/>
          </a:prstGeom>
        </p:spPr>
      </p:pic>
      <p:sp>
        <p:nvSpPr>
          <p:cNvPr id="19" name="Text 13"/>
          <p:cNvSpPr/>
          <p:nvPr/>
        </p:nvSpPr>
        <p:spPr>
          <a:xfrm>
            <a:off x="7543800" y="3310128"/>
            <a:ext cx="3474720" cy="685800"/>
          </a:xfrm>
          <a:prstGeom prst="rect">
            <a:avLst/>
          </a:prstGeom>
          <a:noFill/>
          <a:ln/>
        </p:spPr>
        <p:txBody>
          <a:bodyPr wrap="square" lIns="0" tIns="0" rIns="0" bIns="0" rtlCol="0" anchor="ctr"/>
          <a:lstStyle/>
          <a:p>
            <a:pPr indent="0" marL="0">
              <a:lnSpc>
                <a:spcPct val="110000"/>
              </a:lnSpc>
              <a:buNone/>
            </a:pPr>
            <a:r>
              <a:rPr lang="en-US" sz="1700" b="1" dirty="0">
                <a:solidFill>
                  <a:srgbClr val="F8FAFC"/>
                </a:solidFill>
                <a:latin typeface="Outfit" pitchFamily="34" charset="0"/>
                <a:ea typeface="Outfit" pitchFamily="34" charset="-122"/>
                <a:cs typeface="Outfit" pitchFamily="34" charset="-120"/>
              </a:rPr>
              <a:t>One rule: every reference must match.</a:t>
            </a:r>
            <a:endParaRPr lang="en-US" sz="1700" dirty="0"/>
          </a:p>
        </p:txBody>
      </p:sp>
      <p:sp>
        <p:nvSpPr>
          <p:cNvPr id="20" name="Text 14"/>
          <p:cNvSpPr/>
          <p:nvPr/>
        </p:nvSpPr>
        <p:spPr>
          <a:xfrm>
            <a:off x="7543800" y="4041648"/>
            <a:ext cx="3474720" cy="914400"/>
          </a:xfrm>
          <a:prstGeom prst="rect">
            <a:avLst/>
          </a:prstGeom>
          <a:noFill/>
          <a:ln/>
        </p:spPr>
        <p:txBody>
          <a:bodyPr wrap="square" lIns="0" tIns="0" rIns="0" bIns="0" rtlCol="0" anchor="ctr"/>
          <a:lstStyle/>
          <a:p>
            <a:pPr indent="0" marL="0">
              <a:lnSpc>
                <a:spcPct val="125000"/>
              </a:lnSpc>
              <a:buNone/>
            </a:pPr>
            <a:r>
              <a:rPr lang="en-US" sz="1400" dirty="0">
                <a:solidFill>
                  <a:srgbClr val="E2E8F2"/>
                </a:solidFill>
                <a:latin typeface="Inter" pitchFamily="34" charset="0"/>
                <a:ea typeface="Inter" pitchFamily="34" charset="-122"/>
                <a:cs typeface="Inter" pitchFamily="34" charset="-120"/>
              </a:rPr>
              <a:t>A different name, phone, or address on each one, and the librarian trusts none of them.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PUTTING IT TOGETHER</a:t>
            </a:r>
            <a:endParaRPr lang="en-US" sz="1200" dirty="0"/>
          </a:p>
        </p:txBody>
      </p:sp>
      <p:sp>
        <p:nvSpPr>
          <p:cNvPr id="3" name="Text 1"/>
          <p:cNvSpPr/>
          <p:nvPr/>
        </p:nvSpPr>
        <p:spPr>
          <a:xfrm>
            <a:off x="795528" y="1188720"/>
            <a:ext cx="7315200" cy="914400"/>
          </a:xfrm>
          <a:prstGeom prst="rect">
            <a:avLst/>
          </a:prstGeom>
          <a:noFill/>
          <a:ln/>
        </p:spPr>
        <p:txBody>
          <a:bodyPr wrap="square" lIns="0" tIns="0" rIns="0" bIns="0" rtlCol="0" anchor="ctr"/>
          <a:lstStyle/>
          <a:p>
            <a:pPr algn="l" indent="0" marL="0">
              <a:lnSpc>
                <a:spcPct val="104000"/>
              </a:lnSpc>
              <a:buNone/>
            </a:pPr>
            <a:r>
              <a:rPr lang="en-US" sz="3600" b="1" dirty="0">
                <a:solidFill>
                  <a:srgbClr val="F8FAFC"/>
                </a:solidFill>
                <a:latin typeface="Outfit" pitchFamily="34" charset="0"/>
                <a:ea typeface="Outfit" pitchFamily="34" charset="-122"/>
                <a:cs typeface="Outfit" pitchFamily="34" charset="-120"/>
              </a:rPr>
              <a:t>How the librarian decides.</a:t>
            </a:r>
            <a:endParaRPr lang="en-US" sz="3600" dirty="0"/>
          </a:p>
        </p:txBody>
      </p:sp>
      <p:sp>
        <p:nvSpPr>
          <p:cNvPr id="4" name="Shape 2"/>
          <p:cNvSpPr/>
          <p:nvPr/>
        </p:nvSpPr>
        <p:spPr>
          <a:xfrm>
            <a:off x="822960" y="2194560"/>
            <a:ext cx="3337560" cy="2011680"/>
          </a:xfrm>
          <a:prstGeom prst="roundRect">
            <a:avLst>
              <a:gd name="adj" fmla="val 5455"/>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1097280" y="2468880"/>
            <a:ext cx="548640" cy="548640"/>
          </a:xfrm>
          <a:prstGeom prst="ellipse">
            <a:avLst/>
          </a:prstGeom>
          <a:solidFill>
            <a:srgbClr val="243146">
              <a:alpha val="90000"/>
            </a:srgbClr>
          </a:solidFill>
          <a:ln w="9525">
            <a:solidFill>
              <a:srgbClr val="334155">
                <a:alpha val="70000"/>
              </a:srgbClr>
            </a:solidFill>
            <a:prstDash val="solid"/>
          </a:ln>
        </p:spPr>
      </p:sp>
      <p:pic>
        <p:nvPicPr>
          <p:cNvPr id="6" name="Image 0" descr="preencoded.png">    </p:cNvPr>
          <p:cNvPicPr>
            <a:picLocks noChangeAspect="1"/>
          </p:cNvPicPr>
          <p:nvPr/>
        </p:nvPicPr>
        <p:blipFill>
          <a:blip r:embed="rId2"/>
          <a:stretch>
            <a:fillRect/>
          </a:stretch>
        </p:blipFill>
        <p:spPr>
          <a:xfrm>
            <a:off x="1239926" y="2611526"/>
            <a:ext cx="263347" cy="263347"/>
          </a:xfrm>
          <a:prstGeom prst="rect">
            <a:avLst/>
          </a:prstGeom>
        </p:spPr>
      </p:pic>
      <p:sp>
        <p:nvSpPr>
          <p:cNvPr id="7" name="Text 4"/>
          <p:cNvSpPr/>
          <p:nvPr/>
        </p:nvSpPr>
        <p:spPr>
          <a:xfrm>
            <a:off x="1097280" y="3154680"/>
            <a:ext cx="2834640" cy="320040"/>
          </a:xfrm>
          <a:prstGeom prst="rect">
            <a:avLst/>
          </a:prstGeom>
          <a:noFill/>
          <a:ln/>
        </p:spPr>
        <p:txBody>
          <a:bodyPr wrap="square" lIns="0" tIns="0" rIns="0" bIns="0" rtlCol="0" anchor="ctr"/>
          <a:lstStyle/>
          <a:p>
            <a:pPr indent="0" marL="0">
              <a:buNone/>
            </a:pPr>
            <a:r>
              <a:rPr lang="en-US" sz="1550" b="1" dirty="0">
                <a:solidFill>
                  <a:srgbClr val="F8FAFC"/>
                </a:solidFill>
                <a:latin typeface="Outfit" pitchFamily="34" charset="0"/>
                <a:ea typeface="Outfit" pitchFamily="34" charset="-122"/>
                <a:cs typeface="Outfit" pitchFamily="34" charset="-120"/>
              </a:rPr>
              <a:t>A book worth reading</a:t>
            </a:r>
            <a:endParaRPr lang="en-US" sz="1550" dirty="0"/>
          </a:p>
        </p:txBody>
      </p:sp>
      <p:sp>
        <p:nvSpPr>
          <p:cNvPr id="8" name="Text 5"/>
          <p:cNvSpPr/>
          <p:nvPr/>
        </p:nvSpPr>
        <p:spPr>
          <a:xfrm>
            <a:off x="1097280" y="3511296"/>
            <a:ext cx="2788920" cy="640080"/>
          </a:xfrm>
          <a:prstGeom prst="rect">
            <a:avLst/>
          </a:prstGeom>
          <a:noFill/>
          <a:ln/>
        </p:spPr>
        <p:txBody>
          <a:bodyPr wrap="square" lIns="0" tIns="0" rIns="0" bIns="0" rtlCol="0" anchor="t"/>
          <a:lstStyle/>
          <a:p>
            <a:pPr indent="0" marL="0">
              <a:lnSpc>
                <a:spcPct val="120000"/>
              </a:lnSpc>
              <a:buNone/>
            </a:pPr>
            <a:r>
              <a:rPr lang="en-US" sz="1300" dirty="0">
                <a:solidFill>
                  <a:srgbClr val="E2E8F2"/>
                </a:solidFill>
                <a:latin typeface="Inter" pitchFamily="34" charset="0"/>
                <a:ea typeface="Inter" pitchFamily="34" charset="-122"/>
                <a:cs typeface="Inter" pitchFamily="34" charset="-120"/>
              </a:rPr>
              <a:t>Your site answers the question better than the next book on the shelf.</a:t>
            </a:r>
            <a:endParaRPr lang="en-US" sz="1300" dirty="0"/>
          </a:p>
        </p:txBody>
      </p:sp>
      <p:sp>
        <p:nvSpPr>
          <p:cNvPr id="9" name="Shape 6"/>
          <p:cNvSpPr/>
          <p:nvPr/>
        </p:nvSpPr>
        <p:spPr>
          <a:xfrm>
            <a:off x="4434840" y="2194560"/>
            <a:ext cx="3337560" cy="2011680"/>
          </a:xfrm>
          <a:prstGeom prst="roundRect">
            <a:avLst>
              <a:gd name="adj" fmla="val 5455"/>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4709160" y="2468880"/>
            <a:ext cx="548640" cy="548640"/>
          </a:xfrm>
          <a:prstGeom prst="ellipse">
            <a:avLst/>
          </a:prstGeom>
          <a:solidFill>
            <a:srgbClr val="243146">
              <a:alpha val="90000"/>
            </a:srgbClr>
          </a:solidFill>
          <a:ln w="9525">
            <a:solidFill>
              <a:srgbClr val="334155">
                <a:alpha val="70000"/>
              </a:srgbClr>
            </a:solidFill>
            <a:prstDash val="solid"/>
          </a:ln>
        </p:spPr>
      </p:sp>
      <p:pic>
        <p:nvPicPr>
          <p:cNvPr id="11" name="Image 1" descr="preencoded.png">    </p:cNvPr>
          <p:cNvPicPr>
            <a:picLocks noChangeAspect="1"/>
          </p:cNvPicPr>
          <p:nvPr/>
        </p:nvPicPr>
        <p:blipFill>
          <a:blip r:embed="rId3"/>
          <a:stretch>
            <a:fillRect/>
          </a:stretch>
        </p:blipFill>
        <p:spPr>
          <a:xfrm>
            <a:off x="4851806" y="2611526"/>
            <a:ext cx="263347" cy="263347"/>
          </a:xfrm>
          <a:prstGeom prst="rect">
            <a:avLst/>
          </a:prstGeom>
        </p:spPr>
      </p:pic>
      <p:sp>
        <p:nvSpPr>
          <p:cNvPr id="12" name="Text 8"/>
          <p:cNvSpPr/>
          <p:nvPr/>
        </p:nvSpPr>
        <p:spPr>
          <a:xfrm>
            <a:off x="4709160" y="3154680"/>
            <a:ext cx="2834640" cy="320040"/>
          </a:xfrm>
          <a:prstGeom prst="rect">
            <a:avLst/>
          </a:prstGeom>
          <a:noFill/>
          <a:ln/>
        </p:spPr>
        <p:txBody>
          <a:bodyPr wrap="square" lIns="0" tIns="0" rIns="0" bIns="0" rtlCol="0" anchor="ctr"/>
          <a:lstStyle/>
          <a:p>
            <a:pPr indent="0" marL="0">
              <a:buNone/>
            </a:pPr>
            <a:r>
              <a:rPr lang="en-US" sz="1550" b="1" dirty="0">
                <a:solidFill>
                  <a:srgbClr val="F8FAFC"/>
                </a:solidFill>
                <a:latin typeface="Outfit" pitchFamily="34" charset="0"/>
                <a:ea typeface="Outfit" pitchFamily="34" charset="-122"/>
                <a:cs typeface="Outfit" pitchFamily="34" charset="-120"/>
              </a:rPr>
              <a:t>References that agree</a:t>
            </a:r>
            <a:endParaRPr lang="en-US" sz="1550" dirty="0"/>
          </a:p>
        </p:txBody>
      </p:sp>
      <p:sp>
        <p:nvSpPr>
          <p:cNvPr id="13" name="Text 9"/>
          <p:cNvSpPr/>
          <p:nvPr/>
        </p:nvSpPr>
        <p:spPr>
          <a:xfrm>
            <a:off x="4709160" y="3511296"/>
            <a:ext cx="2788920" cy="640080"/>
          </a:xfrm>
          <a:prstGeom prst="rect">
            <a:avLst/>
          </a:prstGeom>
          <a:noFill/>
          <a:ln/>
        </p:spPr>
        <p:txBody>
          <a:bodyPr wrap="square" lIns="0" tIns="0" rIns="0" bIns="0" rtlCol="0" anchor="t"/>
          <a:lstStyle/>
          <a:p>
            <a:pPr indent="0" marL="0">
              <a:lnSpc>
                <a:spcPct val="120000"/>
              </a:lnSpc>
              <a:buNone/>
            </a:pPr>
            <a:r>
              <a:rPr lang="en-US" sz="1300" dirty="0">
                <a:solidFill>
                  <a:srgbClr val="E2E8F2"/>
                </a:solidFill>
                <a:latin typeface="Inter" pitchFamily="34" charset="0"/>
                <a:ea typeface="Inter" pitchFamily="34" charset="-122"/>
                <a:cs typeface="Inter" pitchFamily="34" charset="-120"/>
              </a:rPr>
              <a:t>Consistent evidence of you, everywhere the librarian looks.</a:t>
            </a:r>
            <a:endParaRPr lang="en-US" sz="1300" dirty="0"/>
          </a:p>
        </p:txBody>
      </p:sp>
      <p:sp>
        <p:nvSpPr>
          <p:cNvPr id="14" name="Shape 10"/>
          <p:cNvSpPr/>
          <p:nvPr/>
        </p:nvSpPr>
        <p:spPr>
          <a:xfrm>
            <a:off x="8046720" y="2194560"/>
            <a:ext cx="3337560" cy="2011680"/>
          </a:xfrm>
          <a:prstGeom prst="roundRect">
            <a:avLst>
              <a:gd name="adj" fmla="val 5455"/>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8321040" y="2468880"/>
            <a:ext cx="548640" cy="548640"/>
          </a:xfrm>
          <a:prstGeom prst="ellipse">
            <a:avLst/>
          </a:prstGeom>
          <a:solidFill>
            <a:srgbClr val="243146">
              <a:alpha val="90000"/>
            </a:srgbClr>
          </a:solidFill>
          <a:ln w="9525">
            <a:solidFill>
              <a:srgbClr val="334155">
                <a:alpha val="70000"/>
              </a:srgbClr>
            </a:solidFill>
            <a:prstDash val="solid"/>
          </a:ln>
        </p:spPr>
      </p:sp>
      <p:pic>
        <p:nvPicPr>
          <p:cNvPr id="16" name="Image 2" descr="preencoded.png">    </p:cNvPr>
          <p:cNvPicPr>
            <a:picLocks noChangeAspect="1"/>
          </p:cNvPicPr>
          <p:nvPr/>
        </p:nvPicPr>
        <p:blipFill>
          <a:blip r:embed="rId4"/>
          <a:stretch>
            <a:fillRect/>
          </a:stretch>
        </p:blipFill>
        <p:spPr>
          <a:xfrm>
            <a:off x="8463686" y="2611526"/>
            <a:ext cx="263347" cy="263347"/>
          </a:xfrm>
          <a:prstGeom prst="rect">
            <a:avLst/>
          </a:prstGeom>
        </p:spPr>
      </p:pic>
      <p:sp>
        <p:nvSpPr>
          <p:cNvPr id="17" name="Text 12"/>
          <p:cNvSpPr/>
          <p:nvPr/>
        </p:nvSpPr>
        <p:spPr>
          <a:xfrm>
            <a:off x="8321040" y="3154680"/>
            <a:ext cx="2834640" cy="320040"/>
          </a:xfrm>
          <a:prstGeom prst="rect">
            <a:avLst/>
          </a:prstGeom>
          <a:noFill/>
          <a:ln/>
        </p:spPr>
        <p:txBody>
          <a:bodyPr wrap="square" lIns="0" tIns="0" rIns="0" bIns="0" rtlCol="0" anchor="ctr"/>
          <a:lstStyle/>
          <a:p>
            <a:pPr indent="0" marL="0">
              <a:buNone/>
            </a:pPr>
            <a:r>
              <a:rPr lang="en-US" sz="1550" b="1" dirty="0">
                <a:solidFill>
                  <a:srgbClr val="F8FAFC"/>
                </a:solidFill>
                <a:latin typeface="Outfit" pitchFamily="34" charset="0"/>
                <a:ea typeface="Outfit" pitchFamily="34" charset="-122"/>
                <a:cs typeface="Outfit" pitchFamily="34" charset="-120"/>
              </a:rPr>
              <a:t>Readers who return</a:t>
            </a:r>
            <a:endParaRPr lang="en-US" sz="1550" dirty="0"/>
          </a:p>
        </p:txBody>
      </p:sp>
      <p:sp>
        <p:nvSpPr>
          <p:cNvPr id="18" name="Text 13"/>
          <p:cNvSpPr/>
          <p:nvPr/>
        </p:nvSpPr>
        <p:spPr>
          <a:xfrm>
            <a:off x="8321040" y="3511296"/>
            <a:ext cx="2788920" cy="640080"/>
          </a:xfrm>
          <a:prstGeom prst="rect">
            <a:avLst/>
          </a:prstGeom>
          <a:noFill/>
          <a:ln/>
        </p:spPr>
        <p:txBody>
          <a:bodyPr wrap="square" lIns="0" tIns="0" rIns="0" bIns="0" rtlCol="0" anchor="t"/>
          <a:lstStyle/>
          <a:p>
            <a:pPr indent="0" marL="0">
              <a:lnSpc>
                <a:spcPct val="120000"/>
              </a:lnSpc>
              <a:buNone/>
            </a:pPr>
            <a:r>
              <a:rPr lang="en-US" sz="1300" dirty="0">
                <a:solidFill>
                  <a:srgbClr val="E2E8F2"/>
                </a:solidFill>
                <a:latin typeface="Inter" pitchFamily="34" charset="0"/>
                <a:ea typeface="Inter" pitchFamily="34" charset="-122"/>
                <a:cs typeface="Inter" pitchFamily="34" charset="-120"/>
              </a:rPr>
              <a:t>People choose your book, stay a while, and come back again.</a:t>
            </a:r>
            <a:endParaRPr lang="en-US" sz="1300" dirty="0"/>
          </a:p>
        </p:txBody>
      </p:sp>
      <p:sp>
        <p:nvSpPr>
          <p:cNvPr id="19" name="Shape 14"/>
          <p:cNvSpPr/>
          <p:nvPr/>
        </p:nvSpPr>
        <p:spPr>
          <a:xfrm>
            <a:off x="822960" y="4663440"/>
            <a:ext cx="10561320" cy="1234440"/>
          </a:xfrm>
          <a:prstGeom prst="roundRect">
            <a:avLst>
              <a:gd name="adj" fmla="val 8889"/>
            </a:avLst>
          </a:prstGeom>
          <a:solidFill>
            <a:srgbClr val="243146">
              <a:alpha val="75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20" name="Text 15"/>
          <p:cNvSpPr/>
          <p:nvPr/>
        </p:nvSpPr>
        <p:spPr>
          <a:xfrm>
            <a:off x="1143000" y="4864608"/>
            <a:ext cx="9966960" cy="868680"/>
          </a:xfrm>
          <a:prstGeom prst="rect">
            <a:avLst/>
          </a:prstGeom>
          <a:noFill/>
          <a:ln/>
        </p:spPr>
        <p:txBody>
          <a:bodyPr wrap="square" lIns="0" tIns="0" rIns="0" bIns="0" rtlCol="0" anchor="ctr"/>
          <a:lstStyle/>
          <a:p>
            <a:pPr indent="0" marL="0">
              <a:lnSpc>
                <a:spcPct val="125000"/>
              </a:lnSpc>
              <a:buNone/>
            </a:pPr>
            <a:r>
              <a:rPr lang="en-US" sz="1500" b="1" dirty="0">
                <a:solidFill>
                  <a:srgbClr val="38BDF8"/>
                </a:solidFill>
                <a:latin typeface="Outfit" pitchFamily="34" charset="0"/>
                <a:ea typeface="Outfit" pitchFamily="34" charset="-122"/>
                <a:cs typeface="Outfit" pitchFamily="34" charset="-120"/>
              </a:rPr>
              <a:t>And the flyers handed out on the sidewalk?  </a:t>
            </a:r>
            <a:pPr indent="0" marL="0">
              <a:lnSpc>
                <a:spcPct val="125000"/>
              </a:lnSpc>
              <a:buNone/>
            </a:pPr>
            <a:r>
              <a:rPr lang="en-US" sz="1450" dirty="0">
                <a:solidFill>
                  <a:srgbClr val="E2E8F2"/>
                </a:solidFill>
                <a:latin typeface="Inter" pitchFamily="34" charset="0"/>
                <a:ea typeface="Inter" pitchFamily="34" charset="-122"/>
                <a:cs typeface="Inter" pitchFamily="34" charset="-120"/>
              </a:rPr>
              <a:t>Paid ads. Everyone can print one, and they vanish the moment you stop paying. The recommendation itself is not for sale, which is exactly why it is worth more.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THE SCOREBOARD</a:t>
            </a:r>
            <a:endParaRPr lang="en-US" sz="1200" dirty="0"/>
          </a:p>
        </p:txBody>
      </p:sp>
      <p:sp>
        <p:nvSpPr>
          <p:cNvPr id="3" name="Text 1"/>
          <p:cNvSpPr/>
          <p:nvPr/>
        </p:nvSpPr>
        <p:spPr>
          <a:xfrm>
            <a:off x="795528" y="1188720"/>
            <a:ext cx="8686800" cy="914400"/>
          </a:xfrm>
          <a:prstGeom prst="rect">
            <a:avLst/>
          </a:prstGeom>
          <a:noFill/>
          <a:ln/>
        </p:spPr>
        <p:txBody>
          <a:bodyPr wrap="square" lIns="0" tIns="0" rIns="0" bIns="0" rtlCol="0" anchor="ctr"/>
          <a:lstStyle/>
          <a:p>
            <a:pPr algn="l" indent="0" marL="0">
              <a:lnSpc>
                <a:spcPct val="104000"/>
              </a:lnSpc>
              <a:buNone/>
            </a:pPr>
            <a:r>
              <a:rPr lang="en-US" sz="3600" b="1" dirty="0">
                <a:solidFill>
                  <a:srgbClr val="F8FAFC"/>
                </a:solidFill>
                <a:latin typeface="Outfit" pitchFamily="34" charset="0"/>
                <a:ea typeface="Outfit" pitchFamily="34" charset="-122"/>
                <a:cs typeface="Outfit" pitchFamily="34" charset="-120"/>
              </a:rPr>
              <a:t>How much each part weighs.</a:t>
            </a:r>
            <a:endParaRPr lang="en-US" sz="3600" dirty="0"/>
          </a:p>
        </p:txBody>
      </p:sp>
      <p:sp>
        <p:nvSpPr>
          <p:cNvPr id="4" name="Text 2"/>
          <p:cNvSpPr/>
          <p:nvPr/>
        </p:nvSpPr>
        <p:spPr>
          <a:xfrm>
            <a:off x="822960" y="2148840"/>
            <a:ext cx="3474720" cy="457200"/>
          </a:xfrm>
          <a:prstGeom prst="rect">
            <a:avLst/>
          </a:prstGeom>
          <a:noFill/>
          <a:ln/>
        </p:spPr>
        <p:txBody>
          <a:bodyPr wrap="square" lIns="0" tIns="0" rIns="0" bIns="0" rtlCol="0" anchor="ctr"/>
          <a:lstStyle/>
          <a:p>
            <a:pPr indent="0" marL="0">
              <a:buNone/>
            </a:pPr>
            <a:r>
              <a:rPr lang="en-US" sz="1450" b="1" dirty="0">
                <a:solidFill>
                  <a:srgbClr val="F8FAFC"/>
                </a:solidFill>
                <a:latin typeface="Outfit" pitchFamily="34" charset="0"/>
                <a:ea typeface="Outfit" pitchFamily="34" charset="-122"/>
                <a:cs typeface="Outfit" pitchFamily="34" charset="-120"/>
              </a:rPr>
              <a:t>Business Profile</a:t>
            </a:r>
            <a:pPr indent="0" marL="0">
              <a:buNone/>
            </a:pPr>
            <a:r>
              <a:rPr lang="en-US" sz="1150" dirty="0">
                <a:solidFill>
                  <a:srgbClr val="B3BFD3"/>
                </a:solidFill>
                <a:latin typeface="Inter" pitchFamily="34" charset="0"/>
                <a:ea typeface="Inter" pitchFamily="34" charset="-122"/>
                <a:cs typeface="Inter" pitchFamily="34" charset="-120"/>
              </a:rPr>
              <a:t>  ·  your card at the front desk</a:t>
            </a:r>
            <a:endParaRPr lang="en-US" sz="1450" dirty="0"/>
          </a:p>
        </p:txBody>
      </p:sp>
      <p:sp>
        <p:nvSpPr>
          <p:cNvPr id="5" name="Shape 3"/>
          <p:cNvSpPr/>
          <p:nvPr/>
        </p:nvSpPr>
        <p:spPr>
          <a:xfrm>
            <a:off x="4434840" y="2194560"/>
            <a:ext cx="5440680" cy="365760"/>
          </a:xfrm>
          <a:prstGeom prst="roundRect">
            <a:avLst>
              <a:gd name="adj" fmla="val 20000"/>
            </a:avLst>
          </a:prstGeom>
          <a:solidFill>
            <a:srgbClr val="3B82F6"/>
          </a:solidFill>
          <a:ln/>
        </p:spPr>
      </p:sp>
      <p:sp>
        <p:nvSpPr>
          <p:cNvPr id="6" name="Text 4"/>
          <p:cNvSpPr/>
          <p:nvPr/>
        </p:nvSpPr>
        <p:spPr>
          <a:xfrm>
            <a:off x="9985248" y="2148840"/>
            <a:ext cx="868680" cy="45720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32%</a:t>
            </a:r>
            <a:endParaRPr lang="en-US" sz="1600" dirty="0"/>
          </a:p>
        </p:txBody>
      </p:sp>
      <p:sp>
        <p:nvSpPr>
          <p:cNvPr id="7" name="Text 5"/>
          <p:cNvSpPr/>
          <p:nvPr/>
        </p:nvSpPr>
        <p:spPr>
          <a:xfrm>
            <a:off x="822960" y="2807208"/>
            <a:ext cx="3474720" cy="457200"/>
          </a:xfrm>
          <a:prstGeom prst="rect">
            <a:avLst/>
          </a:prstGeom>
          <a:noFill/>
          <a:ln/>
        </p:spPr>
        <p:txBody>
          <a:bodyPr wrap="square" lIns="0" tIns="0" rIns="0" bIns="0" rtlCol="0" anchor="ctr"/>
          <a:lstStyle/>
          <a:p>
            <a:pPr indent="0" marL="0">
              <a:buNone/>
            </a:pPr>
            <a:r>
              <a:rPr lang="en-US" sz="1450" b="1" dirty="0">
                <a:solidFill>
                  <a:srgbClr val="F8FAFC"/>
                </a:solidFill>
                <a:latin typeface="Outfit" pitchFamily="34" charset="0"/>
                <a:ea typeface="Outfit" pitchFamily="34" charset="-122"/>
                <a:cs typeface="Outfit" pitchFamily="34" charset="-120"/>
              </a:rPr>
              <a:t>Reviews</a:t>
            </a:r>
            <a:pPr indent="0" marL="0">
              <a:buNone/>
            </a:pPr>
            <a:r>
              <a:rPr lang="en-US" sz="1150" dirty="0">
                <a:solidFill>
                  <a:srgbClr val="B3BFD3"/>
                </a:solidFill>
                <a:latin typeface="Inter" pitchFamily="34" charset="0"/>
                <a:ea typeface="Inter" pitchFamily="34" charset="-122"/>
                <a:cs typeface="Inter" pitchFamily="34" charset="-120"/>
              </a:rPr>
              <a:t>  ·  what readers say</a:t>
            </a:r>
            <a:endParaRPr lang="en-US" sz="1450" dirty="0"/>
          </a:p>
        </p:txBody>
      </p:sp>
      <p:sp>
        <p:nvSpPr>
          <p:cNvPr id="8" name="Shape 6"/>
          <p:cNvSpPr/>
          <p:nvPr/>
        </p:nvSpPr>
        <p:spPr>
          <a:xfrm>
            <a:off x="4434840" y="2852928"/>
            <a:ext cx="3400425" cy="365760"/>
          </a:xfrm>
          <a:prstGeom prst="roundRect">
            <a:avLst>
              <a:gd name="adj" fmla="val 20000"/>
            </a:avLst>
          </a:prstGeom>
          <a:solidFill>
            <a:srgbClr val="38BDF8"/>
          </a:solidFill>
          <a:ln/>
        </p:spPr>
      </p:sp>
      <p:sp>
        <p:nvSpPr>
          <p:cNvPr id="9" name="Text 7"/>
          <p:cNvSpPr/>
          <p:nvPr/>
        </p:nvSpPr>
        <p:spPr>
          <a:xfrm>
            <a:off x="7944993" y="2807208"/>
            <a:ext cx="868680" cy="45720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20%</a:t>
            </a:r>
            <a:endParaRPr lang="en-US" sz="1600" dirty="0"/>
          </a:p>
        </p:txBody>
      </p:sp>
      <p:sp>
        <p:nvSpPr>
          <p:cNvPr id="10" name="Text 8"/>
          <p:cNvSpPr/>
          <p:nvPr/>
        </p:nvSpPr>
        <p:spPr>
          <a:xfrm>
            <a:off x="822960" y="3465576"/>
            <a:ext cx="3474720" cy="457200"/>
          </a:xfrm>
          <a:prstGeom prst="rect">
            <a:avLst/>
          </a:prstGeom>
          <a:noFill/>
          <a:ln/>
        </p:spPr>
        <p:txBody>
          <a:bodyPr wrap="square" lIns="0" tIns="0" rIns="0" bIns="0" rtlCol="0" anchor="ctr"/>
          <a:lstStyle/>
          <a:p>
            <a:pPr indent="0" marL="0">
              <a:buNone/>
            </a:pPr>
            <a:r>
              <a:rPr lang="en-US" sz="1450" b="1" dirty="0">
                <a:solidFill>
                  <a:srgbClr val="F8FAFC"/>
                </a:solidFill>
                <a:latin typeface="Outfit" pitchFamily="34" charset="0"/>
                <a:ea typeface="Outfit" pitchFamily="34" charset="-122"/>
                <a:cs typeface="Outfit" pitchFamily="34" charset="-120"/>
              </a:rPr>
              <a:t>Website content</a:t>
            </a:r>
            <a:pPr indent="0" marL="0">
              <a:buNone/>
            </a:pPr>
            <a:r>
              <a:rPr lang="en-US" sz="1150" dirty="0">
                <a:solidFill>
                  <a:srgbClr val="B3BFD3"/>
                </a:solidFill>
                <a:latin typeface="Inter" pitchFamily="34" charset="0"/>
                <a:ea typeface="Inter" pitchFamily="34" charset="-122"/>
                <a:cs typeface="Inter" pitchFamily="34" charset="-120"/>
              </a:rPr>
              <a:t>  ·  your book</a:t>
            </a:r>
            <a:endParaRPr lang="en-US" sz="1450" dirty="0"/>
          </a:p>
        </p:txBody>
      </p:sp>
      <p:sp>
        <p:nvSpPr>
          <p:cNvPr id="11" name="Shape 9"/>
          <p:cNvSpPr/>
          <p:nvPr/>
        </p:nvSpPr>
        <p:spPr>
          <a:xfrm>
            <a:off x="4434840" y="3511296"/>
            <a:ext cx="3230404" cy="365760"/>
          </a:xfrm>
          <a:prstGeom prst="roundRect">
            <a:avLst>
              <a:gd name="adj" fmla="val 20000"/>
            </a:avLst>
          </a:prstGeom>
          <a:solidFill>
            <a:srgbClr val="3B82F6">
              <a:alpha val="76000"/>
            </a:srgbClr>
          </a:solidFill>
          <a:ln/>
        </p:spPr>
      </p:sp>
      <p:sp>
        <p:nvSpPr>
          <p:cNvPr id="12" name="Text 10"/>
          <p:cNvSpPr/>
          <p:nvPr/>
        </p:nvSpPr>
        <p:spPr>
          <a:xfrm>
            <a:off x="7774972" y="3465576"/>
            <a:ext cx="868680" cy="45720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19%</a:t>
            </a:r>
            <a:endParaRPr lang="en-US" sz="1600" dirty="0"/>
          </a:p>
        </p:txBody>
      </p:sp>
      <p:sp>
        <p:nvSpPr>
          <p:cNvPr id="13" name="Text 11"/>
          <p:cNvSpPr/>
          <p:nvPr/>
        </p:nvSpPr>
        <p:spPr>
          <a:xfrm>
            <a:off x="822960" y="4123944"/>
            <a:ext cx="3474720" cy="457200"/>
          </a:xfrm>
          <a:prstGeom prst="rect">
            <a:avLst/>
          </a:prstGeom>
          <a:noFill/>
          <a:ln/>
        </p:spPr>
        <p:txBody>
          <a:bodyPr wrap="square" lIns="0" tIns="0" rIns="0" bIns="0" rtlCol="0" anchor="ctr"/>
          <a:lstStyle/>
          <a:p>
            <a:pPr indent="0" marL="0">
              <a:buNone/>
            </a:pPr>
            <a:r>
              <a:rPr lang="en-US" sz="1450" b="1" dirty="0">
                <a:solidFill>
                  <a:srgbClr val="F8FAFC"/>
                </a:solidFill>
                <a:latin typeface="Outfit" pitchFamily="34" charset="0"/>
                <a:ea typeface="Outfit" pitchFamily="34" charset="-122"/>
                <a:cs typeface="Outfit" pitchFamily="34" charset="-120"/>
              </a:rPr>
              <a:t>Links</a:t>
            </a:r>
            <a:pPr indent="0" marL="0">
              <a:buNone/>
            </a:pPr>
            <a:r>
              <a:rPr lang="en-US" sz="1150" dirty="0">
                <a:solidFill>
                  <a:srgbClr val="B3BFD3"/>
                </a:solidFill>
                <a:latin typeface="Inter" pitchFamily="34" charset="0"/>
                <a:ea typeface="Inter" pitchFamily="34" charset="-122"/>
                <a:cs typeface="Inter" pitchFamily="34" charset="-120"/>
              </a:rPr>
              <a:t>  ·  cited by other books</a:t>
            </a:r>
            <a:endParaRPr lang="en-US" sz="1450" dirty="0"/>
          </a:p>
        </p:txBody>
      </p:sp>
      <p:sp>
        <p:nvSpPr>
          <p:cNvPr id="14" name="Shape 12"/>
          <p:cNvSpPr/>
          <p:nvPr/>
        </p:nvSpPr>
        <p:spPr>
          <a:xfrm>
            <a:off x="4434840" y="4169664"/>
            <a:ext cx="2550319" cy="365760"/>
          </a:xfrm>
          <a:prstGeom prst="roundRect">
            <a:avLst>
              <a:gd name="adj" fmla="val 20000"/>
            </a:avLst>
          </a:prstGeom>
          <a:solidFill>
            <a:srgbClr val="3B82F6">
              <a:alpha val="76000"/>
            </a:srgbClr>
          </a:solidFill>
          <a:ln/>
        </p:spPr>
      </p:sp>
      <p:sp>
        <p:nvSpPr>
          <p:cNvPr id="15" name="Text 13"/>
          <p:cNvSpPr/>
          <p:nvPr/>
        </p:nvSpPr>
        <p:spPr>
          <a:xfrm>
            <a:off x="7094887" y="4123944"/>
            <a:ext cx="868680" cy="45720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15%</a:t>
            </a:r>
            <a:endParaRPr lang="en-US" sz="1600" dirty="0"/>
          </a:p>
        </p:txBody>
      </p:sp>
      <p:sp>
        <p:nvSpPr>
          <p:cNvPr id="16" name="Text 14"/>
          <p:cNvSpPr/>
          <p:nvPr/>
        </p:nvSpPr>
        <p:spPr>
          <a:xfrm>
            <a:off x="822960" y="4782312"/>
            <a:ext cx="3474720" cy="457200"/>
          </a:xfrm>
          <a:prstGeom prst="rect">
            <a:avLst/>
          </a:prstGeom>
          <a:noFill/>
          <a:ln/>
        </p:spPr>
        <p:txBody>
          <a:bodyPr wrap="square" lIns="0" tIns="0" rIns="0" bIns="0" rtlCol="0" anchor="ctr"/>
          <a:lstStyle/>
          <a:p>
            <a:pPr indent="0" marL="0">
              <a:buNone/>
            </a:pPr>
            <a:r>
              <a:rPr lang="en-US" sz="1450" b="1" dirty="0">
                <a:solidFill>
                  <a:srgbClr val="F8FAFC"/>
                </a:solidFill>
                <a:latin typeface="Outfit" pitchFamily="34" charset="0"/>
                <a:ea typeface="Outfit" pitchFamily="34" charset="-122"/>
                <a:cs typeface="Outfit" pitchFamily="34" charset="-120"/>
              </a:rPr>
              <a:t>Engagement</a:t>
            </a:r>
            <a:pPr indent="0" marL="0">
              <a:buNone/>
            </a:pPr>
            <a:r>
              <a:rPr lang="en-US" sz="1150" dirty="0">
                <a:solidFill>
                  <a:srgbClr val="B3BFD3"/>
                </a:solidFill>
                <a:latin typeface="Inter" pitchFamily="34" charset="0"/>
                <a:ea typeface="Inter" pitchFamily="34" charset="-122"/>
                <a:cs typeface="Inter" pitchFamily="34" charset="-120"/>
              </a:rPr>
              <a:t>  ·  readers who come back</a:t>
            </a:r>
            <a:endParaRPr lang="en-US" sz="1450" dirty="0"/>
          </a:p>
        </p:txBody>
      </p:sp>
      <p:sp>
        <p:nvSpPr>
          <p:cNvPr id="17" name="Shape 15"/>
          <p:cNvSpPr/>
          <p:nvPr/>
        </p:nvSpPr>
        <p:spPr>
          <a:xfrm>
            <a:off x="4434840" y="4828032"/>
            <a:ext cx="1530191" cy="365760"/>
          </a:xfrm>
          <a:prstGeom prst="roundRect">
            <a:avLst>
              <a:gd name="adj" fmla="val 20000"/>
            </a:avLst>
          </a:prstGeom>
          <a:solidFill>
            <a:srgbClr val="3B82F6">
              <a:alpha val="76000"/>
            </a:srgbClr>
          </a:solidFill>
          <a:ln/>
        </p:spPr>
      </p:sp>
      <p:sp>
        <p:nvSpPr>
          <p:cNvPr id="18" name="Text 16"/>
          <p:cNvSpPr/>
          <p:nvPr/>
        </p:nvSpPr>
        <p:spPr>
          <a:xfrm>
            <a:off x="6074759" y="4782312"/>
            <a:ext cx="868680" cy="45720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9%</a:t>
            </a:r>
            <a:endParaRPr lang="en-US" sz="1600" dirty="0"/>
          </a:p>
        </p:txBody>
      </p:sp>
      <p:sp>
        <p:nvSpPr>
          <p:cNvPr id="19" name="Text 17"/>
          <p:cNvSpPr/>
          <p:nvPr/>
        </p:nvSpPr>
        <p:spPr>
          <a:xfrm>
            <a:off x="822960" y="5440680"/>
            <a:ext cx="3474720" cy="457200"/>
          </a:xfrm>
          <a:prstGeom prst="rect">
            <a:avLst/>
          </a:prstGeom>
          <a:noFill/>
          <a:ln/>
        </p:spPr>
        <p:txBody>
          <a:bodyPr wrap="square" lIns="0" tIns="0" rIns="0" bIns="0" rtlCol="0" anchor="ctr"/>
          <a:lstStyle/>
          <a:p>
            <a:pPr indent="0" marL="0">
              <a:buNone/>
            </a:pPr>
            <a:r>
              <a:rPr lang="en-US" sz="1450" b="1" dirty="0">
                <a:solidFill>
                  <a:srgbClr val="F8FAFC"/>
                </a:solidFill>
                <a:latin typeface="Outfit" pitchFamily="34" charset="0"/>
                <a:ea typeface="Outfit" pitchFamily="34" charset="-122"/>
                <a:cs typeface="Outfit" pitchFamily="34" charset="-120"/>
              </a:rPr>
              <a:t>Citations</a:t>
            </a:r>
            <a:pPr indent="0" marL="0">
              <a:buNone/>
            </a:pPr>
            <a:r>
              <a:rPr lang="en-US" sz="1150" dirty="0">
                <a:solidFill>
                  <a:srgbClr val="B3BFD3"/>
                </a:solidFill>
                <a:latin typeface="Inter" pitchFamily="34" charset="0"/>
                <a:ea typeface="Inter" pitchFamily="34" charset="-122"/>
                <a:cs typeface="Inter" pitchFamily="34" charset="-120"/>
              </a:rPr>
              <a:t>  ·  your catalog cards</a:t>
            </a:r>
            <a:endParaRPr lang="en-US" sz="1450" dirty="0"/>
          </a:p>
        </p:txBody>
      </p:sp>
      <p:sp>
        <p:nvSpPr>
          <p:cNvPr id="20" name="Shape 18"/>
          <p:cNvSpPr/>
          <p:nvPr/>
        </p:nvSpPr>
        <p:spPr>
          <a:xfrm>
            <a:off x="4434840" y="5486400"/>
            <a:ext cx="1190149" cy="365760"/>
          </a:xfrm>
          <a:prstGeom prst="roundRect">
            <a:avLst>
              <a:gd name="adj" fmla="val 20000"/>
            </a:avLst>
          </a:prstGeom>
          <a:solidFill>
            <a:srgbClr val="3B82F6">
              <a:alpha val="76000"/>
            </a:srgbClr>
          </a:solidFill>
          <a:ln/>
        </p:spPr>
      </p:sp>
      <p:sp>
        <p:nvSpPr>
          <p:cNvPr id="21" name="Text 19"/>
          <p:cNvSpPr/>
          <p:nvPr/>
        </p:nvSpPr>
        <p:spPr>
          <a:xfrm>
            <a:off x="5734717" y="5440680"/>
            <a:ext cx="868680" cy="45720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7%</a:t>
            </a:r>
            <a:endParaRPr lang="en-US" sz="1600" dirty="0"/>
          </a:p>
        </p:txBody>
      </p:sp>
      <p:sp>
        <p:nvSpPr>
          <p:cNvPr id="22" name="Text 20"/>
          <p:cNvSpPr/>
          <p:nvPr/>
        </p:nvSpPr>
        <p:spPr>
          <a:xfrm>
            <a:off x="822960" y="6309360"/>
            <a:ext cx="10515600" cy="411480"/>
          </a:xfrm>
          <a:prstGeom prst="rect">
            <a:avLst/>
          </a:prstGeom>
          <a:noFill/>
          <a:ln/>
        </p:spPr>
        <p:txBody>
          <a:bodyPr wrap="square" lIns="0" tIns="0" rIns="0" bIns="0" rtlCol="0" anchor="ctr"/>
          <a:lstStyle/>
          <a:p>
            <a:pPr indent="0" marL="0">
              <a:lnSpc>
                <a:spcPct val="120000"/>
              </a:lnSpc>
              <a:buNone/>
            </a:pPr>
            <a:r>
              <a:rPr lang="en-US" sz="1150" dirty="0">
                <a:solidFill>
                  <a:srgbClr val="B3BFD3"/>
                </a:solidFill>
                <a:latin typeface="Inter" pitchFamily="34" charset="0"/>
                <a:ea typeface="Inter" pitchFamily="34" charset="-122"/>
                <a:cs typeface="Inter" pitchFamily="34" charset="-120"/>
              </a:rPr>
              <a:t>Approximate share of map pack ranking weight. Source: Whitespark Local Search Ranking Factors survey, 2026. Distance to the searcher is measured on top of all of this.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CLEARING THE FOG</a:t>
            </a:r>
            <a:endParaRPr lang="en-US" sz="1200" dirty="0"/>
          </a:p>
        </p:txBody>
      </p:sp>
      <p:sp>
        <p:nvSpPr>
          <p:cNvPr id="3" name="Text 1"/>
          <p:cNvSpPr/>
          <p:nvPr/>
        </p:nvSpPr>
        <p:spPr>
          <a:xfrm>
            <a:off x="795528" y="1188720"/>
            <a:ext cx="6400800" cy="914400"/>
          </a:xfrm>
          <a:prstGeom prst="rect">
            <a:avLst/>
          </a:prstGeom>
          <a:noFill/>
          <a:ln/>
        </p:spPr>
        <p:txBody>
          <a:bodyPr wrap="square" lIns="0" tIns="0" rIns="0" bIns="0" rtlCol="0" anchor="ctr"/>
          <a:lstStyle/>
          <a:p>
            <a:pPr algn="l" indent="0" marL="0">
              <a:lnSpc>
                <a:spcPct val="104000"/>
              </a:lnSpc>
              <a:buNone/>
            </a:pPr>
            <a:r>
              <a:rPr lang="en-US" sz="3600" b="1" dirty="0">
                <a:solidFill>
                  <a:srgbClr val="F8FAFC"/>
                </a:solidFill>
                <a:latin typeface="Outfit" pitchFamily="34" charset="0"/>
                <a:ea typeface="Outfit" pitchFamily="34" charset="-122"/>
                <a:cs typeface="Outfit" pitchFamily="34" charset="-120"/>
              </a:rPr>
              <a:t>What SEO is not.</a:t>
            </a:r>
            <a:endParaRPr lang="en-US" sz="3600" dirty="0"/>
          </a:p>
        </p:txBody>
      </p:sp>
      <p:sp>
        <p:nvSpPr>
          <p:cNvPr id="4" name="Shape 2"/>
          <p:cNvSpPr/>
          <p:nvPr/>
        </p:nvSpPr>
        <p:spPr>
          <a:xfrm>
            <a:off x="822960" y="22402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1097280" y="2496312"/>
            <a:ext cx="512064" cy="512064"/>
          </a:xfrm>
          <a:prstGeom prst="ellipse">
            <a:avLst/>
          </a:prstGeom>
          <a:solidFill>
            <a:srgbClr val="243146">
              <a:alpha val="90000"/>
            </a:srgbClr>
          </a:solidFill>
          <a:ln w="9525">
            <a:solidFill>
              <a:srgbClr val="334155">
                <a:alpha val="70000"/>
              </a:srgbClr>
            </a:solidFill>
            <a:prstDash val="solid"/>
          </a:ln>
        </p:spPr>
      </p:sp>
      <p:pic>
        <p:nvPicPr>
          <p:cNvPr id="6" name="Image 0" descr="preencoded.png">    </p:cNvPr>
          <p:cNvPicPr>
            <a:picLocks noChangeAspect="1"/>
          </p:cNvPicPr>
          <p:nvPr/>
        </p:nvPicPr>
        <p:blipFill>
          <a:blip r:embed="rId2"/>
          <a:stretch>
            <a:fillRect/>
          </a:stretch>
        </p:blipFill>
        <p:spPr>
          <a:xfrm>
            <a:off x="1230417" y="2629449"/>
            <a:ext cx="245791" cy="245791"/>
          </a:xfrm>
          <a:prstGeom prst="rect">
            <a:avLst/>
          </a:prstGeom>
        </p:spPr>
      </p:pic>
      <p:sp>
        <p:nvSpPr>
          <p:cNvPr id="7" name="Text 4"/>
          <p:cNvSpPr/>
          <p:nvPr/>
        </p:nvSpPr>
        <p:spPr>
          <a:xfrm>
            <a:off x="1828800" y="24688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A one time fix</a:t>
            </a:r>
            <a:endParaRPr lang="en-US" sz="1600" dirty="0"/>
          </a:p>
        </p:txBody>
      </p:sp>
      <p:sp>
        <p:nvSpPr>
          <p:cNvPr id="8" name="Text 5"/>
          <p:cNvSpPr/>
          <p:nvPr/>
        </p:nvSpPr>
        <p:spPr>
          <a:xfrm>
            <a:off x="1828800" y="2862072"/>
            <a:ext cx="3886200" cy="777240"/>
          </a:xfrm>
          <a:prstGeom prst="rect">
            <a:avLst/>
          </a:prstGeom>
          <a:noFill/>
          <a:ln/>
        </p:spPr>
        <p:txBody>
          <a:bodyPr wrap="square" lIns="0" tIns="0" rIns="0" bIns="0" rtlCol="0" anchor="t"/>
          <a:lstStyle/>
          <a:p>
            <a:pPr indent="0" marL="0">
              <a:lnSpc>
                <a:spcPct val="120000"/>
              </a:lnSpc>
              <a:buNone/>
            </a:pPr>
            <a:r>
              <a:rPr lang="en-US" sz="1350" dirty="0">
                <a:solidFill>
                  <a:srgbClr val="E2E8F2"/>
                </a:solidFill>
                <a:latin typeface="Inter" pitchFamily="34" charset="0"/>
                <a:ea typeface="Inter" pitchFamily="34" charset="-122"/>
                <a:cs typeface="Inter" pitchFamily="34" charset="-120"/>
              </a:rPr>
              <a:t>The library reshelves every day. SEO is a habit, not a project.</a:t>
            </a:r>
            <a:endParaRPr lang="en-US" sz="1350" dirty="0"/>
          </a:p>
        </p:txBody>
      </p:sp>
      <p:sp>
        <p:nvSpPr>
          <p:cNvPr id="9" name="Shape 6"/>
          <p:cNvSpPr/>
          <p:nvPr/>
        </p:nvSpPr>
        <p:spPr>
          <a:xfrm>
            <a:off x="6172200" y="22402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446520" y="2496312"/>
            <a:ext cx="512064" cy="512064"/>
          </a:xfrm>
          <a:prstGeom prst="ellipse">
            <a:avLst/>
          </a:prstGeom>
          <a:solidFill>
            <a:srgbClr val="243146">
              <a:alpha val="90000"/>
            </a:srgbClr>
          </a:solidFill>
          <a:ln w="9525">
            <a:solidFill>
              <a:srgbClr val="334155">
                <a:alpha val="70000"/>
              </a:srgbClr>
            </a:solidFill>
            <a:prstDash val="solid"/>
          </a:ln>
        </p:spPr>
      </p:sp>
      <p:pic>
        <p:nvPicPr>
          <p:cNvPr id="11" name="Image 1" descr="preencoded.png">    </p:cNvPr>
          <p:cNvPicPr>
            <a:picLocks noChangeAspect="1"/>
          </p:cNvPicPr>
          <p:nvPr/>
        </p:nvPicPr>
        <p:blipFill>
          <a:blip r:embed="rId3"/>
          <a:stretch>
            <a:fillRect/>
          </a:stretch>
        </p:blipFill>
        <p:spPr>
          <a:xfrm>
            <a:off x="6579657" y="2629449"/>
            <a:ext cx="245791" cy="245791"/>
          </a:xfrm>
          <a:prstGeom prst="rect">
            <a:avLst/>
          </a:prstGeom>
        </p:spPr>
      </p:pic>
      <p:sp>
        <p:nvSpPr>
          <p:cNvPr id="12" name="Text 8"/>
          <p:cNvSpPr/>
          <p:nvPr/>
        </p:nvSpPr>
        <p:spPr>
          <a:xfrm>
            <a:off x="7178040" y="24688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Keyword stuffing</a:t>
            </a:r>
            <a:endParaRPr lang="en-US" sz="1600" dirty="0"/>
          </a:p>
        </p:txBody>
      </p:sp>
      <p:sp>
        <p:nvSpPr>
          <p:cNvPr id="13" name="Text 9"/>
          <p:cNvSpPr/>
          <p:nvPr/>
        </p:nvSpPr>
        <p:spPr>
          <a:xfrm>
            <a:off x="7178040" y="2862072"/>
            <a:ext cx="3886200" cy="777240"/>
          </a:xfrm>
          <a:prstGeom prst="rect">
            <a:avLst/>
          </a:prstGeom>
          <a:noFill/>
          <a:ln/>
        </p:spPr>
        <p:txBody>
          <a:bodyPr wrap="square" lIns="0" tIns="0" rIns="0" bIns="0" rtlCol="0" anchor="t"/>
          <a:lstStyle/>
          <a:p>
            <a:pPr indent="0" marL="0">
              <a:lnSpc>
                <a:spcPct val="120000"/>
              </a:lnSpc>
              <a:buNone/>
            </a:pPr>
            <a:r>
              <a:rPr lang="en-US" sz="1350" dirty="0">
                <a:solidFill>
                  <a:srgbClr val="E2E8F2"/>
                </a:solidFill>
                <a:latin typeface="Inter" pitchFamily="34" charset="0"/>
                <a:ea typeface="Inter" pitchFamily="34" charset="-122"/>
                <a:cs typeface="Inter" pitchFamily="34" charset="-120"/>
              </a:rPr>
              <a:t>Saying plumber forty times does not impress a librarian who reads.</a:t>
            </a:r>
            <a:endParaRPr lang="en-US" sz="1350" dirty="0"/>
          </a:p>
        </p:txBody>
      </p:sp>
      <p:sp>
        <p:nvSpPr>
          <p:cNvPr id="14" name="Shape 10"/>
          <p:cNvSpPr/>
          <p:nvPr/>
        </p:nvSpPr>
        <p:spPr>
          <a:xfrm>
            <a:off x="822960" y="40690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1097280" y="4325112"/>
            <a:ext cx="512064" cy="512064"/>
          </a:xfrm>
          <a:prstGeom prst="ellipse">
            <a:avLst/>
          </a:prstGeom>
          <a:solidFill>
            <a:srgbClr val="243146">
              <a:alpha val="90000"/>
            </a:srgbClr>
          </a:solidFill>
          <a:ln w="9525">
            <a:solidFill>
              <a:srgbClr val="334155">
                <a:alpha val="70000"/>
              </a:srgbClr>
            </a:solidFill>
            <a:prstDash val="solid"/>
          </a:ln>
        </p:spPr>
      </p:sp>
      <p:pic>
        <p:nvPicPr>
          <p:cNvPr id="16" name="Image 2" descr="preencoded.png">    </p:cNvPr>
          <p:cNvPicPr>
            <a:picLocks noChangeAspect="1"/>
          </p:cNvPicPr>
          <p:nvPr/>
        </p:nvPicPr>
        <p:blipFill>
          <a:blip r:embed="rId4"/>
          <a:stretch>
            <a:fillRect/>
          </a:stretch>
        </p:blipFill>
        <p:spPr>
          <a:xfrm>
            <a:off x="1230417" y="4458249"/>
            <a:ext cx="245791" cy="245791"/>
          </a:xfrm>
          <a:prstGeom prst="rect">
            <a:avLst/>
          </a:prstGeom>
        </p:spPr>
      </p:pic>
      <p:sp>
        <p:nvSpPr>
          <p:cNvPr id="17" name="Text 12"/>
          <p:cNvSpPr/>
          <p:nvPr/>
        </p:nvSpPr>
        <p:spPr>
          <a:xfrm>
            <a:off x="1828800" y="42976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Paying Google for rank</a:t>
            </a:r>
            <a:endParaRPr lang="en-US" sz="1600" dirty="0"/>
          </a:p>
        </p:txBody>
      </p:sp>
      <p:sp>
        <p:nvSpPr>
          <p:cNvPr id="18" name="Text 13"/>
          <p:cNvSpPr/>
          <p:nvPr/>
        </p:nvSpPr>
        <p:spPr>
          <a:xfrm>
            <a:off x="1828800" y="4690872"/>
            <a:ext cx="3886200" cy="777240"/>
          </a:xfrm>
          <a:prstGeom prst="rect">
            <a:avLst/>
          </a:prstGeom>
          <a:noFill/>
          <a:ln/>
        </p:spPr>
        <p:txBody>
          <a:bodyPr wrap="square" lIns="0" tIns="0" rIns="0" bIns="0" rtlCol="0" anchor="t"/>
          <a:lstStyle/>
          <a:p>
            <a:pPr indent="0" marL="0">
              <a:lnSpc>
                <a:spcPct val="120000"/>
              </a:lnSpc>
              <a:buNone/>
            </a:pPr>
            <a:r>
              <a:rPr lang="en-US" sz="1350" dirty="0">
                <a:solidFill>
                  <a:srgbClr val="E2E8F2"/>
                </a:solidFill>
                <a:latin typeface="Inter" pitchFamily="34" charset="0"/>
                <a:ea typeface="Inter" pitchFamily="34" charset="-122"/>
                <a:cs typeface="Inter" pitchFamily="34" charset="-120"/>
              </a:rPr>
              <a:t>Money buys the sidewalk flyers. It never buys the shelf.</a:t>
            </a:r>
            <a:endParaRPr lang="en-US" sz="1350" dirty="0"/>
          </a:p>
        </p:txBody>
      </p:sp>
      <p:sp>
        <p:nvSpPr>
          <p:cNvPr id="19" name="Shape 14"/>
          <p:cNvSpPr/>
          <p:nvPr/>
        </p:nvSpPr>
        <p:spPr>
          <a:xfrm>
            <a:off x="6172200" y="4069080"/>
            <a:ext cx="507492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446520" y="4325112"/>
            <a:ext cx="512064" cy="512064"/>
          </a:xfrm>
          <a:prstGeom prst="ellipse">
            <a:avLst/>
          </a:prstGeom>
          <a:solidFill>
            <a:srgbClr val="243146">
              <a:alpha val="90000"/>
            </a:srgbClr>
          </a:solidFill>
          <a:ln w="9525">
            <a:solidFill>
              <a:srgbClr val="334155">
                <a:alpha val="70000"/>
              </a:srgbClr>
            </a:solidFill>
            <a:prstDash val="solid"/>
          </a:ln>
        </p:spPr>
      </p:sp>
      <p:pic>
        <p:nvPicPr>
          <p:cNvPr id="21" name="Image 3" descr="preencoded.png">    </p:cNvPr>
          <p:cNvPicPr>
            <a:picLocks noChangeAspect="1"/>
          </p:cNvPicPr>
          <p:nvPr/>
        </p:nvPicPr>
        <p:blipFill>
          <a:blip r:embed="rId5"/>
          <a:stretch>
            <a:fillRect/>
          </a:stretch>
        </p:blipFill>
        <p:spPr>
          <a:xfrm>
            <a:off x="6579657" y="4458249"/>
            <a:ext cx="245791" cy="245791"/>
          </a:xfrm>
          <a:prstGeom prst="rect">
            <a:avLst/>
          </a:prstGeom>
        </p:spPr>
      </p:pic>
      <p:sp>
        <p:nvSpPr>
          <p:cNvPr id="22" name="Text 16"/>
          <p:cNvSpPr/>
          <p:nvPr/>
        </p:nvSpPr>
        <p:spPr>
          <a:xfrm>
            <a:off x="7178040" y="4297680"/>
            <a:ext cx="3840480" cy="320040"/>
          </a:xfrm>
          <a:prstGeom prst="rect">
            <a:avLst/>
          </a:prstGeom>
          <a:noFill/>
          <a:ln/>
        </p:spPr>
        <p:txBody>
          <a:bodyPr wrap="square" lIns="0" tIns="0" rIns="0" bIns="0" rtlCol="0" anchor="ctr"/>
          <a:lstStyle/>
          <a:p>
            <a:pPr indent="0" marL="0">
              <a:buNone/>
            </a:pPr>
            <a:r>
              <a:rPr lang="en-US" sz="1600" b="1" dirty="0">
                <a:solidFill>
                  <a:srgbClr val="F8FAFC"/>
                </a:solidFill>
                <a:latin typeface="Outfit" pitchFamily="34" charset="0"/>
                <a:ea typeface="Outfit" pitchFamily="34" charset="-122"/>
                <a:cs typeface="Outfit" pitchFamily="34" charset="-120"/>
              </a:rPr>
              <a:t>Magic</a:t>
            </a:r>
            <a:endParaRPr lang="en-US" sz="1600" dirty="0"/>
          </a:p>
        </p:txBody>
      </p:sp>
      <p:sp>
        <p:nvSpPr>
          <p:cNvPr id="23" name="Text 17"/>
          <p:cNvSpPr/>
          <p:nvPr/>
        </p:nvSpPr>
        <p:spPr>
          <a:xfrm>
            <a:off x="7178040" y="4690872"/>
            <a:ext cx="3886200" cy="777240"/>
          </a:xfrm>
          <a:prstGeom prst="rect">
            <a:avLst/>
          </a:prstGeom>
          <a:noFill/>
          <a:ln/>
        </p:spPr>
        <p:txBody>
          <a:bodyPr wrap="square" lIns="0" tIns="0" rIns="0" bIns="0" rtlCol="0" anchor="t"/>
          <a:lstStyle/>
          <a:p>
            <a:pPr indent="0" marL="0">
              <a:lnSpc>
                <a:spcPct val="120000"/>
              </a:lnSpc>
              <a:buNone/>
            </a:pPr>
            <a:r>
              <a:rPr lang="en-US" sz="1350" dirty="0">
                <a:solidFill>
                  <a:srgbClr val="E2E8F2"/>
                </a:solidFill>
                <a:latin typeface="Inter" pitchFamily="34" charset="0"/>
                <a:ea typeface="Inter" pitchFamily="34" charset="-122"/>
                <a:cs typeface="Inter" pitchFamily="34" charset="-120"/>
              </a:rPr>
              <a:t>It is a trust system. Explainable, measurable, and it compounds.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THE LOCAL TWIST</a:t>
            </a:r>
            <a:endParaRPr lang="en-US" sz="1200" dirty="0"/>
          </a:p>
        </p:txBody>
      </p:sp>
      <p:sp>
        <p:nvSpPr>
          <p:cNvPr id="3" name="Text 1"/>
          <p:cNvSpPr/>
          <p:nvPr/>
        </p:nvSpPr>
        <p:spPr>
          <a:xfrm>
            <a:off x="795528" y="1188720"/>
            <a:ext cx="5394960" cy="914400"/>
          </a:xfrm>
          <a:prstGeom prst="rect">
            <a:avLst/>
          </a:prstGeom>
          <a:noFill/>
          <a:ln/>
        </p:spPr>
        <p:txBody>
          <a:bodyPr wrap="square" lIns="0" tIns="0" rIns="0" bIns="0" rtlCol="0" anchor="ctr"/>
          <a:lstStyle/>
          <a:p>
            <a:pPr algn="l" indent="0" marL="0">
              <a:lnSpc>
                <a:spcPct val="104000"/>
              </a:lnSpc>
              <a:buNone/>
            </a:pPr>
            <a:r>
              <a:rPr lang="en-US" sz="3800" b="1" dirty="0">
                <a:solidFill>
                  <a:srgbClr val="F8FAFC"/>
                </a:solidFill>
                <a:latin typeface="Outfit" pitchFamily="34" charset="0"/>
                <a:ea typeface="Outfit" pitchFamily="34" charset="-122"/>
                <a:cs typeface="Outfit" pitchFamily="34" charset="-120"/>
              </a:rPr>
              <a:t>The shelf by the door.</a:t>
            </a:r>
            <a:endParaRPr lang="en-US" sz="3800" dirty="0"/>
          </a:p>
        </p:txBody>
      </p:sp>
      <p:sp>
        <p:nvSpPr>
          <p:cNvPr id="4" name="Text 2"/>
          <p:cNvSpPr/>
          <p:nvPr/>
        </p:nvSpPr>
        <p:spPr>
          <a:xfrm>
            <a:off x="822960" y="2286000"/>
            <a:ext cx="4663440" cy="1554480"/>
          </a:xfrm>
          <a:prstGeom prst="rect">
            <a:avLst/>
          </a:prstGeom>
          <a:noFill/>
          <a:ln/>
        </p:spPr>
        <p:txBody>
          <a:bodyPr wrap="square" lIns="0" tIns="0" rIns="0" bIns="0" rtlCol="0" anchor="t"/>
          <a:lstStyle/>
          <a:p>
            <a:pPr algn="l" indent="0" marL="0">
              <a:lnSpc>
                <a:spcPct val="125000"/>
              </a:lnSpc>
              <a:buNone/>
            </a:pPr>
            <a:r>
              <a:rPr lang="en-US" sz="1600" dirty="0">
                <a:solidFill>
                  <a:srgbClr val="E2E8F2"/>
                </a:solidFill>
                <a:latin typeface="Inter" pitchFamily="34" charset="0"/>
                <a:ea typeface="Inter" pitchFamily="34" charset="-122"/>
                <a:cs typeface="Inter" pitchFamily="34" charset="-120"/>
              </a:rPr>
              <a:t>For local searches the librarian keeps a short shelf right at the entrance: three names, a map, hours, reviews. Most customers never walk past it.</a:t>
            </a:r>
            <a:endParaRPr lang="en-US" sz="1600" dirty="0"/>
          </a:p>
        </p:txBody>
      </p:sp>
      <p:sp>
        <p:nvSpPr>
          <p:cNvPr id="5" name="Text 3"/>
          <p:cNvSpPr/>
          <p:nvPr/>
        </p:nvSpPr>
        <p:spPr>
          <a:xfrm>
            <a:off x="822960" y="4160520"/>
            <a:ext cx="4663440" cy="822960"/>
          </a:xfrm>
          <a:prstGeom prst="rect">
            <a:avLst/>
          </a:prstGeom>
          <a:noFill/>
          <a:ln/>
        </p:spPr>
        <p:txBody>
          <a:bodyPr wrap="square" lIns="0" tIns="0" rIns="0" bIns="0" rtlCol="0" anchor="ctr"/>
          <a:lstStyle/>
          <a:p>
            <a:pPr indent="0" marL="0">
              <a:lnSpc>
                <a:spcPct val="115000"/>
              </a:lnSpc>
              <a:buNone/>
            </a:pPr>
            <a:r>
              <a:rPr lang="en-US" sz="1900" b="1" dirty="0">
                <a:solidFill>
                  <a:srgbClr val="38BDF8"/>
                </a:solidFill>
                <a:latin typeface="Outfit" pitchFamily="34" charset="0"/>
                <a:ea typeface="Outfit" pitchFamily="34" charset="-122"/>
                <a:cs typeface="Outfit" pitchFamily="34" charset="-120"/>
              </a:rPr>
              <a:t>Local business is won and lost on this shelf.</a:t>
            </a:r>
            <a:endParaRPr lang="en-US" sz="1900" dirty="0"/>
          </a:p>
        </p:txBody>
      </p:sp>
      <p:sp>
        <p:nvSpPr>
          <p:cNvPr id="6" name="Shape 4"/>
          <p:cNvSpPr/>
          <p:nvPr/>
        </p:nvSpPr>
        <p:spPr>
          <a:xfrm>
            <a:off x="6217920" y="1234440"/>
            <a:ext cx="5120640" cy="4206240"/>
          </a:xfrm>
          <a:prstGeom prst="roundRect">
            <a:avLst>
              <a:gd name="adj" fmla="val 2609"/>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6537960" y="1554480"/>
            <a:ext cx="4480560" cy="822960"/>
          </a:xfrm>
          <a:prstGeom prst="roundRect">
            <a:avLst>
              <a:gd name="adj" fmla="val 8889"/>
            </a:avLst>
          </a:prstGeom>
          <a:solidFill>
            <a:srgbClr val="2A3852">
              <a:alpha val="80000"/>
            </a:srgbClr>
          </a:solidFill>
          <a:ln/>
        </p:spPr>
      </p:sp>
      <p:pic>
        <p:nvPicPr>
          <p:cNvPr id="8" name="Image 0" descr="preencoded.png">    </p:cNvPr>
          <p:cNvPicPr>
            <a:picLocks noChangeAspect="1"/>
          </p:cNvPicPr>
          <p:nvPr/>
        </p:nvPicPr>
        <p:blipFill>
          <a:blip r:embed="rId2"/>
          <a:stretch>
            <a:fillRect/>
          </a:stretch>
        </p:blipFill>
        <p:spPr>
          <a:xfrm>
            <a:off x="8595360" y="1755648"/>
            <a:ext cx="411480" cy="411480"/>
          </a:xfrm>
          <a:prstGeom prst="rect">
            <a:avLst/>
          </a:prstGeom>
        </p:spPr>
      </p:pic>
      <p:sp>
        <p:nvSpPr>
          <p:cNvPr id="9" name="Shape 6"/>
          <p:cNvSpPr/>
          <p:nvPr/>
        </p:nvSpPr>
        <p:spPr>
          <a:xfrm>
            <a:off x="6537960" y="2606040"/>
            <a:ext cx="4480560" cy="777240"/>
          </a:xfrm>
          <a:prstGeom prst="roundRect">
            <a:avLst>
              <a:gd name="adj" fmla="val 14118"/>
            </a:avLst>
          </a:prstGeom>
          <a:solidFill>
            <a:srgbClr val="243146">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858000" y="2752344"/>
            <a:ext cx="2103120" cy="182880"/>
          </a:xfrm>
          <a:prstGeom prst="roundRect">
            <a:avLst>
              <a:gd name="adj" fmla="val 50000"/>
            </a:avLst>
          </a:prstGeom>
          <a:solidFill>
            <a:srgbClr val="334155">
              <a:alpha val="60000"/>
            </a:srgbClr>
          </a:solidFill>
          <a:ln/>
        </p:spPr>
      </p:sp>
      <p:pic>
        <p:nvPicPr>
          <p:cNvPr id="11" name="Image 1" descr="preencoded.png">    </p:cNvPr>
          <p:cNvPicPr>
            <a:picLocks noChangeAspect="1"/>
          </p:cNvPicPr>
          <p:nvPr/>
        </p:nvPicPr>
        <p:blipFill>
          <a:blip r:embed="rId3"/>
          <a:stretch>
            <a:fillRect/>
          </a:stretch>
        </p:blipFill>
        <p:spPr>
          <a:xfrm>
            <a:off x="6858000" y="3044952"/>
            <a:ext cx="182880" cy="182880"/>
          </a:xfrm>
          <a:prstGeom prst="rect">
            <a:avLst/>
          </a:prstGeom>
        </p:spPr>
      </p:pic>
      <p:sp>
        <p:nvSpPr>
          <p:cNvPr id="12" name="Shape 8"/>
          <p:cNvSpPr/>
          <p:nvPr/>
        </p:nvSpPr>
        <p:spPr>
          <a:xfrm>
            <a:off x="7114032" y="3063240"/>
            <a:ext cx="914400" cy="128016"/>
          </a:xfrm>
          <a:prstGeom prst="roundRect">
            <a:avLst>
              <a:gd name="adj" fmla="val 50000"/>
            </a:avLst>
          </a:prstGeom>
          <a:solidFill>
            <a:srgbClr val="334155">
              <a:alpha val="45000"/>
            </a:srgbClr>
          </a:solidFill>
          <a:ln/>
        </p:spPr>
      </p:sp>
      <p:sp>
        <p:nvSpPr>
          <p:cNvPr id="13" name="Shape 9"/>
          <p:cNvSpPr/>
          <p:nvPr/>
        </p:nvSpPr>
        <p:spPr>
          <a:xfrm>
            <a:off x="9692640" y="2880360"/>
            <a:ext cx="1005840" cy="201168"/>
          </a:xfrm>
          <a:prstGeom prst="roundRect">
            <a:avLst>
              <a:gd name="adj" fmla="val 50000"/>
            </a:avLst>
          </a:prstGeom>
          <a:solidFill>
            <a:srgbClr val="3B82F6">
              <a:alpha val="80000"/>
            </a:srgbClr>
          </a:solidFill>
          <a:ln/>
        </p:spPr>
      </p:sp>
      <p:sp>
        <p:nvSpPr>
          <p:cNvPr id="14" name="Shape 10"/>
          <p:cNvSpPr/>
          <p:nvPr/>
        </p:nvSpPr>
        <p:spPr>
          <a:xfrm>
            <a:off x="6537960" y="3520440"/>
            <a:ext cx="4480560" cy="777240"/>
          </a:xfrm>
          <a:prstGeom prst="roundRect">
            <a:avLst>
              <a:gd name="adj" fmla="val 14118"/>
            </a:avLst>
          </a:prstGeom>
          <a:solidFill>
            <a:srgbClr val="243146">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6858000" y="3666744"/>
            <a:ext cx="1920240" cy="182880"/>
          </a:xfrm>
          <a:prstGeom prst="roundRect">
            <a:avLst>
              <a:gd name="adj" fmla="val 50000"/>
            </a:avLst>
          </a:prstGeom>
          <a:solidFill>
            <a:srgbClr val="334155">
              <a:alpha val="60000"/>
            </a:srgbClr>
          </a:solidFill>
          <a:ln/>
        </p:spPr>
      </p:sp>
      <p:pic>
        <p:nvPicPr>
          <p:cNvPr id="16" name="Image 2" descr="preencoded.png">    </p:cNvPr>
          <p:cNvPicPr>
            <a:picLocks noChangeAspect="1"/>
          </p:cNvPicPr>
          <p:nvPr/>
        </p:nvPicPr>
        <p:blipFill>
          <a:blip r:embed="rId4"/>
          <a:stretch>
            <a:fillRect/>
          </a:stretch>
        </p:blipFill>
        <p:spPr>
          <a:xfrm>
            <a:off x="6858000" y="3959352"/>
            <a:ext cx="182880" cy="182880"/>
          </a:xfrm>
          <a:prstGeom prst="rect">
            <a:avLst/>
          </a:prstGeom>
        </p:spPr>
      </p:pic>
      <p:sp>
        <p:nvSpPr>
          <p:cNvPr id="17" name="Shape 12"/>
          <p:cNvSpPr/>
          <p:nvPr/>
        </p:nvSpPr>
        <p:spPr>
          <a:xfrm>
            <a:off x="7114032" y="3977640"/>
            <a:ext cx="914400" cy="128016"/>
          </a:xfrm>
          <a:prstGeom prst="roundRect">
            <a:avLst>
              <a:gd name="adj" fmla="val 50000"/>
            </a:avLst>
          </a:prstGeom>
          <a:solidFill>
            <a:srgbClr val="334155">
              <a:alpha val="45000"/>
            </a:srgbClr>
          </a:solidFill>
          <a:ln/>
        </p:spPr>
      </p:sp>
      <p:sp>
        <p:nvSpPr>
          <p:cNvPr id="18" name="Shape 13"/>
          <p:cNvSpPr/>
          <p:nvPr/>
        </p:nvSpPr>
        <p:spPr>
          <a:xfrm>
            <a:off x="9692640" y="3794760"/>
            <a:ext cx="1005840" cy="201168"/>
          </a:xfrm>
          <a:prstGeom prst="roundRect">
            <a:avLst>
              <a:gd name="adj" fmla="val 50000"/>
            </a:avLst>
          </a:prstGeom>
          <a:solidFill>
            <a:srgbClr val="3B82F6">
              <a:alpha val="45000"/>
            </a:srgbClr>
          </a:solidFill>
          <a:ln/>
        </p:spPr>
      </p:sp>
      <p:sp>
        <p:nvSpPr>
          <p:cNvPr id="19" name="Shape 14"/>
          <p:cNvSpPr/>
          <p:nvPr/>
        </p:nvSpPr>
        <p:spPr>
          <a:xfrm>
            <a:off x="6537960" y="4434840"/>
            <a:ext cx="4480560" cy="777240"/>
          </a:xfrm>
          <a:prstGeom prst="roundRect">
            <a:avLst>
              <a:gd name="adj" fmla="val 14118"/>
            </a:avLst>
          </a:prstGeom>
          <a:solidFill>
            <a:srgbClr val="243146">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858000" y="4581144"/>
            <a:ext cx="1737360" cy="182880"/>
          </a:xfrm>
          <a:prstGeom prst="roundRect">
            <a:avLst>
              <a:gd name="adj" fmla="val 50000"/>
            </a:avLst>
          </a:prstGeom>
          <a:solidFill>
            <a:srgbClr val="334155">
              <a:alpha val="60000"/>
            </a:srgbClr>
          </a:solidFill>
          <a:ln/>
        </p:spPr>
      </p:sp>
      <p:pic>
        <p:nvPicPr>
          <p:cNvPr id="21" name="Image 3" descr="preencoded.png">    </p:cNvPr>
          <p:cNvPicPr>
            <a:picLocks noChangeAspect="1"/>
          </p:cNvPicPr>
          <p:nvPr/>
        </p:nvPicPr>
        <p:blipFill>
          <a:blip r:embed="rId5"/>
          <a:stretch>
            <a:fillRect/>
          </a:stretch>
        </p:blipFill>
        <p:spPr>
          <a:xfrm>
            <a:off x="6858000" y="4873752"/>
            <a:ext cx="182880" cy="182880"/>
          </a:xfrm>
          <a:prstGeom prst="rect">
            <a:avLst/>
          </a:prstGeom>
        </p:spPr>
      </p:pic>
      <p:sp>
        <p:nvSpPr>
          <p:cNvPr id="22" name="Shape 16"/>
          <p:cNvSpPr/>
          <p:nvPr/>
        </p:nvSpPr>
        <p:spPr>
          <a:xfrm>
            <a:off x="7114032" y="4892040"/>
            <a:ext cx="914400" cy="128016"/>
          </a:xfrm>
          <a:prstGeom prst="roundRect">
            <a:avLst>
              <a:gd name="adj" fmla="val 50000"/>
            </a:avLst>
          </a:prstGeom>
          <a:solidFill>
            <a:srgbClr val="334155">
              <a:alpha val="45000"/>
            </a:srgbClr>
          </a:solidFill>
          <a:ln/>
        </p:spPr>
      </p:sp>
      <p:sp>
        <p:nvSpPr>
          <p:cNvPr id="23" name="Shape 17"/>
          <p:cNvSpPr/>
          <p:nvPr/>
        </p:nvSpPr>
        <p:spPr>
          <a:xfrm>
            <a:off x="9692640" y="4709160"/>
            <a:ext cx="1005840" cy="201168"/>
          </a:xfrm>
          <a:prstGeom prst="roundRect">
            <a:avLst>
              <a:gd name="adj" fmla="val 50000"/>
            </a:avLst>
          </a:prstGeom>
          <a:solidFill>
            <a:srgbClr val="3B82F6">
              <a:alpha val="45000"/>
            </a:srgbClr>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77724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PROOF, NOT PROMISES</a:t>
            </a:r>
            <a:endParaRPr lang="en-US" sz="1200" dirty="0"/>
          </a:p>
        </p:txBody>
      </p:sp>
      <p:sp>
        <p:nvSpPr>
          <p:cNvPr id="3" name="Text 1"/>
          <p:cNvSpPr/>
          <p:nvPr/>
        </p:nvSpPr>
        <p:spPr>
          <a:xfrm>
            <a:off x="795528" y="1188720"/>
            <a:ext cx="7772400" cy="914400"/>
          </a:xfrm>
          <a:prstGeom prst="rect">
            <a:avLst/>
          </a:prstGeom>
          <a:noFill/>
          <a:ln/>
        </p:spPr>
        <p:txBody>
          <a:bodyPr wrap="square" lIns="0" tIns="0" rIns="0" bIns="0" rtlCol="0" anchor="ctr"/>
          <a:lstStyle/>
          <a:p>
            <a:pPr algn="l" indent="0" marL="0">
              <a:lnSpc>
                <a:spcPct val="104000"/>
              </a:lnSpc>
              <a:buNone/>
            </a:pPr>
            <a:r>
              <a:rPr lang="en-US" sz="3200" b="1" dirty="0">
                <a:solidFill>
                  <a:srgbClr val="F8FAFC"/>
                </a:solidFill>
                <a:latin typeface="Outfit" pitchFamily="34" charset="0"/>
                <a:ea typeface="Outfit" pitchFamily="34" charset="-122"/>
                <a:cs typeface="Outfit" pitchFamily="34" charset="-120"/>
              </a:rPr>
              <a:t>We audited the room you are sitting in.</a:t>
            </a:r>
            <a:endParaRPr lang="en-US" sz="3200" dirty="0"/>
          </a:p>
        </p:txBody>
      </p:sp>
      <p:sp>
        <p:nvSpPr>
          <p:cNvPr id="4" name="Shape 2"/>
          <p:cNvSpPr/>
          <p:nvPr/>
        </p:nvSpPr>
        <p:spPr>
          <a:xfrm>
            <a:off x="822960" y="2194560"/>
            <a:ext cx="178308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932688" y="2377440"/>
            <a:ext cx="1563624" cy="685800"/>
          </a:xfrm>
          <a:prstGeom prst="rect">
            <a:avLst/>
          </a:prstGeom>
          <a:noFill/>
          <a:ln/>
        </p:spPr>
        <p:txBody>
          <a:bodyPr wrap="square" lIns="0" tIns="0" rIns="0" bIns="0" rtlCol="0" anchor="ctr"/>
          <a:lstStyle/>
          <a:p>
            <a:pPr algn="ctr" indent="0" marL="0">
              <a:buNone/>
            </a:pPr>
            <a:r>
              <a:rPr lang="en-US" sz="4000" b="1" dirty="0">
                <a:solidFill>
                  <a:srgbClr val="10B981"/>
                </a:solidFill>
                <a:latin typeface="Outfit" pitchFamily="34" charset="0"/>
                <a:ea typeface="Outfit" pitchFamily="34" charset="-122"/>
                <a:cs typeface="Outfit" pitchFamily="34" charset="-120"/>
              </a:rPr>
              <a:t>20</a:t>
            </a:r>
            <a:endParaRPr lang="en-US" sz="4000" dirty="0"/>
          </a:p>
        </p:txBody>
      </p:sp>
      <p:sp>
        <p:nvSpPr>
          <p:cNvPr id="6" name="Text 4"/>
          <p:cNvSpPr/>
          <p:nvPr/>
        </p:nvSpPr>
        <p:spPr>
          <a:xfrm>
            <a:off x="932688" y="3154680"/>
            <a:ext cx="1563624" cy="548640"/>
          </a:xfrm>
          <a:prstGeom prst="rect">
            <a:avLst/>
          </a:prstGeom>
          <a:noFill/>
          <a:ln/>
        </p:spPr>
        <p:txBody>
          <a:bodyPr wrap="square" lIns="0" tIns="0" rIns="0" bIns="0" rtlCol="0" anchor="t"/>
          <a:lstStyle/>
          <a:p>
            <a:pPr algn="ctr" indent="0" marL="0">
              <a:lnSpc>
                <a:spcPct val="115000"/>
              </a:lnSpc>
              <a:buNone/>
            </a:pPr>
            <a:r>
              <a:rPr lang="en-US" sz="1200" dirty="0">
                <a:solidFill>
                  <a:srgbClr val="E2E8F2"/>
                </a:solidFill>
                <a:latin typeface="Inter" pitchFamily="34" charset="0"/>
                <a:ea typeface="Inter" pitchFamily="34" charset="-122"/>
                <a:cs typeface="Inter" pitchFamily="34" charset="-120"/>
              </a:rPr>
              <a:t>searches measured</a:t>
            </a:r>
            <a:endParaRPr lang="en-US" sz="1200" dirty="0"/>
          </a:p>
        </p:txBody>
      </p:sp>
      <p:sp>
        <p:nvSpPr>
          <p:cNvPr id="7" name="Shape 5"/>
          <p:cNvSpPr/>
          <p:nvPr/>
        </p:nvSpPr>
        <p:spPr>
          <a:xfrm>
            <a:off x="2788920" y="2194560"/>
            <a:ext cx="178308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8" name="Text 6"/>
          <p:cNvSpPr/>
          <p:nvPr/>
        </p:nvSpPr>
        <p:spPr>
          <a:xfrm>
            <a:off x="2898648" y="2377440"/>
            <a:ext cx="1563624" cy="685800"/>
          </a:xfrm>
          <a:prstGeom prst="rect">
            <a:avLst/>
          </a:prstGeom>
          <a:noFill/>
          <a:ln/>
        </p:spPr>
        <p:txBody>
          <a:bodyPr wrap="square" lIns="0" tIns="0" rIns="0" bIns="0" rtlCol="0" anchor="ctr"/>
          <a:lstStyle/>
          <a:p>
            <a:pPr algn="ctr" indent="0" marL="0">
              <a:buNone/>
            </a:pPr>
            <a:r>
              <a:rPr lang="en-US" sz="2600" b="1" dirty="0">
                <a:solidFill>
                  <a:srgbClr val="10B981"/>
                </a:solidFill>
                <a:latin typeface="Outfit" pitchFamily="34" charset="0"/>
                <a:ea typeface="Outfit" pitchFamily="34" charset="-122"/>
                <a:cs typeface="Outfit" pitchFamily="34" charset="-120"/>
              </a:rPr>
              <a:t>17 of 20</a:t>
            </a:r>
            <a:endParaRPr lang="en-US" sz="2600" dirty="0"/>
          </a:p>
        </p:txBody>
      </p:sp>
      <p:sp>
        <p:nvSpPr>
          <p:cNvPr id="9" name="Text 7"/>
          <p:cNvSpPr/>
          <p:nvPr/>
        </p:nvSpPr>
        <p:spPr>
          <a:xfrm>
            <a:off x="2898648" y="3154680"/>
            <a:ext cx="1563624" cy="548640"/>
          </a:xfrm>
          <a:prstGeom prst="rect">
            <a:avLst/>
          </a:prstGeom>
          <a:noFill/>
          <a:ln/>
        </p:spPr>
        <p:txBody>
          <a:bodyPr wrap="square" lIns="0" tIns="0" rIns="0" bIns="0" rtlCol="0" anchor="t"/>
          <a:lstStyle/>
          <a:p>
            <a:pPr algn="ctr" indent="0" marL="0">
              <a:lnSpc>
                <a:spcPct val="115000"/>
              </a:lnSpc>
              <a:buNone/>
            </a:pPr>
            <a:r>
              <a:rPr lang="en-US" sz="1200" dirty="0">
                <a:solidFill>
                  <a:srgbClr val="E2E8F2"/>
                </a:solidFill>
                <a:latin typeface="Inter" pitchFamily="34" charset="0"/>
                <a:ea typeface="Inter" pitchFamily="34" charset="-122"/>
                <a:cs typeface="Inter" pitchFamily="34" charset="-120"/>
              </a:rPr>
              <a:t>on the shelf, top three</a:t>
            </a:r>
            <a:endParaRPr lang="en-US" sz="1200" dirty="0"/>
          </a:p>
        </p:txBody>
      </p:sp>
      <p:sp>
        <p:nvSpPr>
          <p:cNvPr id="10" name="Shape 8"/>
          <p:cNvSpPr/>
          <p:nvPr/>
        </p:nvSpPr>
        <p:spPr>
          <a:xfrm>
            <a:off x="4754880" y="2194560"/>
            <a:ext cx="1783080" cy="1600200"/>
          </a:xfrm>
          <a:prstGeom prst="roundRect">
            <a:avLst>
              <a:gd name="adj" fmla="val 6857"/>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1" name="Text 9"/>
          <p:cNvSpPr/>
          <p:nvPr/>
        </p:nvSpPr>
        <p:spPr>
          <a:xfrm>
            <a:off x="4864608" y="2377440"/>
            <a:ext cx="1563624" cy="685800"/>
          </a:xfrm>
          <a:prstGeom prst="rect">
            <a:avLst/>
          </a:prstGeom>
          <a:noFill/>
          <a:ln/>
        </p:spPr>
        <p:txBody>
          <a:bodyPr wrap="square" lIns="0" tIns="0" rIns="0" bIns="0" rtlCol="0" anchor="ctr"/>
          <a:lstStyle/>
          <a:p>
            <a:pPr algn="ctr" indent="0" marL="0">
              <a:buNone/>
            </a:pPr>
            <a:r>
              <a:rPr lang="en-US" sz="4000" b="1" dirty="0">
                <a:solidFill>
                  <a:srgbClr val="10B981"/>
                </a:solidFill>
                <a:latin typeface="Outfit" pitchFamily="34" charset="0"/>
                <a:ea typeface="Outfit" pitchFamily="34" charset="-122"/>
                <a:cs typeface="Outfit" pitchFamily="34" charset="-120"/>
              </a:rPr>
              <a:t>12</a:t>
            </a:r>
            <a:endParaRPr lang="en-US" sz="4000" dirty="0"/>
          </a:p>
        </p:txBody>
      </p:sp>
      <p:sp>
        <p:nvSpPr>
          <p:cNvPr id="12" name="Text 10"/>
          <p:cNvSpPr/>
          <p:nvPr/>
        </p:nvSpPr>
        <p:spPr>
          <a:xfrm>
            <a:off x="4864608" y="3154680"/>
            <a:ext cx="1563624" cy="548640"/>
          </a:xfrm>
          <a:prstGeom prst="rect">
            <a:avLst/>
          </a:prstGeom>
          <a:noFill/>
          <a:ln/>
        </p:spPr>
        <p:txBody>
          <a:bodyPr wrap="square" lIns="0" tIns="0" rIns="0" bIns="0" rtlCol="0" anchor="t"/>
          <a:lstStyle/>
          <a:p>
            <a:pPr algn="ctr" indent="0" marL="0">
              <a:lnSpc>
                <a:spcPct val="115000"/>
              </a:lnSpc>
              <a:buNone/>
            </a:pPr>
            <a:r>
              <a:rPr lang="en-US" sz="1200" dirty="0">
                <a:solidFill>
                  <a:srgbClr val="E2E8F2"/>
                </a:solidFill>
                <a:latin typeface="Inter" pitchFamily="34" charset="0"/>
                <a:ea typeface="Inter" pitchFamily="34" charset="-122"/>
                <a:cs typeface="Inter" pitchFamily="34" charset="-120"/>
              </a:rPr>
              <a:t>ranked number one</a:t>
            </a:r>
            <a:endParaRPr lang="en-US" sz="1200" dirty="0"/>
          </a:p>
        </p:txBody>
      </p:sp>
      <p:sp>
        <p:nvSpPr>
          <p:cNvPr id="13" name="Text 11"/>
          <p:cNvSpPr/>
          <p:nvPr/>
        </p:nvSpPr>
        <p:spPr>
          <a:xfrm>
            <a:off x="822960" y="4023360"/>
            <a:ext cx="5669280" cy="320040"/>
          </a:xfrm>
          <a:prstGeom prst="rect">
            <a:avLst/>
          </a:prstGeom>
          <a:noFill/>
          <a:ln/>
        </p:spPr>
        <p:txBody>
          <a:bodyPr wrap="square" lIns="0" tIns="0" rIns="0" bIns="0" rtlCol="0" anchor="ctr"/>
          <a:lstStyle/>
          <a:p>
            <a:pPr indent="0" marL="0">
              <a:buNone/>
            </a:pPr>
            <a:r>
              <a:rPr lang="en-US" sz="1350" dirty="0">
                <a:solidFill>
                  <a:srgbClr val="E2E8F2"/>
                </a:solidFill>
                <a:latin typeface="Inter" pitchFamily="34" charset="0"/>
                <a:ea typeface="Inter" pitchFamily="34" charset="-122"/>
                <a:cs typeface="Inter" pitchFamily="34" charset="-120"/>
              </a:rPr>
              <a:t>River Arts Venue  ·  Rome market  ·  measured July 19</a:t>
            </a:r>
            <a:endParaRPr lang="en-US" sz="1350" dirty="0"/>
          </a:p>
        </p:txBody>
      </p:sp>
      <p:sp>
        <p:nvSpPr>
          <p:cNvPr id="14" name="Text 12">
            <a:hlinkClick r:id="rId2" tooltip=""/>
          </p:cNvPr>
          <p:cNvSpPr/>
          <p:nvPr/>
        </p:nvSpPr>
        <p:spPr>
          <a:xfrm>
            <a:off x="822960" y="4370832"/>
            <a:ext cx="5760720" cy="320040"/>
          </a:xfrm>
          <a:prstGeom prst="rect">
            <a:avLst/>
          </a:prstGeom>
          <a:noFill/>
          <a:ln/>
        </p:spPr>
        <p:txBody>
          <a:bodyPr wrap="square" lIns="0" tIns="0" rIns="0" bIns="0" rtlCol="0" anchor="ctr"/>
          <a:lstStyle/>
          <a:p>
            <a:pPr indent="0" marL="0">
              <a:buNone/>
            </a:pPr>
            <a:r>
              <a:rPr lang="en-US" sz="1350" u="sng" dirty="0">
                <a:solidFill>
                  <a:srgbClr val="38BDF8"/>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forge-dev-studio.github.io/client-reports/river-arts-venue</a:t>
            </a:r>
            <a:endParaRPr lang="en-US" sz="1350" dirty="0"/>
          </a:p>
        </p:txBody>
      </p:sp>
      <p:sp>
        <p:nvSpPr>
          <p:cNvPr id="15" name="Text 13"/>
          <p:cNvSpPr/>
          <p:nvPr/>
        </p:nvSpPr>
        <p:spPr>
          <a:xfrm>
            <a:off x="822960" y="4846320"/>
            <a:ext cx="5760720" cy="868680"/>
          </a:xfrm>
          <a:prstGeom prst="rect">
            <a:avLst/>
          </a:prstGeom>
          <a:noFill/>
          <a:ln/>
        </p:spPr>
        <p:txBody>
          <a:bodyPr wrap="square" lIns="0" tIns="0" rIns="0" bIns="0" rtlCol="0" anchor="ctr"/>
          <a:lstStyle/>
          <a:p>
            <a:pPr indent="0" marL="0">
              <a:lnSpc>
                <a:spcPct val="125000"/>
              </a:lnSpc>
              <a:buNone/>
            </a:pPr>
            <a:r>
              <a:rPr lang="en-US" sz="1450" dirty="0">
                <a:solidFill>
                  <a:srgbClr val="E2E8F2"/>
                </a:solidFill>
                <a:latin typeface="Inter" pitchFamily="34" charset="0"/>
                <a:ea typeface="Inter" pitchFamily="34" charset="-122"/>
                <a:cs typeface="Inter" pitchFamily="34" charset="-120"/>
              </a:rPr>
              <a:t>The edges show up too: wedding venue at 6, birthday party and rehearsal dinner at 5. Finding those is the point of an audit.</a:t>
            </a:r>
            <a:endParaRPr lang="en-US" sz="1450" dirty="0"/>
          </a:p>
        </p:txBody>
      </p:sp>
      <p:sp>
        <p:nvSpPr>
          <p:cNvPr id="16" name="Shape 14"/>
          <p:cNvSpPr/>
          <p:nvPr/>
        </p:nvSpPr>
        <p:spPr>
          <a:xfrm>
            <a:off x="6995160" y="1874520"/>
            <a:ext cx="4343400" cy="3794760"/>
          </a:xfrm>
          <a:prstGeom prst="roundRect">
            <a:avLst>
              <a:gd name="adj" fmla="val 2892"/>
            </a:avLst>
          </a:prstGeom>
          <a:solidFill>
            <a:srgbClr val="1E293B">
              <a:alpha val="90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pic>
        <p:nvPicPr>
          <p:cNvPr id="17" name="Image 0" descr="preencoded.png">    </p:cNvPr>
          <p:cNvPicPr>
            <a:picLocks noChangeAspect="1"/>
          </p:cNvPicPr>
          <p:nvPr/>
        </p:nvPicPr>
        <p:blipFill>
          <a:blip r:embed="rId3"/>
          <a:stretch>
            <a:fillRect/>
          </a:stretch>
        </p:blipFill>
        <p:spPr>
          <a:xfrm>
            <a:off x="7315200" y="2176272"/>
            <a:ext cx="274320" cy="274320"/>
          </a:xfrm>
          <a:prstGeom prst="rect">
            <a:avLst/>
          </a:prstGeom>
        </p:spPr>
      </p:pic>
      <p:sp>
        <p:nvSpPr>
          <p:cNvPr id="18" name="Text 15"/>
          <p:cNvSpPr/>
          <p:nvPr/>
        </p:nvSpPr>
        <p:spPr>
          <a:xfrm>
            <a:off x="7699248" y="2121408"/>
            <a:ext cx="3474720" cy="365760"/>
          </a:xfrm>
          <a:prstGeom prst="rect">
            <a:avLst/>
          </a:prstGeom>
          <a:noFill/>
          <a:ln/>
        </p:spPr>
        <p:txBody>
          <a:bodyPr wrap="square" lIns="0" tIns="0" rIns="0" bIns="0" rtlCol="0" anchor="ctr"/>
          <a:lstStyle/>
          <a:p>
            <a:pPr indent="0" marL="0">
              <a:buNone/>
            </a:pPr>
            <a:r>
              <a:rPr lang="en-US" sz="1400" dirty="0">
                <a:solidFill>
                  <a:srgbClr val="F8FAFC"/>
                </a:solidFill>
                <a:latin typeface="Inter" pitchFamily="34" charset="0"/>
                <a:ea typeface="Inter" pitchFamily="34" charset="-122"/>
                <a:cs typeface="Inter" pitchFamily="34" charset="-120"/>
              </a:rPr>
              <a:t>event venue rome ga</a:t>
            </a:r>
            <a:endParaRPr lang="en-US" sz="1400" dirty="0"/>
          </a:p>
        </p:txBody>
      </p:sp>
      <p:sp>
        <p:nvSpPr>
          <p:cNvPr id="19" name="Shape 16"/>
          <p:cNvSpPr/>
          <p:nvPr/>
        </p:nvSpPr>
        <p:spPr>
          <a:xfrm>
            <a:off x="7315200" y="2697480"/>
            <a:ext cx="3703320" cy="804672"/>
          </a:xfrm>
          <a:prstGeom prst="roundRect">
            <a:avLst>
              <a:gd name="adj" fmla="val 13636"/>
            </a:avLst>
          </a:prstGeom>
          <a:solidFill>
            <a:srgbClr val="243146"/>
          </a:solidFill>
          <a:ln w="15875">
            <a:solidFill>
              <a:srgbClr val="10B981">
                <a:alpha val="75000"/>
              </a:srgbClr>
            </a:solidFill>
            <a:prstDash val="solid"/>
          </a:ln>
          <a:effectLst>
            <a:outerShdw sx="100000" sy="100000" kx="0" ky="0" algn="bl" rotWithShape="0" blurRad="127000" dist="38100" dir="5400000">
              <a:srgbClr val="000000">
                <a:alpha val="35000"/>
              </a:srgbClr>
            </a:outerShdw>
          </a:effectLst>
        </p:spPr>
      </p:sp>
      <p:sp>
        <p:nvSpPr>
          <p:cNvPr id="20" name="Shape 17"/>
          <p:cNvSpPr/>
          <p:nvPr/>
        </p:nvSpPr>
        <p:spPr>
          <a:xfrm>
            <a:off x="7498080" y="2898648"/>
            <a:ext cx="402336" cy="402336"/>
          </a:xfrm>
          <a:prstGeom prst="ellipse">
            <a:avLst/>
          </a:prstGeom>
          <a:solidFill>
            <a:srgbClr val="10B981"/>
          </a:solidFill>
          <a:ln/>
        </p:spPr>
      </p:sp>
      <p:sp>
        <p:nvSpPr>
          <p:cNvPr id="21" name="Text 18"/>
          <p:cNvSpPr/>
          <p:nvPr/>
        </p:nvSpPr>
        <p:spPr>
          <a:xfrm>
            <a:off x="7498080" y="2880360"/>
            <a:ext cx="402336" cy="402336"/>
          </a:xfrm>
          <a:prstGeom prst="rect">
            <a:avLst/>
          </a:prstGeom>
          <a:noFill/>
          <a:ln/>
        </p:spPr>
        <p:txBody>
          <a:bodyPr wrap="square" lIns="0" tIns="0" rIns="0" bIns="0" rtlCol="0" anchor="ctr"/>
          <a:lstStyle/>
          <a:p>
            <a:pPr algn="ctr" indent="0" marL="0">
              <a:buNone/>
            </a:pPr>
            <a:r>
              <a:rPr lang="en-US" sz="1400" b="1" dirty="0">
                <a:solidFill>
                  <a:srgbClr val="0B1120"/>
                </a:solidFill>
                <a:latin typeface="Outfit" pitchFamily="34" charset="0"/>
                <a:ea typeface="Outfit" pitchFamily="34" charset="-122"/>
                <a:cs typeface="Outfit" pitchFamily="34" charset="-120"/>
              </a:rPr>
              <a:t>1</a:t>
            </a:r>
            <a:endParaRPr lang="en-US" sz="1400" dirty="0"/>
          </a:p>
        </p:txBody>
      </p:sp>
      <p:sp>
        <p:nvSpPr>
          <p:cNvPr id="22" name="Text 19"/>
          <p:cNvSpPr/>
          <p:nvPr/>
        </p:nvSpPr>
        <p:spPr>
          <a:xfrm>
            <a:off x="8065008" y="2816352"/>
            <a:ext cx="2834640" cy="320040"/>
          </a:xfrm>
          <a:prstGeom prst="rect">
            <a:avLst/>
          </a:prstGeom>
          <a:noFill/>
          <a:ln/>
        </p:spPr>
        <p:txBody>
          <a:bodyPr wrap="square" lIns="0" tIns="0" rIns="0" bIns="0" rtlCol="0" anchor="ctr"/>
          <a:lstStyle/>
          <a:p>
            <a:pPr indent="0" marL="0">
              <a:buNone/>
            </a:pPr>
            <a:r>
              <a:rPr lang="en-US" sz="1400" b="1" dirty="0">
                <a:solidFill>
                  <a:srgbClr val="F8FAFC"/>
                </a:solidFill>
                <a:latin typeface="Outfit" pitchFamily="34" charset="0"/>
                <a:ea typeface="Outfit" pitchFamily="34" charset="-122"/>
                <a:cs typeface="Outfit" pitchFamily="34" charset="-120"/>
              </a:rPr>
              <a:t>River Arts Venue</a:t>
            </a:r>
            <a:endParaRPr lang="en-US" sz="1400" dirty="0"/>
          </a:p>
        </p:txBody>
      </p:sp>
      <p:pic>
        <p:nvPicPr>
          <p:cNvPr id="23" name="Image 1" descr="preencoded.png">    </p:cNvPr>
          <p:cNvPicPr>
            <a:picLocks noChangeAspect="1"/>
          </p:cNvPicPr>
          <p:nvPr/>
        </p:nvPicPr>
        <p:blipFill>
          <a:blip r:embed="rId4"/>
          <a:stretch>
            <a:fillRect/>
          </a:stretch>
        </p:blipFill>
        <p:spPr>
          <a:xfrm>
            <a:off x="8083296" y="3163824"/>
            <a:ext cx="173736" cy="173736"/>
          </a:xfrm>
          <a:prstGeom prst="rect">
            <a:avLst/>
          </a:prstGeom>
        </p:spPr>
      </p:pic>
      <p:sp>
        <p:nvSpPr>
          <p:cNvPr id="24" name="Text 20"/>
          <p:cNvSpPr/>
          <p:nvPr/>
        </p:nvSpPr>
        <p:spPr>
          <a:xfrm>
            <a:off x="8321040" y="3099816"/>
            <a:ext cx="1097280" cy="274320"/>
          </a:xfrm>
          <a:prstGeom prst="rect">
            <a:avLst/>
          </a:prstGeom>
          <a:noFill/>
          <a:ln/>
        </p:spPr>
        <p:txBody>
          <a:bodyPr wrap="square" lIns="0" tIns="0" rIns="0" bIns="0" rtlCol="0" anchor="ctr"/>
          <a:lstStyle/>
          <a:p>
            <a:pPr indent="0" marL="0">
              <a:buNone/>
            </a:pPr>
            <a:r>
              <a:rPr lang="en-US" sz="1200" dirty="0">
                <a:solidFill>
                  <a:srgbClr val="E2E8F2"/>
                </a:solidFill>
                <a:latin typeface="Inter" pitchFamily="34" charset="0"/>
                <a:ea typeface="Inter" pitchFamily="34" charset="-122"/>
                <a:cs typeface="Inter" pitchFamily="34" charset="-120"/>
              </a:rPr>
              <a:t>5.0</a:t>
            </a:r>
            <a:endParaRPr lang="en-US" sz="1200" dirty="0"/>
          </a:p>
        </p:txBody>
      </p:sp>
      <p:sp>
        <p:nvSpPr>
          <p:cNvPr id="25" name="Shape 21"/>
          <p:cNvSpPr/>
          <p:nvPr/>
        </p:nvSpPr>
        <p:spPr>
          <a:xfrm>
            <a:off x="7315200" y="3630168"/>
            <a:ext cx="3703320" cy="804672"/>
          </a:xfrm>
          <a:prstGeom prst="roundRect">
            <a:avLst>
              <a:gd name="adj" fmla="val 13636"/>
            </a:avLst>
          </a:prstGeom>
          <a:solidFill>
            <a:srgbClr val="1E293B">
              <a:alpha val="80000"/>
            </a:srgbClr>
          </a:solidFill>
          <a:ln w="9525">
            <a:solidFill>
              <a:srgbClr val="334155">
                <a:alpha val="60000"/>
              </a:srgbClr>
            </a:solidFill>
            <a:prstDash val="solid"/>
          </a:ln>
          <a:effectLst>
            <a:outerShdw sx="100000" sy="100000" kx="0" ky="0" algn="bl" rotWithShape="0" blurRad="127000" dist="38100" dir="5400000">
              <a:srgbClr val="000000">
                <a:alpha val="35000"/>
              </a:srgbClr>
            </a:outerShdw>
          </a:effectLst>
        </p:spPr>
      </p:sp>
      <p:sp>
        <p:nvSpPr>
          <p:cNvPr id="26" name="Shape 22"/>
          <p:cNvSpPr/>
          <p:nvPr/>
        </p:nvSpPr>
        <p:spPr>
          <a:xfrm>
            <a:off x="7498080" y="3831336"/>
            <a:ext cx="402336" cy="402336"/>
          </a:xfrm>
          <a:prstGeom prst="ellipse">
            <a:avLst/>
          </a:prstGeom>
          <a:solidFill>
            <a:srgbClr val="3A4A63"/>
          </a:solidFill>
          <a:ln/>
        </p:spPr>
      </p:sp>
      <p:sp>
        <p:nvSpPr>
          <p:cNvPr id="27" name="Text 23"/>
          <p:cNvSpPr/>
          <p:nvPr/>
        </p:nvSpPr>
        <p:spPr>
          <a:xfrm>
            <a:off x="7498080" y="3813048"/>
            <a:ext cx="402336" cy="402336"/>
          </a:xfrm>
          <a:prstGeom prst="rect">
            <a:avLst/>
          </a:prstGeom>
          <a:noFill/>
          <a:ln/>
        </p:spPr>
        <p:txBody>
          <a:bodyPr wrap="square" lIns="0" tIns="0" rIns="0" bIns="0" rtlCol="0" anchor="ctr"/>
          <a:lstStyle/>
          <a:p>
            <a:pPr algn="ctr" indent="0" marL="0">
              <a:buNone/>
            </a:pPr>
            <a:r>
              <a:rPr lang="en-US" sz="1400" b="1" dirty="0">
                <a:solidFill>
                  <a:srgbClr val="F8FAFC"/>
                </a:solidFill>
                <a:latin typeface="Outfit" pitchFamily="34" charset="0"/>
                <a:ea typeface="Outfit" pitchFamily="34" charset="-122"/>
                <a:cs typeface="Outfit" pitchFamily="34" charset="-120"/>
              </a:rPr>
              <a:t>2</a:t>
            </a:r>
            <a:endParaRPr lang="en-US" sz="1400" dirty="0"/>
          </a:p>
        </p:txBody>
      </p:sp>
      <p:sp>
        <p:nvSpPr>
          <p:cNvPr id="28" name="Text 24"/>
          <p:cNvSpPr/>
          <p:nvPr/>
        </p:nvSpPr>
        <p:spPr>
          <a:xfrm>
            <a:off x="8065008" y="3749040"/>
            <a:ext cx="2834640" cy="320040"/>
          </a:xfrm>
          <a:prstGeom prst="rect">
            <a:avLst/>
          </a:prstGeom>
          <a:noFill/>
          <a:ln/>
        </p:spPr>
        <p:txBody>
          <a:bodyPr wrap="square" lIns="0" tIns="0" rIns="0" bIns="0" rtlCol="0" anchor="ctr"/>
          <a:lstStyle/>
          <a:p>
            <a:pPr indent="0" marL="0">
              <a:buNone/>
            </a:pPr>
            <a:r>
              <a:rPr lang="en-US" sz="1400" dirty="0">
                <a:solidFill>
                  <a:srgbClr val="F8FAFC"/>
                </a:solidFill>
                <a:latin typeface="Outfit" pitchFamily="34" charset="0"/>
                <a:ea typeface="Outfit" pitchFamily="34" charset="-122"/>
                <a:cs typeface="Outfit" pitchFamily="34" charset="-120"/>
              </a:rPr>
              <a:t>Taylor Estate</a:t>
            </a:r>
            <a:endParaRPr lang="en-US" sz="1400" dirty="0"/>
          </a:p>
        </p:txBody>
      </p:sp>
      <p:pic>
        <p:nvPicPr>
          <p:cNvPr id="29" name="Image 2" descr="preencoded.png">    </p:cNvPr>
          <p:cNvPicPr>
            <a:picLocks noChangeAspect="1"/>
          </p:cNvPicPr>
          <p:nvPr/>
        </p:nvPicPr>
        <p:blipFill>
          <a:blip r:embed="rId5"/>
          <a:stretch>
            <a:fillRect/>
          </a:stretch>
        </p:blipFill>
        <p:spPr>
          <a:xfrm>
            <a:off x="8083296" y="4096512"/>
            <a:ext cx="173736" cy="173736"/>
          </a:xfrm>
          <a:prstGeom prst="rect">
            <a:avLst/>
          </a:prstGeom>
        </p:spPr>
      </p:pic>
      <p:sp>
        <p:nvSpPr>
          <p:cNvPr id="30" name="Text 25"/>
          <p:cNvSpPr/>
          <p:nvPr/>
        </p:nvSpPr>
        <p:spPr>
          <a:xfrm>
            <a:off x="8321040" y="4032504"/>
            <a:ext cx="1097280" cy="274320"/>
          </a:xfrm>
          <a:prstGeom prst="rect">
            <a:avLst/>
          </a:prstGeom>
          <a:noFill/>
          <a:ln/>
        </p:spPr>
        <p:txBody>
          <a:bodyPr wrap="square" lIns="0" tIns="0" rIns="0" bIns="0" rtlCol="0" anchor="ctr"/>
          <a:lstStyle/>
          <a:p>
            <a:pPr indent="0" marL="0">
              <a:buNone/>
            </a:pPr>
            <a:r>
              <a:rPr lang="en-US" sz="1200" dirty="0">
                <a:solidFill>
                  <a:srgbClr val="E2E8F2"/>
                </a:solidFill>
                <a:latin typeface="Inter" pitchFamily="34" charset="0"/>
                <a:ea typeface="Inter" pitchFamily="34" charset="-122"/>
                <a:cs typeface="Inter" pitchFamily="34" charset="-120"/>
              </a:rPr>
              <a:t>4.9</a:t>
            </a:r>
            <a:endParaRPr lang="en-US" sz="1200" dirty="0"/>
          </a:p>
        </p:txBody>
      </p:sp>
      <p:sp>
        <p:nvSpPr>
          <p:cNvPr id="31" name="Shape 26"/>
          <p:cNvSpPr/>
          <p:nvPr/>
        </p:nvSpPr>
        <p:spPr>
          <a:xfrm>
            <a:off x="7315200" y="4562856"/>
            <a:ext cx="3703320" cy="804672"/>
          </a:xfrm>
          <a:prstGeom prst="roundRect">
            <a:avLst>
              <a:gd name="adj" fmla="val 13636"/>
            </a:avLst>
          </a:prstGeom>
          <a:solidFill>
            <a:srgbClr val="1E293B">
              <a:alpha val="80000"/>
            </a:srgbClr>
          </a:solidFill>
          <a:ln w="9525">
            <a:solidFill>
              <a:srgbClr val="334155">
                <a:alpha val="60000"/>
              </a:srgbClr>
            </a:solidFill>
            <a:prstDash val="solid"/>
          </a:ln>
          <a:effectLst>
            <a:outerShdw sx="100000" sy="100000" kx="0" ky="0" algn="bl" rotWithShape="0" blurRad="127000" dist="38100" dir="5400000">
              <a:srgbClr val="000000">
                <a:alpha val="35000"/>
              </a:srgbClr>
            </a:outerShdw>
          </a:effectLst>
        </p:spPr>
      </p:sp>
      <p:sp>
        <p:nvSpPr>
          <p:cNvPr id="32" name="Shape 27"/>
          <p:cNvSpPr/>
          <p:nvPr/>
        </p:nvSpPr>
        <p:spPr>
          <a:xfrm>
            <a:off x="7498080" y="4764024"/>
            <a:ext cx="402336" cy="402336"/>
          </a:xfrm>
          <a:prstGeom prst="ellipse">
            <a:avLst/>
          </a:prstGeom>
          <a:solidFill>
            <a:srgbClr val="3A4A63"/>
          </a:solidFill>
          <a:ln/>
        </p:spPr>
      </p:sp>
      <p:sp>
        <p:nvSpPr>
          <p:cNvPr id="33" name="Text 28"/>
          <p:cNvSpPr/>
          <p:nvPr/>
        </p:nvSpPr>
        <p:spPr>
          <a:xfrm>
            <a:off x="7498080" y="4745736"/>
            <a:ext cx="402336" cy="402336"/>
          </a:xfrm>
          <a:prstGeom prst="rect">
            <a:avLst/>
          </a:prstGeom>
          <a:noFill/>
          <a:ln/>
        </p:spPr>
        <p:txBody>
          <a:bodyPr wrap="square" lIns="0" tIns="0" rIns="0" bIns="0" rtlCol="0" anchor="ctr"/>
          <a:lstStyle/>
          <a:p>
            <a:pPr algn="ctr" indent="0" marL="0">
              <a:buNone/>
            </a:pPr>
            <a:r>
              <a:rPr lang="en-US" sz="1400" b="1" dirty="0">
                <a:solidFill>
                  <a:srgbClr val="F8FAFC"/>
                </a:solidFill>
                <a:latin typeface="Outfit" pitchFamily="34" charset="0"/>
                <a:ea typeface="Outfit" pitchFamily="34" charset="-122"/>
                <a:cs typeface="Outfit" pitchFamily="34" charset="-120"/>
              </a:rPr>
              <a:t>3</a:t>
            </a:r>
            <a:endParaRPr lang="en-US" sz="1400" dirty="0"/>
          </a:p>
        </p:txBody>
      </p:sp>
      <p:sp>
        <p:nvSpPr>
          <p:cNvPr id="34" name="Text 29"/>
          <p:cNvSpPr/>
          <p:nvPr/>
        </p:nvSpPr>
        <p:spPr>
          <a:xfrm>
            <a:off x="8065008" y="4681728"/>
            <a:ext cx="2834640" cy="320040"/>
          </a:xfrm>
          <a:prstGeom prst="rect">
            <a:avLst/>
          </a:prstGeom>
          <a:noFill/>
          <a:ln/>
        </p:spPr>
        <p:txBody>
          <a:bodyPr wrap="square" lIns="0" tIns="0" rIns="0" bIns="0" rtlCol="0" anchor="ctr"/>
          <a:lstStyle/>
          <a:p>
            <a:pPr indent="0" marL="0">
              <a:buNone/>
            </a:pPr>
            <a:r>
              <a:rPr lang="en-US" sz="1400" dirty="0">
                <a:solidFill>
                  <a:srgbClr val="F8FAFC"/>
                </a:solidFill>
                <a:latin typeface="Outfit" pitchFamily="34" charset="0"/>
                <a:ea typeface="Outfit" pitchFamily="34" charset="-122"/>
                <a:cs typeface="Outfit" pitchFamily="34" charset="-120"/>
              </a:rPr>
              <a:t>Screen 417</a:t>
            </a:r>
            <a:endParaRPr lang="en-US" sz="1400" dirty="0"/>
          </a:p>
        </p:txBody>
      </p:sp>
      <p:pic>
        <p:nvPicPr>
          <p:cNvPr id="35" name="Image 3" descr="preencoded.png">    </p:cNvPr>
          <p:cNvPicPr>
            <a:picLocks noChangeAspect="1"/>
          </p:cNvPicPr>
          <p:nvPr/>
        </p:nvPicPr>
        <p:blipFill>
          <a:blip r:embed="rId6"/>
          <a:stretch>
            <a:fillRect/>
          </a:stretch>
        </p:blipFill>
        <p:spPr>
          <a:xfrm>
            <a:off x="8083296" y="5029200"/>
            <a:ext cx="173736" cy="173736"/>
          </a:xfrm>
          <a:prstGeom prst="rect">
            <a:avLst/>
          </a:prstGeom>
        </p:spPr>
      </p:pic>
      <p:sp>
        <p:nvSpPr>
          <p:cNvPr id="36" name="Text 30"/>
          <p:cNvSpPr/>
          <p:nvPr/>
        </p:nvSpPr>
        <p:spPr>
          <a:xfrm>
            <a:off x="8321040" y="4965192"/>
            <a:ext cx="1097280" cy="274320"/>
          </a:xfrm>
          <a:prstGeom prst="rect">
            <a:avLst/>
          </a:prstGeom>
          <a:noFill/>
          <a:ln/>
        </p:spPr>
        <p:txBody>
          <a:bodyPr wrap="square" lIns="0" tIns="0" rIns="0" bIns="0" rtlCol="0" anchor="ctr"/>
          <a:lstStyle/>
          <a:p>
            <a:pPr indent="0" marL="0">
              <a:buNone/>
            </a:pPr>
            <a:r>
              <a:rPr lang="en-US" sz="1200" dirty="0">
                <a:solidFill>
                  <a:srgbClr val="E2E8F2"/>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051560"/>
            <a:ext cx="10515600" cy="1737360"/>
          </a:xfrm>
          <a:prstGeom prst="rect">
            <a:avLst/>
          </a:prstGeom>
          <a:noFill/>
          <a:ln/>
        </p:spPr>
        <p:txBody>
          <a:bodyPr wrap="square" lIns="0" tIns="0" rIns="0" bIns="0" rtlCol="0" anchor="ctr"/>
          <a:lstStyle/>
          <a:p>
            <a:pPr algn="ctr" indent="0" marL="0">
              <a:lnSpc>
                <a:spcPct val="104000"/>
              </a:lnSpc>
              <a:buNone/>
            </a:pPr>
            <a:r>
              <a:rPr lang="en-US" sz="3800" b="1" dirty="0">
                <a:solidFill>
                  <a:srgbClr val="F8FAFC"/>
                </a:solidFill>
                <a:latin typeface="Outfit" pitchFamily="34" charset="0"/>
                <a:ea typeface="Outfit" pitchFamily="34" charset="-122"/>
                <a:cs typeface="Outfit" pitchFamily="34" charset="-120"/>
              </a:rPr>
              <a:t>So what does the librarian</a:t>
            </a:r>
            <a:endParaRPr lang="en-US" sz="3800" dirty="0"/>
          </a:p>
          <a:p>
            <a:pPr algn="ctr" indent="0" marL="0">
              <a:lnSpc>
                <a:spcPct val="104000"/>
              </a:lnSpc>
              <a:buNone/>
            </a:pPr>
            <a:r>
              <a:rPr lang="en-US" sz="3800" b="1" dirty="0">
                <a:solidFill>
                  <a:srgbClr val="F8FAFC"/>
                </a:solidFill>
                <a:latin typeface="Outfit" pitchFamily="34" charset="0"/>
                <a:ea typeface="Outfit" pitchFamily="34" charset="-122"/>
                <a:cs typeface="Outfit" pitchFamily="34" charset="-120"/>
              </a:rPr>
              <a:t>see about YOUR business?</a:t>
            </a:r>
            <a:endParaRPr lang="en-US" sz="3800" dirty="0"/>
          </a:p>
        </p:txBody>
      </p:sp>
      <p:sp>
        <p:nvSpPr>
          <p:cNvPr id="3" name="Shape 1"/>
          <p:cNvSpPr/>
          <p:nvPr/>
        </p:nvSpPr>
        <p:spPr>
          <a:xfrm>
            <a:off x="896112"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4" name="Text 2"/>
          <p:cNvSpPr/>
          <p:nvPr/>
        </p:nvSpPr>
        <p:spPr>
          <a:xfrm>
            <a:off x="987552"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14</a:t>
            </a:r>
            <a:endParaRPr lang="en-US" sz="4400" dirty="0"/>
          </a:p>
        </p:txBody>
      </p:sp>
      <p:sp>
        <p:nvSpPr>
          <p:cNvPr id="5" name="Text 3"/>
          <p:cNvSpPr/>
          <p:nvPr/>
        </p:nvSpPr>
        <p:spPr>
          <a:xfrm>
            <a:off x="987552" y="4343400"/>
            <a:ext cx="2194560" cy="457200"/>
          </a:xfrm>
          <a:prstGeom prst="rect">
            <a:avLst/>
          </a:prstGeom>
          <a:noFill/>
          <a:ln/>
        </p:spPr>
        <p:txBody>
          <a:bodyPr wrap="square" lIns="0" tIns="0" rIns="0" bIns="0" rtlCol="0" anchor="t"/>
          <a:lstStyle/>
          <a:p>
            <a:pPr algn="ctr" indent="0" marL="0">
              <a:buNone/>
            </a:pPr>
            <a:r>
              <a:rPr lang="en-US" sz="1350" dirty="0">
                <a:solidFill>
                  <a:srgbClr val="E2E8F2"/>
                </a:solidFill>
                <a:latin typeface="Inter" pitchFamily="34" charset="0"/>
                <a:ea typeface="Inter" pitchFamily="34" charset="-122"/>
                <a:cs typeface="Inter" pitchFamily="34" charset="-120"/>
              </a:rPr>
              <a:t>member businesses</a:t>
            </a:r>
            <a:endParaRPr lang="en-US" sz="1350" dirty="0"/>
          </a:p>
        </p:txBody>
      </p:sp>
      <p:sp>
        <p:nvSpPr>
          <p:cNvPr id="6" name="Shape 4"/>
          <p:cNvSpPr/>
          <p:nvPr/>
        </p:nvSpPr>
        <p:spPr>
          <a:xfrm>
            <a:off x="3575304"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7" name="Text 5"/>
          <p:cNvSpPr/>
          <p:nvPr/>
        </p:nvSpPr>
        <p:spPr>
          <a:xfrm>
            <a:off x="3666744"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20</a:t>
            </a:r>
            <a:endParaRPr lang="en-US" sz="4400" dirty="0"/>
          </a:p>
        </p:txBody>
      </p:sp>
      <p:sp>
        <p:nvSpPr>
          <p:cNvPr id="8" name="Text 6"/>
          <p:cNvSpPr/>
          <p:nvPr/>
        </p:nvSpPr>
        <p:spPr>
          <a:xfrm>
            <a:off x="3666744" y="4343400"/>
            <a:ext cx="2194560" cy="457200"/>
          </a:xfrm>
          <a:prstGeom prst="rect">
            <a:avLst/>
          </a:prstGeom>
          <a:noFill/>
          <a:ln/>
        </p:spPr>
        <p:txBody>
          <a:bodyPr wrap="square" lIns="0" tIns="0" rIns="0" bIns="0" rtlCol="0" anchor="t"/>
          <a:lstStyle/>
          <a:p>
            <a:pPr algn="ctr" indent="0" marL="0">
              <a:buNone/>
            </a:pPr>
            <a:r>
              <a:rPr lang="en-US" sz="1350" dirty="0">
                <a:solidFill>
                  <a:srgbClr val="E2E8F2"/>
                </a:solidFill>
                <a:latin typeface="Inter" pitchFamily="34" charset="0"/>
                <a:ea typeface="Inter" pitchFamily="34" charset="-122"/>
                <a:cs typeface="Inter" pitchFamily="34" charset="-120"/>
              </a:rPr>
              <a:t>search phrases each</a:t>
            </a:r>
            <a:endParaRPr lang="en-US" sz="1350" dirty="0"/>
          </a:p>
        </p:txBody>
      </p:sp>
      <p:sp>
        <p:nvSpPr>
          <p:cNvPr id="9" name="Shape 7"/>
          <p:cNvSpPr/>
          <p:nvPr/>
        </p:nvSpPr>
        <p:spPr>
          <a:xfrm>
            <a:off x="6254496"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0" name="Text 8"/>
          <p:cNvSpPr/>
          <p:nvPr/>
        </p:nvSpPr>
        <p:spPr>
          <a:xfrm>
            <a:off x="6345936"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30 mi</a:t>
            </a:r>
            <a:endParaRPr lang="en-US" sz="4400" dirty="0"/>
          </a:p>
        </p:txBody>
      </p:sp>
      <p:sp>
        <p:nvSpPr>
          <p:cNvPr id="11" name="Text 9"/>
          <p:cNvSpPr/>
          <p:nvPr/>
        </p:nvSpPr>
        <p:spPr>
          <a:xfrm>
            <a:off x="6345936" y="4343400"/>
            <a:ext cx="2194560" cy="457200"/>
          </a:xfrm>
          <a:prstGeom prst="rect">
            <a:avLst/>
          </a:prstGeom>
          <a:noFill/>
          <a:ln/>
        </p:spPr>
        <p:txBody>
          <a:bodyPr wrap="square" lIns="0" tIns="0" rIns="0" bIns="0" rtlCol="0" anchor="t"/>
          <a:lstStyle/>
          <a:p>
            <a:pPr algn="ctr" indent="0" marL="0">
              <a:buNone/>
            </a:pPr>
            <a:r>
              <a:rPr lang="en-US" sz="1350" dirty="0">
                <a:solidFill>
                  <a:srgbClr val="E2E8F2"/>
                </a:solidFill>
                <a:latin typeface="Inter" pitchFamily="34" charset="0"/>
                <a:ea typeface="Inter" pitchFamily="34" charset="-122"/>
                <a:cs typeface="Inter" pitchFamily="34" charset="-120"/>
              </a:rPr>
              <a:t>radius around you</a:t>
            </a:r>
            <a:endParaRPr lang="en-US" sz="1350" dirty="0"/>
          </a:p>
        </p:txBody>
      </p:sp>
      <p:sp>
        <p:nvSpPr>
          <p:cNvPr id="12" name="Shape 10"/>
          <p:cNvSpPr/>
          <p:nvPr/>
        </p:nvSpPr>
        <p:spPr>
          <a:xfrm>
            <a:off x="8933688" y="3154680"/>
            <a:ext cx="2377440" cy="1920240"/>
          </a:xfrm>
          <a:prstGeom prst="roundRect">
            <a:avLst>
              <a:gd name="adj" fmla="val 5714"/>
            </a:avLst>
          </a:prstGeom>
          <a:solidFill>
            <a:srgbClr val="1E293B">
              <a:alpha val="86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13" name="Text 11"/>
          <p:cNvSpPr/>
          <p:nvPr/>
        </p:nvSpPr>
        <p:spPr>
          <a:xfrm>
            <a:off x="9025128" y="3383280"/>
            <a:ext cx="2194560" cy="868680"/>
          </a:xfrm>
          <a:prstGeom prst="rect">
            <a:avLst/>
          </a:prstGeom>
          <a:noFill/>
          <a:ln/>
        </p:spPr>
        <p:txBody>
          <a:bodyPr wrap="square" lIns="0" tIns="0" rIns="0" bIns="0" rtlCol="0" anchor="ctr"/>
          <a:lstStyle/>
          <a:p>
            <a:pPr algn="ctr" indent="0" marL="0">
              <a:buNone/>
            </a:pPr>
            <a:r>
              <a:rPr lang="en-US" sz="4400" b="1" dirty="0">
                <a:solidFill>
                  <a:srgbClr val="38BDF8"/>
                </a:solidFill>
                <a:latin typeface="Outfit" pitchFamily="34" charset="0"/>
                <a:ea typeface="Outfit" pitchFamily="34" charset="-122"/>
                <a:cs typeface="Outfit" pitchFamily="34" charset="-120"/>
              </a:rPr>
              <a:t>4,440</a:t>
            </a:r>
            <a:endParaRPr lang="en-US" sz="4400" dirty="0"/>
          </a:p>
        </p:txBody>
      </p:sp>
      <p:sp>
        <p:nvSpPr>
          <p:cNvPr id="14" name="Text 12"/>
          <p:cNvSpPr/>
          <p:nvPr/>
        </p:nvSpPr>
        <p:spPr>
          <a:xfrm>
            <a:off x="9025128" y="4343400"/>
            <a:ext cx="2194560" cy="457200"/>
          </a:xfrm>
          <a:prstGeom prst="rect">
            <a:avLst/>
          </a:prstGeom>
          <a:noFill/>
          <a:ln/>
        </p:spPr>
        <p:txBody>
          <a:bodyPr wrap="square" lIns="0" tIns="0" rIns="0" bIns="0" rtlCol="0" anchor="t"/>
          <a:lstStyle/>
          <a:p>
            <a:pPr algn="ctr" indent="0" marL="0">
              <a:buNone/>
            </a:pPr>
            <a:r>
              <a:rPr lang="en-US" sz="1350" dirty="0">
                <a:solidFill>
                  <a:srgbClr val="E2E8F2"/>
                </a:solidFill>
                <a:latin typeface="Inter" pitchFamily="34" charset="0"/>
                <a:ea typeface="Inter" pitchFamily="34" charset="-122"/>
                <a:cs typeface="Inter" pitchFamily="34" charset="-120"/>
              </a:rPr>
              <a:t>real Google searches</a:t>
            </a:r>
            <a:endParaRPr lang="en-US" sz="1350" dirty="0"/>
          </a:p>
        </p:txBody>
      </p:sp>
      <p:sp>
        <p:nvSpPr>
          <p:cNvPr id="15" name="Text 13"/>
          <p:cNvSpPr/>
          <p:nvPr/>
        </p:nvSpPr>
        <p:spPr>
          <a:xfrm>
            <a:off x="1737360" y="5577840"/>
            <a:ext cx="8686800" cy="457200"/>
          </a:xfrm>
          <a:prstGeom prst="rect">
            <a:avLst/>
          </a:prstGeom>
          <a:noFill/>
          <a:ln/>
        </p:spPr>
        <p:txBody>
          <a:bodyPr wrap="square" lIns="0" tIns="0" rIns="0" bIns="0" rtlCol="0" anchor="ctr"/>
          <a:lstStyle/>
          <a:p>
            <a:pPr algn="ctr" indent="0" marL="0">
              <a:buNone/>
            </a:pPr>
            <a:r>
              <a:rPr lang="en-US" sz="1600" i="1" dirty="0">
                <a:solidFill>
                  <a:srgbClr val="E2E8F2"/>
                </a:solidFill>
                <a:latin typeface="Inter" pitchFamily="34" charset="0"/>
                <a:ea typeface="Inter" pitchFamily="34" charset="-122"/>
                <a:cs typeface="Inter" pitchFamily="34" charset="-120"/>
              </a:rPr>
              <a:t>We did not guess. We measured this chapter, one business at a time.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051560"/>
            <a:ext cx="6400800" cy="310896"/>
          </a:xfrm>
          <a:prstGeom prst="rect">
            <a:avLst/>
          </a:prstGeom>
          <a:noFill/>
          <a:ln/>
        </p:spPr>
        <p:txBody>
          <a:bodyPr wrap="square" lIns="0" tIns="0" rIns="0" bIns="0" rtlCol="0" anchor="ctr"/>
          <a:lstStyle/>
          <a:p>
            <a:pPr algn="l" indent="0" marL="0">
              <a:buNone/>
            </a:pPr>
            <a:r>
              <a:rPr lang="en-US" sz="1200" b="1" spc="300" kern="0" dirty="0">
                <a:solidFill>
                  <a:srgbClr val="38BDF8"/>
                </a:solidFill>
                <a:latin typeface="Inter" pitchFamily="34" charset="0"/>
                <a:ea typeface="Inter" pitchFamily="34" charset="-122"/>
                <a:cs typeface="Inter" pitchFamily="34" charset="-120"/>
              </a:rPr>
              <a:t>THIS MORNING</a:t>
            </a:r>
            <a:endParaRPr lang="en-US" sz="1200" dirty="0"/>
          </a:p>
        </p:txBody>
      </p:sp>
      <p:sp>
        <p:nvSpPr>
          <p:cNvPr id="3" name="Text 1"/>
          <p:cNvSpPr/>
          <p:nvPr/>
        </p:nvSpPr>
        <p:spPr>
          <a:xfrm>
            <a:off x="795528" y="1463040"/>
            <a:ext cx="9601200" cy="914400"/>
          </a:xfrm>
          <a:prstGeom prst="rect">
            <a:avLst/>
          </a:prstGeom>
          <a:noFill/>
          <a:ln/>
        </p:spPr>
        <p:txBody>
          <a:bodyPr wrap="square" lIns="0" tIns="0" rIns="0" bIns="0" rtlCol="0" anchor="ctr"/>
          <a:lstStyle/>
          <a:p>
            <a:pPr algn="l" indent="0" marL="0">
              <a:lnSpc>
                <a:spcPct val="104000"/>
              </a:lnSpc>
              <a:buNone/>
            </a:pPr>
            <a:r>
              <a:rPr lang="en-US" sz="4000" b="1" dirty="0">
                <a:solidFill>
                  <a:srgbClr val="F8FAFC"/>
                </a:solidFill>
                <a:latin typeface="Outfit" pitchFamily="34" charset="0"/>
                <a:ea typeface="Outfit" pitchFamily="34" charset="-122"/>
                <a:cs typeface="Outfit" pitchFamily="34" charset="-120"/>
              </a:rPr>
              <a:t>Your copy is already on its way.</a:t>
            </a:r>
            <a:endParaRPr lang="en-US" sz="4000" dirty="0"/>
          </a:p>
        </p:txBody>
      </p:sp>
      <p:sp>
        <p:nvSpPr>
          <p:cNvPr id="4" name="Text 2"/>
          <p:cNvSpPr/>
          <p:nvPr/>
        </p:nvSpPr>
        <p:spPr>
          <a:xfrm>
            <a:off x="822960" y="2514600"/>
            <a:ext cx="5852160" cy="914400"/>
          </a:xfrm>
          <a:prstGeom prst="rect">
            <a:avLst/>
          </a:prstGeom>
          <a:noFill/>
          <a:ln/>
        </p:spPr>
        <p:txBody>
          <a:bodyPr wrap="square" lIns="0" tIns="0" rIns="0" bIns="0" rtlCol="0" anchor="t"/>
          <a:lstStyle/>
          <a:p>
            <a:pPr algn="l" indent="0" marL="0">
              <a:lnSpc>
                <a:spcPct val="125000"/>
              </a:lnSpc>
              <a:buNone/>
            </a:pPr>
            <a:r>
              <a:rPr lang="en-US" sz="1600" dirty="0">
                <a:solidFill>
                  <a:srgbClr val="E2E8F2"/>
                </a:solidFill>
                <a:latin typeface="Inter" pitchFamily="34" charset="0"/>
                <a:ea typeface="Inter" pitchFamily="34" charset="-122"/>
                <a:cs typeface="Inter" pitchFamily="34" charset="-120"/>
              </a:rPr>
              <a:t>Every member gets a personalized audit of their own business. Yours, not a template. Read it in five minutes.</a:t>
            </a:r>
            <a:endParaRPr lang="en-US" sz="1600" dirty="0"/>
          </a:p>
        </p:txBody>
      </p:sp>
      <p:sp>
        <p:nvSpPr>
          <p:cNvPr id="5" name="Shape 3"/>
          <p:cNvSpPr/>
          <p:nvPr/>
        </p:nvSpPr>
        <p:spPr>
          <a:xfrm>
            <a:off x="822960" y="3657600"/>
            <a:ext cx="7589520" cy="1463040"/>
          </a:xfrm>
          <a:prstGeom prst="roundRect">
            <a:avLst>
              <a:gd name="adj" fmla="val 7500"/>
            </a:avLst>
          </a:prstGeom>
          <a:solidFill>
            <a:srgbClr val="1E293B">
              <a:alpha val="92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6" name="Shape 4"/>
          <p:cNvSpPr/>
          <p:nvPr/>
        </p:nvSpPr>
        <p:spPr>
          <a:xfrm>
            <a:off x="1143000" y="3977640"/>
            <a:ext cx="822960" cy="822960"/>
          </a:xfrm>
          <a:prstGeom prst="ellipse">
            <a:avLst/>
          </a:prstGeom>
          <a:solidFill>
            <a:srgbClr val="243146">
              <a:alpha val="90000"/>
            </a:srgbClr>
          </a:solidFill>
          <a:ln w="9525">
            <a:solidFill>
              <a:srgbClr val="334155">
                <a:alpha val="70000"/>
              </a:srgbClr>
            </a:solidFill>
            <a:prstDash val="solid"/>
          </a:ln>
        </p:spPr>
      </p:sp>
      <p:pic>
        <p:nvPicPr>
          <p:cNvPr id="7" name="Image 0" descr="preencoded.png">    </p:cNvPr>
          <p:cNvPicPr>
            <a:picLocks noChangeAspect="1"/>
          </p:cNvPicPr>
          <p:nvPr/>
        </p:nvPicPr>
        <p:blipFill>
          <a:blip r:embed="rId2"/>
          <a:stretch>
            <a:fillRect/>
          </a:stretch>
        </p:blipFill>
        <p:spPr>
          <a:xfrm>
            <a:off x="1356970" y="4191610"/>
            <a:ext cx="395021" cy="395021"/>
          </a:xfrm>
          <a:prstGeom prst="rect">
            <a:avLst/>
          </a:prstGeom>
        </p:spPr>
      </p:pic>
      <p:sp>
        <p:nvSpPr>
          <p:cNvPr id="8" name="Text 5"/>
          <p:cNvSpPr/>
          <p:nvPr/>
        </p:nvSpPr>
        <p:spPr>
          <a:xfrm>
            <a:off x="2240280" y="3913632"/>
            <a:ext cx="5120640" cy="411480"/>
          </a:xfrm>
          <a:prstGeom prst="rect">
            <a:avLst/>
          </a:prstGeom>
          <a:noFill/>
          <a:ln/>
        </p:spPr>
        <p:txBody>
          <a:bodyPr wrap="square" lIns="0" tIns="0" rIns="0" bIns="0" rtlCol="0" anchor="ctr"/>
          <a:lstStyle/>
          <a:p>
            <a:pPr indent="0" marL="0">
              <a:buNone/>
            </a:pPr>
            <a:r>
              <a:rPr lang="en-US" sz="1800" b="1" dirty="0">
                <a:solidFill>
                  <a:srgbClr val="F8FAFC"/>
                </a:solidFill>
                <a:latin typeface="Outfit" pitchFamily="34" charset="0"/>
                <a:ea typeface="Outfit" pitchFamily="34" charset="-122"/>
                <a:cs typeface="Outfit" pitchFamily="34" charset="-120"/>
              </a:rPr>
              <a:t>Your Simple SEO Audit is ready</a:t>
            </a:r>
            <a:endParaRPr lang="en-US" sz="1800" dirty="0"/>
          </a:p>
        </p:txBody>
      </p:sp>
      <p:sp>
        <p:nvSpPr>
          <p:cNvPr id="9" name="Text 6"/>
          <p:cNvSpPr/>
          <p:nvPr/>
        </p:nvSpPr>
        <p:spPr>
          <a:xfrm>
            <a:off x="2240280" y="4370832"/>
            <a:ext cx="6172200" cy="365760"/>
          </a:xfrm>
          <a:prstGeom prst="rect">
            <a:avLst/>
          </a:prstGeom>
          <a:noFill/>
          <a:ln/>
        </p:spPr>
        <p:txBody>
          <a:bodyPr wrap="square" lIns="0" tIns="0" rIns="0" bIns="0" rtlCol="0" anchor="ctr"/>
          <a:lstStyle/>
          <a:p>
            <a:pPr indent="0" marL="0">
              <a:buNone/>
            </a:pPr>
            <a:r>
              <a:rPr lang="en-US" sz="1350" dirty="0">
                <a:solidFill>
                  <a:srgbClr val="E2E8F2"/>
                </a:solidFill>
                <a:latin typeface="Inter" pitchFamily="34" charset="0"/>
                <a:ea typeface="Inter" pitchFamily="34" charset="-122"/>
                <a:cs typeface="Inter" pitchFamily="34" charset="-120"/>
              </a:rPr>
              <a:t>Where you own the shelf  ·  where you are on the edge  ·  three clear actions</a:t>
            </a:r>
            <a:endParaRPr lang="en-US" sz="1350" dirty="0"/>
          </a:p>
        </p:txBody>
      </p:sp>
      <p:sp>
        <p:nvSpPr>
          <p:cNvPr id="10" name="Shape 7"/>
          <p:cNvSpPr/>
          <p:nvPr/>
        </p:nvSpPr>
        <p:spPr>
          <a:xfrm>
            <a:off x="8823960" y="4160520"/>
            <a:ext cx="1188720" cy="457200"/>
          </a:xfrm>
          <a:prstGeom prst="roundRect">
            <a:avLst>
              <a:gd name="adj" fmla="val 50000"/>
            </a:avLst>
          </a:prstGeom>
          <a:solidFill>
            <a:srgbClr val="10B981"/>
          </a:solidFill>
          <a:ln/>
        </p:spPr>
      </p:sp>
      <p:sp>
        <p:nvSpPr>
          <p:cNvPr id="11" name="Text 8"/>
          <p:cNvSpPr/>
          <p:nvPr/>
        </p:nvSpPr>
        <p:spPr>
          <a:xfrm>
            <a:off x="8823960" y="4160520"/>
            <a:ext cx="1188720" cy="457200"/>
          </a:xfrm>
          <a:prstGeom prst="rect">
            <a:avLst/>
          </a:prstGeom>
          <a:noFill/>
          <a:ln/>
        </p:spPr>
        <p:txBody>
          <a:bodyPr wrap="square" lIns="0" tIns="0" rIns="0" bIns="0" rtlCol="0" anchor="ctr"/>
          <a:lstStyle/>
          <a:p>
            <a:pPr algn="ctr" indent="0" marL="0">
              <a:buNone/>
            </a:pPr>
            <a:r>
              <a:rPr lang="en-US" sz="1200" b="1" spc="150" kern="0" dirty="0">
                <a:solidFill>
                  <a:srgbClr val="0B1120"/>
                </a:solidFill>
                <a:latin typeface="Outfit" pitchFamily="34" charset="0"/>
                <a:ea typeface="Outfit" pitchFamily="34" charset="-122"/>
                <a:cs typeface="Outfit" pitchFamily="34" charset="-120"/>
              </a:rPr>
              <a:t>TODAY</a:t>
            </a:r>
            <a:endParaRPr lang="en-US" sz="1200" dirty="0"/>
          </a:p>
        </p:txBody>
      </p:sp>
      <p:sp>
        <p:nvSpPr>
          <p:cNvPr id="12" name="Text 9"/>
          <p:cNvSpPr/>
          <p:nvPr/>
        </p:nvSpPr>
        <p:spPr>
          <a:xfrm>
            <a:off x="822960" y="5440680"/>
            <a:ext cx="7315200" cy="365760"/>
          </a:xfrm>
          <a:prstGeom prst="rect">
            <a:avLst/>
          </a:prstGeom>
          <a:noFill/>
          <a:ln/>
        </p:spPr>
        <p:txBody>
          <a:bodyPr wrap="square" lIns="0" tIns="0" rIns="0" bIns="0" rtlCol="0" anchor="ctr"/>
          <a:lstStyle/>
          <a:p>
            <a:pPr indent="0" marL="0">
              <a:buNone/>
            </a:pPr>
            <a:r>
              <a:rPr lang="en-US" sz="1400" i="1" dirty="0">
                <a:solidFill>
                  <a:srgbClr val="E2E8F2"/>
                </a:solidFill>
                <a:latin typeface="Inter" pitchFamily="34" charset="0"/>
                <a:ea typeface="Inter" pitchFamily="34" charset="-122"/>
                <a:cs typeface="Inter" pitchFamily="34" charset="-120"/>
              </a:rPr>
              <a:t>Check the email address your chapter roster has on file.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965960"/>
            <a:ext cx="7315200" cy="914400"/>
          </a:xfrm>
          <a:prstGeom prst="rect">
            <a:avLst/>
          </a:prstGeom>
          <a:noFill/>
          <a:ln/>
        </p:spPr>
        <p:txBody>
          <a:bodyPr wrap="square" lIns="0" tIns="0" rIns="0" bIns="0" rtlCol="0" anchor="ctr"/>
          <a:lstStyle/>
          <a:p>
            <a:pPr algn="l" indent="0" marL="0">
              <a:lnSpc>
                <a:spcPct val="104000"/>
              </a:lnSpc>
              <a:buNone/>
            </a:pPr>
            <a:r>
              <a:rPr lang="en-US" sz="5800" b="1" dirty="0">
                <a:solidFill>
                  <a:srgbClr val="F8FAFC"/>
                </a:solidFill>
                <a:latin typeface="Outfit" pitchFamily="34" charset="0"/>
                <a:ea typeface="Outfit" pitchFamily="34" charset="-122"/>
                <a:cs typeface="Outfit" pitchFamily="34" charset="-120"/>
              </a:rPr>
              <a:t>Thank you.</a:t>
            </a:r>
            <a:endParaRPr lang="en-US" sz="5800" dirty="0"/>
          </a:p>
        </p:txBody>
      </p:sp>
      <p:sp>
        <p:nvSpPr>
          <p:cNvPr id="3" name="Text 1"/>
          <p:cNvSpPr/>
          <p:nvPr/>
        </p:nvSpPr>
        <p:spPr>
          <a:xfrm>
            <a:off x="850392" y="3200400"/>
            <a:ext cx="6858000" cy="457200"/>
          </a:xfrm>
          <a:prstGeom prst="rect">
            <a:avLst/>
          </a:prstGeom>
          <a:noFill/>
          <a:ln/>
        </p:spPr>
        <p:txBody>
          <a:bodyPr wrap="square" lIns="0" tIns="0" rIns="0" bIns="0" rtlCol="0" anchor="ctr"/>
          <a:lstStyle/>
          <a:p>
            <a:pPr indent="0" marL="0">
              <a:buNone/>
            </a:pPr>
            <a:r>
              <a:rPr lang="en-US" sz="1900" dirty="0">
                <a:solidFill>
                  <a:srgbClr val="38BDF8"/>
                </a:solidFill>
                <a:latin typeface="Inter" pitchFamily="34" charset="0"/>
                <a:ea typeface="Inter" pitchFamily="34" charset="-122"/>
                <a:cs typeface="Inter" pitchFamily="34" charset="-120"/>
              </a:rPr>
              <a:t>Questions about your report? Come find me.</a:t>
            </a:r>
            <a:endParaRPr lang="en-US" sz="1900" dirty="0"/>
          </a:p>
        </p:txBody>
      </p:sp>
      <p:sp>
        <p:nvSpPr>
          <p:cNvPr id="4" name="Shape 2"/>
          <p:cNvSpPr/>
          <p:nvPr/>
        </p:nvSpPr>
        <p:spPr>
          <a:xfrm>
            <a:off x="822960" y="4206240"/>
            <a:ext cx="5394960" cy="1417320"/>
          </a:xfrm>
          <a:prstGeom prst="roundRect">
            <a:avLst>
              <a:gd name="adj" fmla="val 7742"/>
            </a:avLst>
          </a:prstGeom>
          <a:solidFill>
            <a:srgbClr val="1E293B">
              <a:alpha val="78000"/>
            </a:srgbClr>
          </a:solidFill>
          <a:ln w="9525">
            <a:solidFill>
              <a:srgbClr val="334155">
                <a:alpha val="65000"/>
              </a:srgbClr>
            </a:solidFill>
            <a:prstDash val="solid"/>
          </a:ln>
          <a:effectLst>
            <a:outerShdw sx="100000" sy="100000" kx="0" ky="0" algn="bl" rotWithShape="0" blurRad="127000" dist="38100" dir="5400000">
              <a:srgbClr val="000000">
                <a:alpha val="35000"/>
              </a:srgbClr>
            </a:outerShdw>
          </a:effectLst>
        </p:spPr>
      </p:sp>
      <p:sp>
        <p:nvSpPr>
          <p:cNvPr id="5" name="Text 3"/>
          <p:cNvSpPr/>
          <p:nvPr/>
        </p:nvSpPr>
        <p:spPr>
          <a:xfrm>
            <a:off x="1143000" y="4434840"/>
            <a:ext cx="4572000" cy="365760"/>
          </a:xfrm>
          <a:prstGeom prst="rect">
            <a:avLst/>
          </a:prstGeom>
          <a:noFill/>
          <a:ln/>
        </p:spPr>
        <p:txBody>
          <a:bodyPr wrap="square" lIns="0" tIns="0" rIns="0" bIns="0" rtlCol="0" anchor="ctr"/>
          <a:lstStyle/>
          <a:p>
            <a:pPr indent="0" marL="0">
              <a:buNone/>
            </a:pPr>
            <a:r>
              <a:rPr lang="en-US" sz="1800" b="1" dirty="0">
                <a:solidFill>
                  <a:srgbClr val="F8FAFC"/>
                </a:solidFill>
                <a:latin typeface="Outfit" pitchFamily="34" charset="0"/>
                <a:ea typeface="Outfit" pitchFamily="34" charset="-122"/>
                <a:cs typeface="Outfit" pitchFamily="34" charset="-120"/>
              </a:rPr>
              <a:t>Eric Kirby</a:t>
            </a:r>
            <a:endParaRPr lang="en-US" sz="1800" dirty="0"/>
          </a:p>
        </p:txBody>
      </p:sp>
      <p:sp>
        <p:nvSpPr>
          <p:cNvPr id="6" name="Text 4"/>
          <p:cNvSpPr/>
          <p:nvPr/>
        </p:nvSpPr>
        <p:spPr>
          <a:xfrm>
            <a:off x="1143000" y="4846320"/>
            <a:ext cx="4846320" cy="292608"/>
          </a:xfrm>
          <a:prstGeom prst="rect">
            <a:avLst/>
          </a:prstGeom>
          <a:noFill/>
          <a:ln/>
        </p:spPr>
        <p:txBody>
          <a:bodyPr wrap="square" lIns="0" tIns="0" rIns="0" bIns="0" rtlCol="0" anchor="ctr"/>
          <a:lstStyle/>
          <a:p>
            <a:pPr indent="0" marL="0">
              <a:buNone/>
            </a:pPr>
            <a:r>
              <a:rPr lang="en-US" sz="1400" dirty="0">
                <a:solidFill>
                  <a:srgbClr val="E2E8F2"/>
                </a:solidFill>
                <a:latin typeface="Inter" pitchFamily="34" charset="0"/>
                <a:ea typeface="Inter" pitchFamily="34" charset="-122"/>
                <a:cs typeface="Inter" pitchFamily="34" charset="-120"/>
              </a:rPr>
              <a:t>Synergy Telecom  ·  synergytelecom.org</a:t>
            </a:r>
            <a:endParaRPr lang="en-US" sz="1400" dirty="0"/>
          </a:p>
        </p:txBody>
      </p:sp>
      <p:sp>
        <p:nvSpPr>
          <p:cNvPr id="7" name="Text 5"/>
          <p:cNvSpPr/>
          <p:nvPr/>
        </p:nvSpPr>
        <p:spPr>
          <a:xfrm>
            <a:off x="1143000" y="5157216"/>
            <a:ext cx="4846320" cy="292608"/>
          </a:xfrm>
          <a:prstGeom prst="rect">
            <a:avLst/>
          </a:prstGeom>
          <a:noFill/>
          <a:ln/>
        </p:spPr>
        <p:txBody>
          <a:bodyPr wrap="square" lIns="0" tIns="0" rIns="0" bIns="0" rtlCol="0" anchor="ctr"/>
          <a:lstStyle/>
          <a:p>
            <a:pPr indent="0" marL="0">
              <a:buNone/>
            </a:pPr>
            <a:r>
              <a:rPr lang="en-US" sz="1400" dirty="0">
                <a:solidFill>
                  <a:srgbClr val="E2E8F2"/>
                </a:solidFill>
                <a:latin typeface="Inter" pitchFamily="34" charset="0"/>
                <a:ea typeface="Inter" pitchFamily="34" charset="-122"/>
                <a:cs typeface="Inter" pitchFamily="34" charset="-120"/>
              </a:rPr>
              <a:t>Eric@synergytelecom.org</a:t>
            </a:r>
            <a:endParaRPr lang="en-US" sz="1400" dirty="0"/>
          </a:p>
        </p:txBody>
      </p:sp>
      <p:sp>
        <p:nvSpPr>
          <p:cNvPr id="8" name="Text 6"/>
          <p:cNvSpPr/>
          <p:nvPr/>
        </p:nvSpPr>
        <p:spPr>
          <a:xfrm>
            <a:off x="850392" y="6172200"/>
            <a:ext cx="5486400" cy="320040"/>
          </a:xfrm>
          <a:prstGeom prst="rect">
            <a:avLst/>
          </a:prstGeom>
          <a:noFill/>
          <a:ln/>
        </p:spPr>
        <p:txBody>
          <a:bodyPr wrap="square" lIns="0" tIns="0" rIns="0" bIns="0" rtlCol="0" anchor="ctr"/>
          <a:lstStyle/>
          <a:p>
            <a:pPr indent="0" marL="0">
              <a:buNone/>
            </a:pPr>
            <a:r>
              <a:rPr lang="en-US" sz="1200" dirty="0">
                <a:solidFill>
                  <a:srgbClr val="B3BFD3"/>
                </a:solidFill>
                <a:latin typeface="Inter" pitchFamily="34" charset="0"/>
                <a:ea typeface="Inter" pitchFamily="34" charset="-122"/>
                <a:cs typeface="Inter" pitchFamily="34" charset="-120"/>
              </a:rPr>
              <a:t>Audit reports built with Forge Dev Studio</a:t>
            </a:r>
            <a:endParaRPr lang="en-US" sz="1200" dirty="0"/>
          </a:p>
        </p:txBody>
      </p:sp>
      <p:sp>
        <p:nvSpPr>
          <p:cNvPr id="9" name="Shape 7"/>
          <p:cNvSpPr/>
          <p:nvPr/>
        </p:nvSpPr>
        <p:spPr>
          <a:xfrm>
            <a:off x="8229600" y="1965960"/>
            <a:ext cx="2926080" cy="2926080"/>
          </a:xfrm>
          <a:prstGeom prst="ellipse">
            <a:avLst/>
          </a:prstGeom>
          <a:ln w="12700">
            <a:solidFill>
              <a:srgbClr val="3B82F6">
                <a:alpha val="28000"/>
              </a:srgbClr>
            </a:solidFill>
            <a:prstDash val="solid"/>
          </a:ln>
        </p:spPr>
      </p:sp>
      <p:sp>
        <p:nvSpPr>
          <p:cNvPr id="10" name="Shape 8"/>
          <p:cNvSpPr/>
          <p:nvPr/>
        </p:nvSpPr>
        <p:spPr>
          <a:xfrm>
            <a:off x="9189720" y="2926080"/>
            <a:ext cx="1005840" cy="1005840"/>
          </a:xfrm>
          <a:prstGeom prst="ellipse">
            <a:avLst/>
          </a:prstGeom>
          <a:solidFill>
            <a:srgbClr val="243146"/>
          </a:solidFill>
          <a:ln w="9525">
            <a:solidFill>
              <a:srgbClr val="334155">
                <a:alpha val="70000"/>
              </a:srgbClr>
            </a:solidFill>
            <a:prstDash val="solid"/>
          </a:ln>
        </p:spPr>
      </p:sp>
      <p:pic>
        <p:nvPicPr>
          <p:cNvPr id="11" name="Image 0" descr="preencoded.png">    </p:cNvPr>
          <p:cNvPicPr>
            <a:picLocks noChangeAspect="1"/>
          </p:cNvPicPr>
          <p:nvPr/>
        </p:nvPicPr>
        <p:blipFill>
          <a:blip r:embed="rId2"/>
          <a:stretch>
            <a:fillRect/>
          </a:stretch>
        </p:blipFill>
        <p:spPr>
          <a:xfrm>
            <a:off x="9451238" y="3187598"/>
            <a:ext cx="482803" cy="4828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Synergy Telecom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Demystifying SEO</dc:title>
  <dc:subject>PptxGenJS Presentation</dc:subject>
  <dc:creator>Eric Kirby</dc:creator>
  <cp:lastModifiedBy>Eric Kirby</cp:lastModifiedBy>
  <cp:revision>1</cp:revision>
  <dcterms:created xsi:type="dcterms:W3CDTF">2026-07-21T05:59:30Z</dcterms:created>
  <dcterms:modified xsi:type="dcterms:W3CDTF">2026-07-21T05:59:30Z</dcterms:modified>
</cp:coreProperties>
</file>