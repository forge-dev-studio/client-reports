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Today we take the mystery out of SEO. No jargon, no tricks. One simple picture: a library. By the end you will know exactly what SEO is, and this morning every one of you gets something personal to take home.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Think about the last time you needed a plumber or a venue. You did not browse. You asked, and you picked from the top. Your customers do exactly the same thing with your business.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picture for the whole talk. The internet is a library. Your website is one book in it. Existing is not the problem. Being found 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And who decides what gets found? The librarian. Google. People ask, and the librarian hands over three books. That is the whole game: this talk is about what makes the librarian trust a book enough to hand it over.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one of SEO is simply your book. Does the cover say what you do and where? Do the chapters answer real questions: cost, timeline, service area, before and after? If your whole site is one page, it is a business card, and librarians do not recommend business cards.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two is everything that exists about you outside your book. Eric keeps coming back to the flyer: your listings around town, other people pointing at your book, and what readers say. One rule above all: every flyer must match. Inconsistent name, address, or phone quietly kills trust.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Put the two parts together and the decision is not magic: a book worth reading, flyers that agree, readers who come back. And ads? Ads are the folding table out front. Useful, instant, clearly labeled, and gone when the money stops. The recommendation cannot be bought. That is why it is worth more.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fog clearing, because this industry is full of it. SEO is not a one time fix, not keyword stuffing, not something you buy from Google, and not magic. If someone promises you page one by Friday, hold on to your wallet.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the part that matters most for every business in this room. For local searches the librarian keeps a display shelf at the front door: the map with three names. Most customers pick from it without ever scrolling further. Local SEO is the fight for that shelf.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not theory. We ran a real audit on the room you are sitting in. Twenty searches in the Rome market: River Arts Venue is on the front shelf for seventeen of them and number one for twelve, including event venue, the big one. And the audit shows the edges too: wedding venue sits at six, birthday party and rehearsal dinner at five. Knowing exactly where you stand, win and miss, is what an audit is. The full report is at the link on screen, same style yours will arrive 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part I am excited about. We did not stop at the venue. We measured this chapter. Fourteen member businesses, twenty search phrases each, a thirty mile radius around every one of you. Four thousand four hundred forty real Google searches.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one of you gets your own report this morning: where you already own the shelf, where you are one step from it, and three actions, in plain English like today. Watch your inbox. If it is not there by ten, come see me and I will resend it on the spot.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Your report lands this morning. Read it, and if anything in it does not make sense, grab me after the meeting or any time this week. I would rather explain it over coffee than have it sit unread.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Slide-1-image-1.pn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Slide-2-image-1.png"/><Relationship Id="rId2" Type="http://schemas.openxmlformats.org/officeDocument/2006/relationships/image" Target="../media/image-2-2.png"/><Relationship Id="rId3" Type="http://schemas.openxmlformats.org/officeDocument/2006/relationships/slideLayout" Target="../slideLayouts/slideLayout1.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Slide-3-image-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Slide-4-image-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Slide-5-image-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slideLayout" Target="../slideLayouts/slideLayout1.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Slide-6-image-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slideLayout" Target="../slideLayouts/slideLayout1.xml"/><Relationship Id="rId7"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Slide-7-image-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slideLayout" Target="../slideLayouts/slideLayout1.xml"/><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Slide-8-image-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slideLayout" Target="../slideLayouts/slideLayout1.xml"/><Relationship Id="rId7"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Slide-9-image-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slideLayout" Target="../slideLayouts/slideLayout1.xml"/><Relationship Id="rId7"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2" Type="http://schemas.openxmlformats.org/officeDocument/2006/relationships/hyperlink" Target="https://forge-dev-studio.github.io/client-reports/river-arts-venue/" TargetMode="External"/><Relationship Id="rId1" Type="http://schemas.openxmlformats.org/officeDocument/2006/relationships/image" Target="../media/Slide-10-image-1.png"/><Relationship Id="rId3" Type="http://schemas.openxmlformats.org/officeDocument/2006/relationships/image" Target="../media/image-10-2.png"/><Relationship Id="rId4" Type="http://schemas.openxmlformats.org/officeDocument/2006/relationships/image" Target="../media/image-10-3.png"/><Relationship Id="rId5" Type="http://schemas.openxmlformats.org/officeDocument/2006/relationships/image" Target="../media/image-10-4.png"/><Relationship Id="rId6" Type="http://schemas.openxmlformats.org/officeDocument/2006/relationships/image" Target="../media/image-10-5.png"/><Relationship Id="rId7" Type="http://schemas.openxmlformats.org/officeDocument/2006/relationships/slideLayout" Target="../slideLayouts/slideLayout1.xml"/><Relationship Id="rId8"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Slide-11-image-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Slide-12-image-1.png"/><Relationship Id="rId2" Type="http://schemas.openxmlformats.org/officeDocument/2006/relationships/image" Target="../media/image-12-2.png"/><Relationship Id="rId3" Type="http://schemas.openxmlformats.org/officeDocument/2006/relationships/slideLayout" Target="../slideLayouts/slideLayout1.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Slide-13-image-1.png"/><Relationship Id="rId2" Type="http://schemas.openxmlformats.org/officeDocument/2006/relationships/image" Target="../media/image-13-2.png"/><Relationship Id="rId3" Type="http://schemas.openxmlformats.org/officeDocument/2006/relationships/slideLayout" Target="../slideLayouts/slideLayout1.xml"/><Relationship Id="rId4"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7772400" y="640080"/>
            <a:ext cx="3383280" cy="3383280"/>
          </a:xfrm>
          <a:prstGeom prst="ellipse">
            <a:avLst/>
          </a:prstGeom>
          <a:ln w="12700">
            <a:solidFill>
              <a:srgbClr val="3B82F6">
                <a:alpha val="28000"/>
              </a:srgbClr>
            </a:solidFill>
            <a:prstDash val="solid"/>
          </a:ln>
        </p:spPr>
      </p:sp>
      <p:sp>
        <p:nvSpPr>
          <p:cNvPr id="3" name="Shape 1"/>
          <p:cNvSpPr/>
          <p:nvPr/>
        </p:nvSpPr>
        <p:spPr>
          <a:xfrm>
            <a:off x="8275320" y="1143000"/>
            <a:ext cx="2377440" cy="2377440"/>
          </a:xfrm>
          <a:prstGeom prst="ellipse">
            <a:avLst/>
          </a:prstGeom>
          <a:ln w="12700">
            <a:solidFill>
              <a:srgbClr val="38BDF8">
                <a:alpha val="45000"/>
              </a:srgbClr>
            </a:solidFill>
            <a:prstDash val="solid"/>
          </a:ln>
        </p:spPr>
      </p:sp>
      <p:sp>
        <p:nvSpPr>
          <p:cNvPr id="4" name="Shape 2"/>
          <p:cNvSpPr/>
          <p:nvPr/>
        </p:nvSpPr>
        <p:spPr>
          <a:xfrm>
            <a:off x="8897112" y="1764792"/>
            <a:ext cx="1133856" cy="1133856"/>
          </a:xfrm>
          <a:prstGeom prst="ellipse">
            <a:avLst/>
          </a:prstGeom>
          <a:solidFill>
            <a:srgbClr val="243146"/>
          </a:solidFill>
          <a:ln w="9525">
            <a:solidFill>
              <a:srgbClr val="334155">
                <a:alpha val="70000"/>
              </a:srgbClr>
            </a:solidFill>
            <a:prstDash val="solid"/>
          </a:ln>
        </p:spPr>
      </p:sp>
      <p:pic>
        <p:nvPicPr>
          <p:cNvPr id="5" name="Image 0" descr="preencoded.png">    </p:cNvPr>
          <p:cNvPicPr>
            <a:picLocks noChangeAspect="1"/>
          </p:cNvPicPr>
          <p:nvPr/>
        </p:nvPicPr>
        <p:blipFill>
          <a:blip r:embed="rId2"/>
          <a:stretch>
            <a:fillRect/>
          </a:stretch>
        </p:blipFill>
        <p:spPr>
          <a:xfrm>
            <a:off x="9191915" y="2059595"/>
            <a:ext cx="544251" cy="544251"/>
          </a:xfrm>
          <a:prstGeom prst="rect">
            <a:avLst/>
          </a:prstGeom>
        </p:spPr>
      </p:pic>
      <p:sp>
        <p:nvSpPr>
          <p:cNvPr id="6" name="Text 3"/>
          <p:cNvSpPr/>
          <p:nvPr/>
        </p:nvSpPr>
        <p:spPr>
          <a:xfrm>
            <a:off x="822960" y="1920240"/>
            <a:ext cx="8229600" cy="292608"/>
          </a:xfrm>
          <a:prstGeom prst="rect">
            <a:avLst/>
          </a:prstGeom>
          <a:noFill/>
          <a:ln/>
        </p:spPr>
        <p:txBody>
          <a:bodyPr wrap="square" lIns="0" tIns="0" rIns="0" bIns="0" rtlCol="0" anchor="ctr"/>
          <a:lstStyle/>
          <a:p>
            <a:pPr algn="l" indent="0" marL="0">
              <a:buNone/>
            </a:pPr>
            <a:r>
              <a:rPr lang="en-US" sz="1100" b="1" spc="300" kern="0" dirty="0">
                <a:solidFill>
                  <a:srgbClr val="38BDF8"/>
                </a:solidFill>
                <a:latin typeface="Inter" pitchFamily="34" charset="0"/>
                <a:ea typeface="Inter" pitchFamily="34" charset="-122"/>
                <a:cs typeface="Inter" pitchFamily="34" charset="-120"/>
              </a:rPr>
              <a:t>BNI COMMUNITY CONNECTORS  ·  RIVER ARTS VENUE  ·  JULY 21, 2026</a:t>
            </a:r>
            <a:endParaRPr lang="en-US" sz="1100" dirty="0"/>
          </a:p>
        </p:txBody>
      </p:sp>
      <p:sp>
        <p:nvSpPr>
          <p:cNvPr id="7" name="Text 4"/>
          <p:cNvSpPr/>
          <p:nvPr/>
        </p:nvSpPr>
        <p:spPr>
          <a:xfrm>
            <a:off x="795528" y="2286000"/>
            <a:ext cx="8778240" cy="1234440"/>
          </a:xfrm>
          <a:prstGeom prst="rect">
            <a:avLst/>
          </a:prstGeom>
          <a:noFill/>
          <a:ln/>
        </p:spPr>
        <p:txBody>
          <a:bodyPr wrap="square" lIns="0" tIns="0" rIns="0" bIns="0" rtlCol="0" anchor="ctr"/>
          <a:lstStyle/>
          <a:p>
            <a:pPr algn="l" indent="0" marL="0">
              <a:lnSpc>
                <a:spcPct val="104000"/>
              </a:lnSpc>
              <a:buNone/>
            </a:pPr>
            <a:r>
              <a:rPr lang="en-US" sz="6000" b="1" dirty="0">
                <a:solidFill>
                  <a:srgbClr val="F8FAFC"/>
                </a:solidFill>
                <a:latin typeface="Outfit" pitchFamily="34" charset="0"/>
                <a:ea typeface="Outfit" pitchFamily="34" charset="-122"/>
                <a:cs typeface="Outfit" pitchFamily="34" charset="-120"/>
              </a:rPr>
              <a:t>Demystifying SEO</a:t>
            </a:r>
            <a:endParaRPr lang="en-US" sz="6000" dirty="0"/>
          </a:p>
        </p:txBody>
      </p:sp>
      <p:sp>
        <p:nvSpPr>
          <p:cNvPr id="8" name="Text 5"/>
          <p:cNvSpPr/>
          <p:nvPr/>
        </p:nvSpPr>
        <p:spPr>
          <a:xfrm>
            <a:off x="822960" y="3611880"/>
            <a:ext cx="7315200" cy="457200"/>
          </a:xfrm>
          <a:prstGeom prst="rect">
            <a:avLst/>
          </a:prstGeom>
          <a:noFill/>
          <a:ln/>
        </p:spPr>
        <p:txBody>
          <a:bodyPr wrap="square" lIns="0" tIns="0" rIns="0" bIns="0" rtlCol="0" anchor="ctr"/>
          <a:lstStyle/>
          <a:p>
            <a:pPr indent="0" marL="0">
              <a:buNone/>
            </a:pPr>
            <a:r>
              <a:rPr lang="en-US" sz="2100" dirty="0">
                <a:solidFill>
                  <a:srgbClr val="38BDF8"/>
                </a:solidFill>
                <a:latin typeface="Inter" pitchFamily="34" charset="0"/>
                <a:ea typeface="Inter" pitchFamily="34" charset="-122"/>
                <a:cs typeface="Inter" pitchFamily="34" charset="-120"/>
              </a:rPr>
              <a:t>What it is, in plain English.</a:t>
            </a:r>
            <a:endParaRPr lang="en-US" sz="2100" dirty="0"/>
          </a:p>
        </p:txBody>
      </p:sp>
      <p:sp>
        <p:nvSpPr>
          <p:cNvPr id="9" name="Shape 6"/>
          <p:cNvSpPr/>
          <p:nvPr/>
        </p:nvSpPr>
        <p:spPr>
          <a:xfrm>
            <a:off x="822960" y="5166360"/>
            <a:ext cx="4206240" cy="914400"/>
          </a:xfrm>
          <a:prstGeom prst="roundRect">
            <a:avLst>
              <a:gd name="adj" fmla="val 12000"/>
            </a:avLst>
          </a:prstGeom>
          <a:solidFill>
            <a:srgbClr val="1E293B">
              <a:alpha val="78000"/>
            </a:srgbClr>
          </a:solidFill>
          <a:ln w="9525">
            <a:solidFill>
              <a:srgbClr val="334155">
                <a:alpha val="65000"/>
              </a:srgbClr>
            </a:solidFill>
            <a:prstDash val="solid"/>
          </a:ln>
          <a:effectLst>
            <a:outerShdw sx="100000" sy="100000" kx="0" ky="0" algn="bl" rotWithShape="0" blurRad="127000" dist="38100" dir="5400000">
              <a:srgbClr val="000000">
                <a:alpha val="35000"/>
              </a:srgbClr>
            </a:outerShdw>
          </a:effectLst>
        </p:spPr>
      </p:sp>
      <p:sp>
        <p:nvSpPr>
          <p:cNvPr id="10" name="Text 7"/>
          <p:cNvSpPr/>
          <p:nvPr/>
        </p:nvSpPr>
        <p:spPr>
          <a:xfrm>
            <a:off x="1097280" y="5349240"/>
            <a:ext cx="3657600" cy="320040"/>
          </a:xfrm>
          <a:prstGeom prst="rect">
            <a:avLst/>
          </a:prstGeom>
          <a:noFill/>
          <a:ln/>
        </p:spPr>
        <p:txBody>
          <a:bodyPr wrap="square" lIns="0" tIns="0" rIns="0" bIns="0" rtlCol="0" anchor="ctr"/>
          <a:lstStyle/>
          <a:p>
            <a:pPr indent="0" marL="0">
              <a:buNone/>
            </a:pPr>
            <a:r>
              <a:rPr lang="en-US" sz="1600" b="1" dirty="0">
                <a:solidFill>
                  <a:srgbClr val="F8FAFC"/>
                </a:solidFill>
                <a:latin typeface="Outfit" pitchFamily="34" charset="0"/>
                <a:ea typeface="Outfit" pitchFamily="34" charset="-122"/>
                <a:cs typeface="Outfit" pitchFamily="34" charset="-120"/>
              </a:rPr>
              <a:t>Eric Kirby</a:t>
            </a:r>
            <a:endParaRPr lang="en-US" sz="1600" dirty="0"/>
          </a:p>
        </p:txBody>
      </p:sp>
      <p:sp>
        <p:nvSpPr>
          <p:cNvPr id="11" name="Text 8"/>
          <p:cNvSpPr/>
          <p:nvPr/>
        </p:nvSpPr>
        <p:spPr>
          <a:xfrm>
            <a:off x="1097280" y="5687568"/>
            <a:ext cx="3749040" cy="274320"/>
          </a:xfrm>
          <a:prstGeom prst="rect">
            <a:avLst/>
          </a:prstGeom>
          <a:noFill/>
          <a:ln/>
        </p:spPr>
        <p:txBody>
          <a:bodyPr wrap="square" lIns="0" tIns="0" rIns="0" bIns="0" rtlCol="0" anchor="ctr"/>
          <a:lstStyle/>
          <a:p>
            <a:pPr indent="0" marL="0">
              <a:buNone/>
            </a:pPr>
            <a:r>
              <a:rPr lang="en-US" sz="1200" dirty="0">
                <a:solidFill>
                  <a:srgbClr val="94A3B8"/>
                </a:solidFill>
                <a:latin typeface="Inter" pitchFamily="34" charset="0"/>
                <a:ea typeface="Inter" pitchFamily="34" charset="-122"/>
                <a:cs typeface="Inter" pitchFamily="34" charset="-120"/>
              </a:rPr>
              <a:t>Synergy Telecom  ·  synergytelecom.org</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822960" y="777240"/>
            <a:ext cx="6400800" cy="292608"/>
          </a:xfrm>
          <a:prstGeom prst="rect">
            <a:avLst/>
          </a:prstGeom>
          <a:noFill/>
          <a:ln/>
        </p:spPr>
        <p:txBody>
          <a:bodyPr wrap="square" lIns="0" tIns="0" rIns="0" bIns="0" rtlCol="0" anchor="ctr"/>
          <a:lstStyle/>
          <a:p>
            <a:pPr algn="l" indent="0" marL="0">
              <a:buNone/>
            </a:pPr>
            <a:r>
              <a:rPr lang="en-US" sz="1100" b="1" spc="300" kern="0" dirty="0">
                <a:solidFill>
                  <a:srgbClr val="38BDF8"/>
                </a:solidFill>
                <a:latin typeface="Inter" pitchFamily="34" charset="0"/>
                <a:ea typeface="Inter" pitchFamily="34" charset="-122"/>
                <a:cs typeface="Inter" pitchFamily="34" charset="-120"/>
              </a:rPr>
              <a:t>HOW CUSTOMERS FIND YOU</a:t>
            </a:r>
            <a:endParaRPr lang="en-US" sz="1100" dirty="0"/>
          </a:p>
        </p:txBody>
      </p:sp>
      <p:sp>
        <p:nvSpPr>
          <p:cNvPr id="3" name="Text 1"/>
          <p:cNvSpPr/>
          <p:nvPr/>
        </p:nvSpPr>
        <p:spPr>
          <a:xfrm>
            <a:off x="795528" y="1188720"/>
            <a:ext cx="5120640" cy="1737360"/>
          </a:xfrm>
          <a:prstGeom prst="rect">
            <a:avLst/>
          </a:prstGeom>
          <a:noFill/>
          <a:ln/>
        </p:spPr>
        <p:txBody>
          <a:bodyPr wrap="square" lIns="0" tIns="0" rIns="0" bIns="0" rtlCol="0" anchor="ctr"/>
          <a:lstStyle/>
          <a:p>
            <a:pPr algn="l" indent="0" marL="0">
              <a:lnSpc>
                <a:spcPct val="104000"/>
              </a:lnSpc>
              <a:buNone/>
            </a:pPr>
            <a:r>
              <a:rPr lang="en-US" sz="4000" b="1" dirty="0">
                <a:solidFill>
                  <a:srgbClr val="F8FAFC"/>
                </a:solidFill>
                <a:latin typeface="Outfit" pitchFamily="34" charset="0"/>
                <a:ea typeface="Outfit" pitchFamily="34" charset="-122"/>
                <a:cs typeface="Outfit" pitchFamily="34" charset="-120"/>
              </a:rPr>
              <a:t>Nobody browses.</a:t>
            </a:r>
            <a:endParaRPr lang="en-US" sz="4000" dirty="0"/>
          </a:p>
          <a:p>
            <a:pPr algn="l" indent="0" marL="0">
              <a:lnSpc>
                <a:spcPct val="104000"/>
              </a:lnSpc>
              <a:buNone/>
            </a:pPr>
            <a:r>
              <a:rPr lang="en-US" sz="4000" b="1" dirty="0">
                <a:solidFill>
                  <a:srgbClr val="F8FAFC"/>
                </a:solidFill>
                <a:latin typeface="Outfit" pitchFamily="34" charset="0"/>
                <a:ea typeface="Outfit" pitchFamily="34" charset="-122"/>
                <a:cs typeface="Outfit" pitchFamily="34" charset="-120"/>
              </a:rPr>
              <a:t>They ask.</a:t>
            </a:r>
            <a:endParaRPr lang="en-US" sz="4000" dirty="0"/>
          </a:p>
        </p:txBody>
      </p:sp>
      <p:sp>
        <p:nvSpPr>
          <p:cNvPr id="4" name="Text 2"/>
          <p:cNvSpPr/>
          <p:nvPr/>
        </p:nvSpPr>
        <p:spPr>
          <a:xfrm>
            <a:off x="822960" y="3154680"/>
            <a:ext cx="4754880" cy="1463040"/>
          </a:xfrm>
          <a:prstGeom prst="rect">
            <a:avLst/>
          </a:prstGeom>
          <a:noFill/>
          <a:ln/>
        </p:spPr>
        <p:txBody>
          <a:bodyPr wrap="square" lIns="0" tIns="0" rIns="0" bIns="0" rtlCol="0" anchor="t"/>
          <a:lstStyle/>
          <a:p>
            <a:pPr algn="l" indent="0" marL="0">
              <a:lnSpc>
                <a:spcPct val="125000"/>
              </a:lnSpc>
              <a:buNone/>
            </a:pPr>
            <a:r>
              <a:rPr lang="en-US" sz="1500" dirty="0">
                <a:solidFill>
                  <a:srgbClr val="CBD5E1"/>
                </a:solidFill>
                <a:latin typeface="Inter" pitchFamily="34" charset="0"/>
                <a:ea typeface="Inter" pitchFamily="34" charset="-122"/>
                <a:cs typeface="Inter" pitchFamily="34" charset="-120"/>
              </a:rPr>
              <a:t>When someone needs what you do, they do not wander the internet hoping to bump into you. They type a question and pick from the first answers they see.</a:t>
            </a:r>
            <a:endParaRPr lang="en-US" sz="1500" dirty="0"/>
          </a:p>
        </p:txBody>
      </p:sp>
      <p:sp>
        <p:nvSpPr>
          <p:cNvPr id="5" name="Shape 3"/>
          <p:cNvSpPr/>
          <p:nvPr/>
        </p:nvSpPr>
        <p:spPr>
          <a:xfrm>
            <a:off x="6309360" y="1600200"/>
            <a:ext cx="5029200" cy="777240"/>
          </a:xfrm>
          <a:prstGeom prst="roundRect">
            <a:avLst>
              <a:gd name="adj" fmla="val 49412"/>
            </a:avLst>
          </a:prstGeom>
          <a:solidFill>
            <a:srgbClr val="1E293B">
              <a:alpha val="92000"/>
            </a:srgbClr>
          </a:solidFill>
          <a:ln w="9525">
            <a:solidFill>
              <a:srgbClr val="334155">
                <a:alpha val="65000"/>
              </a:srgbClr>
            </a:solidFill>
            <a:prstDash val="solid"/>
          </a:ln>
          <a:effectLst>
            <a:outerShdw sx="100000" sy="100000" kx="0" ky="0" algn="bl" rotWithShape="0" blurRad="127000" dist="38100" dir="5400000">
              <a:srgbClr val="000000">
                <a:alpha val="35000"/>
              </a:srgbClr>
            </a:outerShdw>
          </a:effectLst>
        </p:spPr>
      </p:sp>
      <p:pic>
        <p:nvPicPr>
          <p:cNvPr id="6" name="Image 0" descr="preencoded.png">    </p:cNvPr>
          <p:cNvPicPr>
            <a:picLocks noChangeAspect="1"/>
          </p:cNvPicPr>
          <p:nvPr/>
        </p:nvPicPr>
        <p:blipFill>
          <a:blip r:embed="rId2"/>
          <a:stretch>
            <a:fillRect/>
          </a:stretch>
        </p:blipFill>
        <p:spPr>
          <a:xfrm>
            <a:off x="6629400" y="1819656"/>
            <a:ext cx="347472" cy="347472"/>
          </a:xfrm>
          <a:prstGeom prst="rect">
            <a:avLst/>
          </a:prstGeom>
        </p:spPr>
      </p:pic>
      <p:sp>
        <p:nvSpPr>
          <p:cNvPr id="7" name="Text 4"/>
          <p:cNvSpPr/>
          <p:nvPr/>
        </p:nvSpPr>
        <p:spPr>
          <a:xfrm>
            <a:off x="7132320" y="1737360"/>
            <a:ext cx="4023360" cy="502920"/>
          </a:xfrm>
          <a:prstGeom prst="rect">
            <a:avLst/>
          </a:prstGeom>
          <a:noFill/>
          <a:ln/>
        </p:spPr>
        <p:txBody>
          <a:bodyPr wrap="square" lIns="0" tIns="0" rIns="0" bIns="0" rtlCol="0" anchor="ctr"/>
          <a:lstStyle/>
          <a:p>
            <a:pPr indent="0" marL="0">
              <a:buNone/>
            </a:pPr>
            <a:r>
              <a:rPr lang="en-US" sz="1600" dirty="0">
                <a:solidFill>
                  <a:srgbClr val="F8FAFC"/>
                </a:solidFill>
                <a:latin typeface="Inter" pitchFamily="34" charset="0"/>
                <a:ea typeface="Inter" pitchFamily="34" charset="-122"/>
                <a:cs typeface="Inter" pitchFamily="34" charset="-120"/>
              </a:rPr>
              <a:t>wedding venue rome ga</a:t>
            </a:r>
            <a:endParaRPr lang="en-US" sz="1600" dirty="0"/>
          </a:p>
        </p:txBody>
      </p:sp>
      <p:sp>
        <p:nvSpPr>
          <p:cNvPr id="8" name="Shape 5"/>
          <p:cNvSpPr/>
          <p:nvPr/>
        </p:nvSpPr>
        <p:spPr>
          <a:xfrm>
            <a:off x="6309360" y="2697480"/>
            <a:ext cx="5029200" cy="2377440"/>
          </a:xfrm>
          <a:prstGeom prst="roundRect">
            <a:avLst>
              <a:gd name="adj" fmla="val 4615"/>
            </a:avLst>
          </a:prstGeom>
          <a:solidFill>
            <a:srgbClr val="1E293B">
              <a:alpha val="70000"/>
            </a:srgbClr>
          </a:solidFill>
          <a:ln w="9525">
            <a:solidFill>
              <a:srgbClr val="334155">
                <a:alpha val="65000"/>
              </a:srgbClr>
            </a:solidFill>
            <a:prstDash val="solid"/>
          </a:ln>
          <a:effectLst>
            <a:outerShdw sx="100000" sy="100000" kx="0" ky="0" algn="bl" rotWithShape="0" blurRad="127000" dist="38100" dir="5400000">
              <a:srgbClr val="000000">
                <a:alpha val="35000"/>
              </a:srgbClr>
            </a:outerShdw>
          </a:effectLst>
        </p:spPr>
      </p:sp>
      <p:sp>
        <p:nvSpPr>
          <p:cNvPr id="9" name="Shape 6"/>
          <p:cNvSpPr/>
          <p:nvPr/>
        </p:nvSpPr>
        <p:spPr>
          <a:xfrm>
            <a:off x="6675120" y="3063240"/>
            <a:ext cx="3017520" cy="274320"/>
          </a:xfrm>
          <a:prstGeom prst="roundRect">
            <a:avLst>
              <a:gd name="adj" fmla="val 50000"/>
            </a:avLst>
          </a:prstGeom>
          <a:solidFill>
            <a:srgbClr val="3B82F6">
              <a:alpha val="85000"/>
            </a:srgbClr>
          </a:solidFill>
          <a:ln/>
        </p:spPr>
      </p:sp>
      <p:sp>
        <p:nvSpPr>
          <p:cNvPr id="10" name="Shape 7"/>
          <p:cNvSpPr/>
          <p:nvPr/>
        </p:nvSpPr>
        <p:spPr>
          <a:xfrm>
            <a:off x="6675120" y="3520440"/>
            <a:ext cx="4206240" cy="201168"/>
          </a:xfrm>
          <a:prstGeom prst="roundRect">
            <a:avLst>
              <a:gd name="adj" fmla="val 50000"/>
            </a:avLst>
          </a:prstGeom>
          <a:solidFill>
            <a:srgbClr val="334155">
              <a:alpha val="60000"/>
            </a:srgbClr>
          </a:solidFill>
          <a:ln/>
        </p:spPr>
      </p:sp>
      <p:sp>
        <p:nvSpPr>
          <p:cNvPr id="11" name="Shape 8"/>
          <p:cNvSpPr/>
          <p:nvPr/>
        </p:nvSpPr>
        <p:spPr>
          <a:xfrm>
            <a:off x="6675120" y="3904488"/>
            <a:ext cx="3749040" cy="201168"/>
          </a:xfrm>
          <a:prstGeom prst="roundRect">
            <a:avLst>
              <a:gd name="adj" fmla="val 50000"/>
            </a:avLst>
          </a:prstGeom>
          <a:solidFill>
            <a:srgbClr val="334155">
              <a:alpha val="60000"/>
            </a:srgbClr>
          </a:solidFill>
          <a:ln/>
        </p:spPr>
      </p:sp>
      <p:sp>
        <p:nvSpPr>
          <p:cNvPr id="12" name="Shape 9"/>
          <p:cNvSpPr/>
          <p:nvPr/>
        </p:nvSpPr>
        <p:spPr>
          <a:xfrm>
            <a:off x="6675120" y="4288536"/>
            <a:ext cx="4023360" cy="201168"/>
          </a:xfrm>
          <a:prstGeom prst="roundRect">
            <a:avLst>
              <a:gd name="adj" fmla="val 50000"/>
            </a:avLst>
          </a:prstGeom>
          <a:solidFill>
            <a:srgbClr val="334155">
              <a:alpha val="60000"/>
            </a:srgbClr>
          </a:solidFill>
          <a:ln/>
        </p:spPr>
      </p:sp>
      <p:sp>
        <p:nvSpPr>
          <p:cNvPr id="13" name="Shape 10"/>
          <p:cNvSpPr/>
          <p:nvPr/>
        </p:nvSpPr>
        <p:spPr>
          <a:xfrm>
            <a:off x="6675120" y="4672584"/>
            <a:ext cx="2651760" cy="201168"/>
          </a:xfrm>
          <a:prstGeom prst="roundRect">
            <a:avLst>
              <a:gd name="adj" fmla="val 50000"/>
            </a:avLst>
          </a:prstGeom>
          <a:solidFill>
            <a:srgbClr val="334155">
              <a:alpha val="60000"/>
            </a:srgbClr>
          </a:solidFill>
          <a:ln/>
        </p:spPr>
      </p:sp>
      <p:sp>
        <p:nvSpPr>
          <p:cNvPr id="14" name="Text 11"/>
          <p:cNvSpPr/>
          <p:nvPr/>
        </p:nvSpPr>
        <p:spPr>
          <a:xfrm>
            <a:off x="6355080" y="5257800"/>
            <a:ext cx="4937760" cy="365760"/>
          </a:xfrm>
          <a:prstGeom prst="rect">
            <a:avLst/>
          </a:prstGeom>
          <a:noFill/>
          <a:ln/>
        </p:spPr>
        <p:txBody>
          <a:bodyPr wrap="square" lIns="0" tIns="0" rIns="0" bIns="0" rtlCol="0" anchor="ctr"/>
          <a:lstStyle/>
          <a:p>
            <a:pPr indent="0" marL="0">
              <a:buNone/>
            </a:pPr>
            <a:r>
              <a:rPr lang="en-US" sz="1250" i="1" dirty="0">
                <a:solidFill>
                  <a:srgbClr val="94A3B8"/>
                </a:solidFill>
                <a:latin typeface="Inter" pitchFamily="34" charset="0"/>
                <a:ea typeface="Inter" pitchFamily="34" charset="-122"/>
                <a:cs typeface="Inter" pitchFamily="34" charset="-120"/>
              </a:rPr>
              <a:t>The first answers win. The rest are invisible.</a:t>
            </a:r>
            <a:endParaRPr lang="en-US" sz="12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822960" y="777240"/>
            <a:ext cx="6400800" cy="292608"/>
          </a:xfrm>
          <a:prstGeom prst="rect">
            <a:avLst/>
          </a:prstGeom>
          <a:noFill/>
          <a:ln/>
        </p:spPr>
        <p:txBody>
          <a:bodyPr wrap="square" lIns="0" tIns="0" rIns="0" bIns="0" rtlCol="0" anchor="ctr"/>
          <a:lstStyle/>
          <a:p>
            <a:pPr algn="l" indent="0" marL="0">
              <a:buNone/>
            </a:pPr>
            <a:r>
              <a:rPr lang="en-US" sz="1100" b="1" spc="300" kern="0" dirty="0">
                <a:solidFill>
                  <a:srgbClr val="38BDF8"/>
                </a:solidFill>
                <a:latin typeface="Inter" pitchFamily="34" charset="0"/>
                <a:ea typeface="Inter" pitchFamily="34" charset="-122"/>
                <a:cs typeface="Inter" pitchFamily="34" charset="-120"/>
              </a:rPr>
              <a:t>THE PICTURE</a:t>
            </a:r>
            <a:endParaRPr lang="en-US" sz="1100" dirty="0"/>
          </a:p>
        </p:txBody>
      </p:sp>
      <p:sp>
        <p:nvSpPr>
          <p:cNvPr id="3" name="Text 1"/>
          <p:cNvSpPr/>
          <p:nvPr/>
        </p:nvSpPr>
        <p:spPr>
          <a:xfrm>
            <a:off x="795528" y="1188720"/>
            <a:ext cx="5394960" cy="914400"/>
          </a:xfrm>
          <a:prstGeom prst="rect">
            <a:avLst/>
          </a:prstGeom>
          <a:noFill/>
          <a:ln/>
        </p:spPr>
        <p:txBody>
          <a:bodyPr wrap="square" lIns="0" tIns="0" rIns="0" bIns="0" rtlCol="0" anchor="ctr"/>
          <a:lstStyle/>
          <a:p>
            <a:pPr algn="l" indent="0" marL="0">
              <a:lnSpc>
                <a:spcPct val="104000"/>
              </a:lnSpc>
              <a:buNone/>
            </a:pPr>
            <a:r>
              <a:rPr lang="en-US" sz="3800" b="1" dirty="0">
                <a:solidFill>
                  <a:srgbClr val="F8FAFC"/>
                </a:solidFill>
                <a:latin typeface="Outfit" pitchFamily="34" charset="0"/>
                <a:ea typeface="Outfit" pitchFamily="34" charset="-122"/>
                <a:cs typeface="Outfit" pitchFamily="34" charset="-120"/>
              </a:rPr>
              <a:t>The internet is a library.</a:t>
            </a:r>
            <a:endParaRPr lang="en-US" sz="3800" dirty="0"/>
          </a:p>
        </p:txBody>
      </p:sp>
      <p:sp>
        <p:nvSpPr>
          <p:cNvPr id="4" name="Text 2"/>
          <p:cNvSpPr/>
          <p:nvPr/>
        </p:nvSpPr>
        <p:spPr>
          <a:xfrm>
            <a:off x="822960" y="2286000"/>
            <a:ext cx="4663440" cy="1828800"/>
          </a:xfrm>
          <a:prstGeom prst="rect">
            <a:avLst/>
          </a:prstGeom>
          <a:noFill/>
          <a:ln/>
        </p:spPr>
        <p:txBody>
          <a:bodyPr wrap="square" lIns="0" tIns="0" rIns="0" bIns="0" rtlCol="0" anchor="t"/>
          <a:lstStyle/>
          <a:p>
            <a:pPr algn="l" indent="0" marL="0">
              <a:lnSpc>
                <a:spcPct val="125000"/>
              </a:lnSpc>
              <a:buNone/>
            </a:pPr>
            <a:r>
              <a:rPr lang="en-US" sz="1500" dirty="0">
                <a:solidFill>
                  <a:srgbClr val="CBD5E1"/>
                </a:solidFill>
                <a:latin typeface="Inter" pitchFamily="34" charset="0"/>
                <a:ea typeface="Inter" pitchFamily="34" charset="-122"/>
                <a:cs typeface="Inter" pitchFamily="34" charset="-120"/>
              </a:rPr>
              <a:t>Every business, every article, every menu, every review. All of it shelved in one impossibly large building.</a:t>
            </a:r>
            <a:endParaRPr lang="en-US" sz="1500" dirty="0"/>
          </a:p>
          <a:p>
            <a:pPr algn="l" indent="0" marL="0">
              <a:lnSpc>
                <a:spcPct val="125000"/>
              </a:lnSpc>
              <a:buNone/>
            </a:pPr>
            <a:endParaRPr lang="en-US" sz="1500" dirty="0"/>
          </a:p>
          <a:p>
            <a:pPr algn="l" indent="0" marL="0">
              <a:lnSpc>
                <a:spcPct val="125000"/>
              </a:lnSpc>
              <a:buNone/>
            </a:pPr>
            <a:r>
              <a:rPr lang="en-US" sz="1500" dirty="0">
                <a:solidFill>
                  <a:srgbClr val="CBD5E1"/>
                </a:solidFill>
                <a:latin typeface="Inter" pitchFamily="34" charset="0"/>
                <a:ea typeface="Inter" pitchFamily="34" charset="-122"/>
                <a:cs typeface="Inter" pitchFamily="34" charset="-120"/>
              </a:rPr>
              <a:t>Your website is in there right now.</a:t>
            </a:r>
            <a:endParaRPr lang="en-US" sz="1500" dirty="0"/>
          </a:p>
        </p:txBody>
      </p:sp>
      <p:sp>
        <p:nvSpPr>
          <p:cNvPr id="5" name="Text 3"/>
          <p:cNvSpPr/>
          <p:nvPr/>
        </p:nvSpPr>
        <p:spPr>
          <a:xfrm>
            <a:off x="822960" y="4572000"/>
            <a:ext cx="4754880" cy="822960"/>
          </a:xfrm>
          <a:prstGeom prst="rect">
            <a:avLst/>
          </a:prstGeom>
          <a:noFill/>
          <a:ln/>
        </p:spPr>
        <p:txBody>
          <a:bodyPr wrap="square" lIns="0" tIns="0" rIns="0" bIns="0" rtlCol="0" anchor="ctr"/>
          <a:lstStyle/>
          <a:p>
            <a:pPr indent="0" marL="0">
              <a:lnSpc>
                <a:spcPct val="115000"/>
              </a:lnSpc>
              <a:buNone/>
            </a:pPr>
            <a:r>
              <a:rPr lang="en-US" sz="1900" b="1" dirty="0">
                <a:solidFill>
                  <a:srgbClr val="38BDF8"/>
                </a:solidFill>
                <a:latin typeface="Outfit" pitchFamily="34" charset="0"/>
                <a:ea typeface="Outfit" pitchFamily="34" charset="-122"/>
                <a:cs typeface="Outfit" pitchFamily="34" charset="-120"/>
              </a:rPr>
              <a:t>Being in the library is not the same as being found.</a:t>
            </a:r>
            <a:endParaRPr lang="en-US" sz="1900" dirty="0"/>
          </a:p>
        </p:txBody>
      </p:sp>
      <p:sp>
        <p:nvSpPr>
          <p:cNvPr id="6" name="Shape 4"/>
          <p:cNvSpPr/>
          <p:nvPr/>
        </p:nvSpPr>
        <p:spPr>
          <a:xfrm>
            <a:off x="6217920" y="1051560"/>
            <a:ext cx="5120640" cy="4480560"/>
          </a:xfrm>
          <a:prstGeom prst="roundRect">
            <a:avLst>
              <a:gd name="adj" fmla="val 2449"/>
            </a:avLst>
          </a:prstGeom>
          <a:solidFill>
            <a:srgbClr val="1E293B">
              <a:alpha val="86000"/>
            </a:srgbClr>
          </a:solidFill>
          <a:ln w="9525">
            <a:solidFill>
              <a:srgbClr val="334155">
                <a:alpha val="65000"/>
              </a:srgbClr>
            </a:solidFill>
            <a:prstDash val="solid"/>
          </a:ln>
          <a:effectLst>
            <a:outerShdw sx="100000" sy="100000" kx="0" ky="0" algn="bl" rotWithShape="0" blurRad="127000" dist="38100" dir="5400000">
              <a:srgbClr val="000000">
                <a:alpha val="35000"/>
              </a:srgbClr>
            </a:outerShdw>
          </a:effectLst>
        </p:spPr>
      </p:sp>
      <p:sp>
        <p:nvSpPr>
          <p:cNvPr id="7" name="Shape 5"/>
          <p:cNvSpPr/>
          <p:nvPr/>
        </p:nvSpPr>
        <p:spPr>
          <a:xfrm>
            <a:off x="6629400" y="1645920"/>
            <a:ext cx="310896" cy="1371600"/>
          </a:xfrm>
          <a:prstGeom prst="roundRect">
            <a:avLst>
              <a:gd name="adj" fmla="val 8824"/>
            </a:avLst>
          </a:prstGeom>
          <a:solidFill>
            <a:srgbClr val="2A3852">
              <a:alpha val="82000"/>
            </a:srgbClr>
          </a:solidFill>
          <a:ln/>
        </p:spPr>
      </p:sp>
      <p:sp>
        <p:nvSpPr>
          <p:cNvPr id="8" name="Shape 6"/>
          <p:cNvSpPr/>
          <p:nvPr/>
        </p:nvSpPr>
        <p:spPr>
          <a:xfrm>
            <a:off x="7050024" y="1783080"/>
            <a:ext cx="356616" cy="1234440"/>
          </a:xfrm>
          <a:prstGeom prst="roundRect">
            <a:avLst>
              <a:gd name="adj" fmla="val 7692"/>
            </a:avLst>
          </a:prstGeom>
          <a:solidFill>
            <a:srgbClr val="3A4A63">
              <a:alpha val="82000"/>
            </a:srgbClr>
          </a:solidFill>
          <a:ln/>
        </p:spPr>
      </p:sp>
      <p:sp>
        <p:nvSpPr>
          <p:cNvPr id="9" name="Shape 7"/>
          <p:cNvSpPr/>
          <p:nvPr/>
        </p:nvSpPr>
        <p:spPr>
          <a:xfrm>
            <a:off x="7516368" y="1600200"/>
            <a:ext cx="402336" cy="1417320"/>
          </a:xfrm>
          <a:prstGeom prst="roundRect">
            <a:avLst>
              <a:gd name="adj" fmla="val 6818"/>
            </a:avLst>
          </a:prstGeom>
          <a:solidFill>
            <a:srgbClr val="2A3852">
              <a:alpha val="82000"/>
            </a:srgbClr>
          </a:solidFill>
          <a:ln/>
        </p:spPr>
      </p:sp>
      <p:sp>
        <p:nvSpPr>
          <p:cNvPr id="10" name="Shape 8"/>
          <p:cNvSpPr/>
          <p:nvPr/>
        </p:nvSpPr>
        <p:spPr>
          <a:xfrm>
            <a:off x="8028432" y="1737360"/>
            <a:ext cx="310896" cy="1280160"/>
          </a:xfrm>
          <a:prstGeom prst="roundRect">
            <a:avLst>
              <a:gd name="adj" fmla="val 8824"/>
            </a:avLst>
          </a:prstGeom>
          <a:solidFill>
            <a:srgbClr val="3A4A63">
              <a:alpha val="82000"/>
            </a:srgbClr>
          </a:solidFill>
          <a:ln/>
        </p:spPr>
      </p:sp>
      <p:sp>
        <p:nvSpPr>
          <p:cNvPr id="11" name="Shape 9"/>
          <p:cNvSpPr/>
          <p:nvPr/>
        </p:nvSpPr>
        <p:spPr>
          <a:xfrm>
            <a:off x="8449056" y="1645920"/>
            <a:ext cx="356616" cy="1371600"/>
          </a:xfrm>
          <a:prstGeom prst="roundRect">
            <a:avLst>
              <a:gd name="adj" fmla="val 7692"/>
            </a:avLst>
          </a:prstGeom>
          <a:solidFill>
            <a:srgbClr val="2A3852">
              <a:alpha val="82000"/>
            </a:srgbClr>
          </a:solidFill>
          <a:ln/>
        </p:spPr>
      </p:sp>
      <p:sp>
        <p:nvSpPr>
          <p:cNvPr id="12" name="Shape 10"/>
          <p:cNvSpPr/>
          <p:nvPr/>
        </p:nvSpPr>
        <p:spPr>
          <a:xfrm>
            <a:off x="8915400" y="1828800"/>
            <a:ext cx="402336" cy="1188720"/>
          </a:xfrm>
          <a:prstGeom prst="roundRect">
            <a:avLst>
              <a:gd name="adj" fmla="val 6818"/>
            </a:avLst>
          </a:prstGeom>
          <a:solidFill>
            <a:srgbClr val="3A4A63">
              <a:alpha val="82000"/>
            </a:srgbClr>
          </a:solidFill>
          <a:ln/>
        </p:spPr>
      </p:sp>
      <p:sp>
        <p:nvSpPr>
          <p:cNvPr id="13" name="Shape 11"/>
          <p:cNvSpPr/>
          <p:nvPr/>
        </p:nvSpPr>
        <p:spPr>
          <a:xfrm>
            <a:off x="9427464" y="1600200"/>
            <a:ext cx="310896" cy="1417320"/>
          </a:xfrm>
          <a:prstGeom prst="roundRect">
            <a:avLst>
              <a:gd name="adj" fmla="val 8824"/>
            </a:avLst>
          </a:prstGeom>
          <a:solidFill>
            <a:srgbClr val="2A3852">
              <a:alpha val="82000"/>
            </a:srgbClr>
          </a:solidFill>
          <a:ln/>
        </p:spPr>
      </p:sp>
      <p:sp>
        <p:nvSpPr>
          <p:cNvPr id="14" name="Shape 12"/>
          <p:cNvSpPr/>
          <p:nvPr/>
        </p:nvSpPr>
        <p:spPr>
          <a:xfrm>
            <a:off x="9848088" y="1691640"/>
            <a:ext cx="356616" cy="1325880"/>
          </a:xfrm>
          <a:prstGeom prst="roundRect">
            <a:avLst>
              <a:gd name="adj" fmla="val 7692"/>
            </a:avLst>
          </a:prstGeom>
          <a:solidFill>
            <a:srgbClr val="3A4A63">
              <a:alpha val="82000"/>
            </a:srgbClr>
          </a:solidFill>
          <a:ln/>
        </p:spPr>
      </p:sp>
      <p:sp>
        <p:nvSpPr>
          <p:cNvPr id="15" name="Shape 13"/>
          <p:cNvSpPr/>
          <p:nvPr/>
        </p:nvSpPr>
        <p:spPr>
          <a:xfrm>
            <a:off x="10314432" y="1783080"/>
            <a:ext cx="402336" cy="1234440"/>
          </a:xfrm>
          <a:prstGeom prst="roundRect">
            <a:avLst>
              <a:gd name="adj" fmla="val 6818"/>
            </a:avLst>
          </a:prstGeom>
          <a:solidFill>
            <a:srgbClr val="2A3852">
              <a:alpha val="82000"/>
            </a:srgbClr>
          </a:solidFill>
          <a:ln/>
        </p:spPr>
      </p:sp>
      <p:sp>
        <p:nvSpPr>
          <p:cNvPr id="16" name="Shape 14"/>
          <p:cNvSpPr/>
          <p:nvPr/>
        </p:nvSpPr>
        <p:spPr>
          <a:xfrm>
            <a:off x="10826496" y="1645920"/>
            <a:ext cx="310896" cy="1371600"/>
          </a:xfrm>
          <a:prstGeom prst="roundRect">
            <a:avLst>
              <a:gd name="adj" fmla="val 8824"/>
            </a:avLst>
          </a:prstGeom>
          <a:solidFill>
            <a:srgbClr val="3A4A63">
              <a:alpha val="82000"/>
            </a:srgbClr>
          </a:solidFill>
          <a:ln/>
        </p:spPr>
      </p:sp>
      <p:sp>
        <p:nvSpPr>
          <p:cNvPr id="17" name="Shape 15"/>
          <p:cNvSpPr/>
          <p:nvPr/>
        </p:nvSpPr>
        <p:spPr>
          <a:xfrm>
            <a:off x="6446520" y="3072384"/>
            <a:ext cx="4663440" cy="54864"/>
          </a:xfrm>
          <a:prstGeom prst="rect">
            <a:avLst/>
          </a:prstGeom>
          <a:solidFill>
            <a:srgbClr val="334155">
              <a:alpha val="80000"/>
            </a:srgbClr>
          </a:solidFill>
          <a:ln/>
        </p:spPr>
      </p:sp>
      <p:sp>
        <p:nvSpPr>
          <p:cNvPr id="18" name="Shape 16"/>
          <p:cNvSpPr/>
          <p:nvPr/>
        </p:nvSpPr>
        <p:spPr>
          <a:xfrm>
            <a:off x="6629400" y="3749040"/>
            <a:ext cx="310896" cy="1371600"/>
          </a:xfrm>
          <a:prstGeom prst="roundRect">
            <a:avLst>
              <a:gd name="adj" fmla="val 8824"/>
            </a:avLst>
          </a:prstGeom>
          <a:solidFill>
            <a:srgbClr val="2A3852">
              <a:alpha val="82000"/>
            </a:srgbClr>
          </a:solidFill>
          <a:ln/>
        </p:spPr>
      </p:sp>
      <p:sp>
        <p:nvSpPr>
          <p:cNvPr id="19" name="Shape 17"/>
          <p:cNvSpPr/>
          <p:nvPr/>
        </p:nvSpPr>
        <p:spPr>
          <a:xfrm>
            <a:off x="7050024" y="3886200"/>
            <a:ext cx="356616" cy="1234440"/>
          </a:xfrm>
          <a:prstGeom prst="roundRect">
            <a:avLst>
              <a:gd name="adj" fmla="val 7692"/>
            </a:avLst>
          </a:prstGeom>
          <a:solidFill>
            <a:srgbClr val="3A4A63">
              <a:alpha val="82000"/>
            </a:srgbClr>
          </a:solidFill>
          <a:ln/>
        </p:spPr>
      </p:sp>
      <p:sp>
        <p:nvSpPr>
          <p:cNvPr id="20" name="Shape 18"/>
          <p:cNvSpPr/>
          <p:nvPr/>
        </p:nvSpPr>
        <p:spPr>
          <a:xfrm>
            <a:off x="7516368" y="3703320"/>
            <a:ext cx="402336" cy="1417320"/>
          </a:xfrm>
          <a:prstGeom prst="roundRect">
            <a:avLst>
              <a:gd name="adj" fmla="val 6818"/>
            </a:avLst>
          </a:prstGeom>
          <a:solidFill>
            <a:srgbClr val="2A3852">
              <a:alpha val="82000"/>
            </a:srgbClr>
          </a:solidFill>
          <a:ln/>
        </p:spPr>
      </p:sp>
      <p:sp>
        <p:nvSpPr>
          <p:cNvPr id="21" name="Shape 19"/>
          <p:cNvSpPr/>
          <p:nvPr/>
        </p:nvSpPr>
        <p:spPr>
          <a:xfrm>
            <a:off x="8028432" y="3840480"/>
            <a:ext cx="310896" cy="1280160"/>
          </a:xfrm>
          <a:prstGeom prst="roundRect">
            <a:avLst>
              <a:gd name="adj" fmla="val 8824"/>
            </a:avLst>
          </a:prstGeom>
          <a:solidFill>
            <a:srgbClr val="3A4A63">
              <a:alpha val="82000"/>
            </a:srgbClr>
          </a:solidFill>
          <a:ln/>
        </p:spPr>
      </p:sp>
      <p:sp>
        <p:nvSpPr>
          <p:cNvPr id="22" name="Shape 20"/>
          <p:cNvSpPr/>
          <p:nvPr/>
        </p:nvSpPr>
        <p:spPr>
          <a:xfrm>
            <a:off x="8449056" y="3749040"/>
            <a:ext cx="356616" cy="1371600"/>
          </a:xfrm>
          <a:prstGeom prst="roundRect">
            <a:avLst>
              <a:gd name="adj" fmla="val 7692"/>
            </a:avLst>
          </a:prstGeom>
          <a:solidFill>
            <a:srgbClr val="3B82F6"/>
          </a:solidFill>
          <a:ln/>
        </p:spPr>
      </p:sp>
      <p:sp>
        <p:nvSpPr>
          <p:cNvPr id="23" name="Shape 21"/>
          <p:cNvSpPr/>
          <p:nvPr/>
        </p:nvSpPr>
        <p:spPr>
          <a:xfrm>
            <a:off x="8915400" y="3931920"/>
            <a:ext cx="402336" cy="1188720"/>
          </a:xfrm>
          <a:prstGeom prst="roundRect">
            <a:avLst>
              <a:gd name="adj" fmla="val 6818"/>
            </a:avLst>
          </a:prstGeom>
          <a:solidFill>
            <a:srgbClr val="3A4A63">
              <a:alpha val="82000"/>
            </a:srgbClr>
          </a:solidFill>
          <a:ln/>
        </p:spPr>
      </p:sp>
      <p:sp>
        <p:nvSpPr>
          <p:cNvPr id="24" name="Shape 22"/>
          <p:cNvSpPr/>
          <p:nvPr/>
        </p:nvSpPr>
        <p:spPr>
          <a:xfrm>
            <a:off x="9427464" y="3703320"/>
            <a:ext cx="310896" cy="1417320"/>
          </a:xfrm>
          <a:prstGeom prst="roundRect">
            <a:avLst>
              <a:gd name="adj" fmla="val 8824"/>
            </a:avLst>
          </a:prstGeom>
          <a:solidFill>
            <a:srgbClr val="2A3852">
              <a:alpha val="82000"/>
            </a:srgbClr>
          </a:solidFill>
          <a:ln/>
        </p:spPr>
      </p:sp>
      <p:sp>
        <p:nvSpPr>
          <p:cNvPr id="25" name="Shape 23"/>
          <p:cNvSpPr/>
          <p:nvPr/>
        </p:nvSpPr>
        <p:spPr>
          <a:xfrm>
            <a:off x="9848088" y="3794760"/>
            <a:ext cx="356616" cy="1325880"/>
          </a:xfrm>
          <a:prstGeom prst="roundRect">
            <a:avLst>
              <a:gd name="adj" fmla="val 7692"/>
            </a:avLst>
          </a:prstGeom>
          <a:solidFill>
            <a:srgbClr val="3A4A63">
              <a:alpha val="82000"/>
            </a:srgbClr>
          </a:solidFill>
          <a:ln/>
        </p:spPr>
      </p:sp>
      <p:sp>
        <p:nvSpPr>
          <p:cNvPr id="26" name="Shape 24"/>
          <p:cNvSpPr/>
          <p:nvPr/>
        </p:nvSpPr>
        <p:spPr>
          <a:xfrm>
            <a:off x="10314432" y="3886200"/>
            <a:ext cx="402336" cy="1234440"/>
          </a:xfrm>
          <a:prstGeom prst="roundRect">
            <a:avLst>
              <a:gd name="adj" fmla="val 6818"/>
            </a:avLst>
          </a:prstGeom>
          <a:solidFill>
            <a:srgbClr val="2A3852">
              <a:alpha val="82000"/>
            </a:srgbClr>
          </a:solidFill>
          <a:ln/>
        </p:spPr>
      </p:sp>
      <p:sp>
        <p:nvSpPr>
          <p:cNvPr id="27" name="Shape 25"/>
          <p:cNvSpPr/>
          <p:nvPr/>
        </p:nvSpPr>
        <p:spPr>
          <a:xfrm>
            <a:off x="10826496" y="3749040"/>
            <a:ext cx="310896" cy="1371600"/>
          </a:xfrm>
          <a:prstGeom prst="roundRect">
            <a:avLst>
              <a:gd name="adj" fmla="val 8824"/>
            </a:avLst>
          </a:prstGeom>
          <a:solidFill>
            <a:srgbClr val="3A4A63">
              <a:alpha val="82000"/>
            </a:srgbClr>
          </a:solidFill>
          <a:ln/>
        </p:spPr>
      </p:sp>
      <p:sp>
        <p:nvSpPr>
          <p:cNvPr id="28" name="Shape 26"/>
          <p:cNvSpPr/>
          <p:nvPr/>
        </p:nvSpPr>
        <p:spPr>
          <a:xfrm>
            <a:off x="6446520" y="5175504"/>
            <a:ext cx="4663440" cy="54864"/>
          </a:xfrm>
          <a:prstGeom prst="rect">
            <a:avLst/>
          </a:prstGeom>
          <a:solidFill>
            <a:srgbClr val="334155">
              <a:alpha val="80000"/>
            </a:srgbClr>
          </a:solidFill>
          <a:ln/>
        </p:spPr>
      </p:sp>
      <p:sp>
        <p:nvSpPr>
          <p:cNvPr id="29" name="Shape 27"/>
          <p:cNvSpPr/>
          <p:nvPr/>
        </p:nvSpPr>
        <p:spPr>
          <a:xfrm>
            <a:off x="8275320" y="5138928"/>
            <a:ext cx="146304" cy="146304"/>
          </a:xfrm>
          <a:prstGeom prst="roundRect">
            <a:avLst>
              <a:gd name="adj" fmla="val 18750"/>
            </a:avLst>
          </a:prstGeom>
          <a:solidFill>
            <a:srgbClr val="3B82F6"/>
          </a:solidFill>
          <a:ln/>
        </p:spPr>
      </p:sp>
      <p:sp>
        <p:nvSpPr>
          <p:cNvPr id="30" name="Text 28"/>
          <p:cNvSpPr/>
          <p:nvPr/>
        </p:nvSpPr>
        <p:spPr>
          <a:xfrm>
            <a:off x="8503920" y="5074920"/>
            <a:ext cx="2286000" cy="274320"/>
          </a:xfrm>
          <a:prstGeom prst="rect">
            <a:avLst/>
          </a:prstGeom>
          <a:noFill/>
          <a:ln/>
        </p:spPr>
        <p:txBody>
          <a:bodyPr wrap="square" lIns="0" tIns="0" rIns="0" bIns="0" rtlCol="0" anchor="ctr"/>
          <a:lstStyle/>
          <a:p>
            <a:pPr indent="0" marL="0">
              <a:buNone/>
            </a:pPr>
            <a:r>
              <a:rPr lang="en-US" sz="1200" dirty="0">
                <a:solidFill>
                  <a:srgbClr val="94A3B8"/>
                </a:solidFill>
                <a:latin typeface="Inter" pitchFamily="34" charset="0"/>
                <a:ea typeface="Inter" pitchFamily="34" charset="-122"/>
                <a:cs typeface="Inter" pitchFamily="34" charset="-120"/>
              </a:rPr>
              <a:t>your book</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822960" y="777240"/>
            <a:ext cx="6400800" cy="292608"/>
          </a:xfrm>
          <a:prstGeom prst="rect">
            <a:avLst/>
          </a:prstGeom>
          <a:noFill/>
          <a:ln/>
        </p:spPr>
        <p:txBody>
          <a:bodyPr wrap="square" lIns="0" tIns="0" rIns="0" bIns="0" rtlCol="0" anchor="ctr"/>
          <a:lstStyle/>
          <a:p>
            <a:pPr algn="l" indent="0" marL="0">
              <a:buNone/>
            </a:pPr>
            <a:r>
              <a:rPr lang="en-US" sz="1100" b="1" spc="300" kern="0" dirty="0">
                <a:solidFill>
                  <a:srgbClr val="38BDF8"/>
                </a:solidFill>
                <a:latin typeface="Inter" pitchFamily="34" charset="0"/>
                <a:ea typeface="Inter" pitchFamily="34" charset="-122"/>
                <a:cs typeface="Inter" pitchFamily="34" charset="-120"/>
              </a:rPr>
              <a:t>WHO DECIDES</a:t>
            </a:r>
            <a:endParaRPr lang="en-US" sz="1100" dirty="0"/>
          </a:p>
        </p:txBody>
      </p:sp>
      <p:sp>
        <p:nvSpPr>
          <p:cNvPr id="3" name="Text 1"/>
          <p:cNvSpPr/>
          <p:nvPr/>
        </p:nvSpPr>
        <p:spPr>
          <a:xfrm>
            <a:off x="795528" y="1188720"/>
            <a:ext cx="5394960" cy="914400"/>
          </a:xfrm>
          <a:prstGeom prst="rect">
            <a:avLst/>
          </a:prstGeom>
          <a:noFill/>
          <a:ln/>
        </p:spPr>
        <p:txBody>
          <a:bodyPr wrap="square" lIns="0" tIns="0" rIns="0" bIns="0" rtlCol="0" anchor="ctr"/>
          <a:lstStyle/>
          <a:p>
            <a:pPr algn="l" indent="0" marL="0">
              <a:lnSpc>
                <a:spcPct val="104000"/>
              </a:lnSpc>
              <a:buNone/>
            </a:pPr>
            <a:r>
              <a:rPr lang="en-US" sz="3800" b="1" dirty="0">
                <a:solidFill>
                  <a:srgbClr val="F8FAFC"/>
                </a:solidFill>
                <a:latin typeface="Outfit" pitchFamily="34" charset="0"/>
                <a:ea typeface="Outfit" pitchFamily="34" charset="-122"/>
                <a:cs typeface="Outfit" pitchFamily="34" charset="-120"/>
              </a:rPr>
              <a:t>Google is the librarian.</a:t>
            </a:r>
            <a:endParaRPr lang="en-US" sz="3800" dirty="0"/>
          </a:p>
        </p:txBody>
      </p:sp>
      <p:sp>
        <p:nvSpPr>
          <p:cNvPr id="4" name="Text 2"/>
          <p:cNvSpPr/>
          <p:nvPr/>
        </p:nvSpPr>
        <p:spPr>
          <a:xfrm>
            <a:off x="822960" y="2286000"/>
            <a:ext cx="4663440" cy="1554480"/>
          </a:xfrm>
          <a:prstGeom prst="rect">
            <a:avLst/>
          </a:prstGeom>
          <a:noFill/>
          <a:ln/>
        </p:spPr>
        <p:txBody>
          <a:bodyPr wrap="square" lIns="0" tIns="0" rIns="0" bIns="0" rtlCol="0" anchor="t"/>
          <a:lstStyle/>
          <a:p>
            <a:pPr algn="l" indent="0" marL="0">
              <a:lnSpc>
                <a:spcPct val="125000"/>
              </a:lnSpc>
              <a:buNone/>
            </a:pPr>
            <a:r>
              <a:rPr lang="en-US" sz="1500" dirty="0">
                <a:solidFill>
                  <a:srgbClr val="CBD5E1"/>
                </a:solidFill>
                <a:latin typeface="Inter" pitchFamily="34" charset="0"/>
                <a:ea typeface="Inter" pitchFamily="34" charset="-122"/>
                <a:cs typeface="Inter" pitchFamily="34" charset="-120"/>
              </a:rPr>
              <a:t>Nobody searches the stacks. They ask the librarian, and the librarian hands over three books first. Almost everyone takes one of those three.</a:t>
            </a:r>
            <a:endParaRPr lang="en-US" sz="1500" dirty="0"/>
          </a:p>
        </p:txBody>
      </p:sp>
      <p:sp>
        <p:nvSpPr>
          <p:cNvPr id="5" name="Text 3"/>
          <p:cNvSpPr/>
          <p:nvPr/>
        </p:nvSpPr>
        <p:spPr>
          <a:xfrm>
            <a:off x="822960" y="4206240"/>
            <a:ext cx="4754880" cy="1097280"/>
          </a:xfrm>
          <a:prstGeom prst="rect">
            <a:avLst/>
          </a:prstGeom>
          <a:noFill/>
          <a:ln/>
        </p:spPr>
        <p:txBody>
          <a:bodyPr wrap="square" lIns="0" tIns="0" rIns="0" bIns="0" rtlCol="0" anchor="ctr"/>
          <a:lstStyle/>
          <a:p>
            <a:pPr indent="0" marL="0">
              <a:lnSpc>
                <a:spcPct val="115000"/>
              </a:lnSpc>
              <a:buNone/>
            </a:pPr>
            <a:r>
              <a:rPr lang="en-US" sz="1900" b="1" dirty="0">
                <a:solidFill>
                  <a:srgbClr val="38BDF8"/>
                </a:solidFill>
                <a:latin typeface="Outfit" pitchFamily="34" charset="0"/>
                <a:ea typeface="Outfit" pitchFamily="34" charset="-122"/>
                <a:cs typeface="Outfit" pitchFamily="34" charset="-120"/>
              </a:rPr>
              <a:t>SEO is earning the librarian’s recommendation. Nothing more, nothing less.</a:t>
            </a:r>
            <a:endParaRPr lang="en-US" sz="1900" dirty="0"/>
          </a:p>
        </p:txBody>
      </p:sp>
      <p:sp>
        <p:nvSpPr>
          <p:cNvPr id="6" name="Shape 4"/>
          <p:cNvSpPr/>
          <p:nvPr/>
        </p:nvSpPr>
        <p:spPr>
          <a:xfrm>
            <a:off x="6217920" y="1234440"/>
            <a:ext cx="5120640" cy="4114800"/>
          </a:xfrm>
          <a:prstGeom prst="roundRect">
            <a:avLst>
              <a:gd name="adj" fmla="val 2667"/>
            </a:avLst>
          </a:prstGeom>
          <a:solidFill>
            <a:srgbClr val="1E293B">
              <a:alpha val="86000"/>
            </a:srgbClr>
          </a:solidFill>
          <a:ln w="9525">
            <a:solidFill>
              <a:srgbClr val="334155">
                <a:alpha val="65000"/>
              </a:srgbClr>
            </a:solidFill>
            <a:prstDash val="solid"/>
          </a:ln>
          <a:effectLst>
            <a:outerShdw sx="100000" sy="100000" kx="0" ky="0" algn="bl" rotWithShape="0" blurRad="127000" dist="38100" dir="5400000">
              <a:srgbClr val="000000">
                <a:alpha val="35000"/>
              </a:srgbClr>
            </a:outerShdw>
          </a:effectLst>
        </p:spPr>
      </p:sp>
      <p:sp>
        <p:nvSpPr>
          <p:cNvPr id="7" name="Text 5"/>
          <p:cNvSpPr/>
          <p:nvPr/>
        </p:nvSpPr>
        <p:spPr>
          <a:xfrm>
            <a:off x="6583680" y="1554480"/>
            <a:ext cx="4480560" cy="320040"/>
          </a:xfrm>
          <a:prstGeom prst="rect">
            <a:avLst/>
          </a:prstGeom>
          <a:noFill/>
          <a:ln/>
        </p:spPr>
        <p:txBody>
          <a:bodyPr wrap="square" lIns="0" tIns="0" rIns="0" bIns="0" rtlCol="0" anchor="ctr"/>
          <a:lstStyle/>
          <a:p>
            <a:pPr indent="0" marL="0">
              <a:buNone/>
            </a:pPr>
            <a:r>
              <a:rPr lang="en-US" sz="1300" i="1" dirty="0">
                <a:solidFill>
                  <a:srgbClr val="94A3B8"/>
                </a:solidFill>
                <a:latin typeface="Inter" pitchFamily="34" charset="0"/>
                <a:ea typeface="Inter" pitchFamily="34" charset="-122"/>
                <a:cs typeface="Inter" pitchFamily="34" charset="-120"/>
              </a:rPr>
              <a:t>someone asks: best hvac company near me</a:t>
            </a:r>
            <a:endParaRPr lang="en-US" sz="1300" dirty="0"/>
          </a:p>
        </p:txBody>
      </p:sp>
      <p:sp>
        <p:nvSpPr>
          <p:cNvPr id="8" name="Shape 6"/>
          <p:cNvSpPr/>
          <p:nvPr/>
        </p:nvSpPr>
        <p:spPr>
          <a:xfrm>
            <a:off x="6583680" y="2148840"/>
            <a:ext cx="4389120" cy="749808"/>
          </a:xfrm>
          <a:prstGeom prst="roundRect">
            <a:avLst>
              <a:gd name="adj" fmla="val 14634"/>
            </a:avLst>
          </a:prstGeom>
          <a:solidFill>
            <a:srgbClr val="243146">
              <a:alpha val="94000"/>
            </a:srgbClr>
          </a:solidFill>
          <a:ln w="9525">
            <a:solidFill>
              <a:srgbClr val="334155">
                <a:alpha val="65000"/>
              </a:srgbClr>
            </a:solidFill>
            <a:prstDash val="solid"/>
          </a:ln>
          <a:effectLst>
            <a:outerShdw sx="100000" sy="100000" kx="0" ky="0" algn="bl" rotWithShape="0" blurRad="127000" dist="38100" dir="5400000">
              <a:srgbClr val="000000">
                <a:alpha val="35000"/>
              </a:srgbClr>
            </a:outerShdw>
          </a:effectLst>
        </p:spPr>
      </p:sp>
      <p:sp>
        <p:nvSpPr>
          <p:cNvPr id="9" name="Shape 7"/>
          <p:cNvSpPr/>
          <p:nvPr/>
        </p:nvSpPr>
        <p:spPr>
          <a:xfrm>
            <a:off x="6812280" y="2322576"/>
            <a:ext cx="402336" cy="402336"/>
          </a:xfrm>
          <a:prstGeom prst="ellipse">
            <a:avLst/>
          </a:prstGeom>
          <a:solidFill>
            <a:srgbClr val="3B82F6"/>
          </a:solidFill>
          <a:ln/>
        </p:spPr>
      </p:sp>
      <p:sp>
        <p:nvSpPr>
          <p:cNvPr id="10" name="Text 8"/>
          <p:cNvSpPr/>
          <p:nvPr/>
        </p:nvSpPr>
        <p:spPr>
          <a:xfrm>
            <a:off x="6812280" y="2304288"/>
            <a:ext cx="402336" cy="402336"/>
          </a:xfrm>
          <a:prstGeom prst="rect">
            <a:avLst/>
          </a:prstGeom>
          <a:noFill/>
          <a:ln/>
        </p:spPr>
        <p:txBody>
          <a:bodyPr wrap="square" lIns="0" tIns="0" rIns="0" bIns="0" rtlCol="0" anchor="ctr"/>
          <a:lstStyle/>
          <a:p>
            <a:pPr algn="ctr" indent="0" marL="0">
              <a:buNone/>
            </a:pPr>
            <a:r>
              <a:rPr lang="en-US" sz="1500" b="1" dirty="0">
                <a:solidFill>
                  <a:srgbClr val="F8FAFC"/>
                </a:solidFill>
                <a:latin typeface="Outfit" pitchFamily="34" charset="0"/>
                <a:ea typeface="Outfit" pitchFamily="34" charset="-122"/>
                <a:cs typeface="Outfit" pitchFamily="34" charset="-120"/>
              </a:rPr>
              <a:t>1</a:t>
            </a:r>
            <a:endParaRPr lang="en-US" sz="1500" dirty="0"/>
          </a:p>
        </p:txBody>
      </p:sp>
      <p:sp>
        <p:nvSpPr>
          <p:cNvPr id="11" name="Shape 9"/>
          <p:cNvSpPr/>
          <p:nvPr/>
        </p:nvSpPr>
        <p:spPr>
          <a:xfrm>
            <a:off x="7406640" y="2313432"/>
            <a:ext cx="2377440" cy="182880"/>
          </a:xfrm>
          <a:prstGeom prst="roundRect">
            <a:avLst>
              <a:gd name="adj" fmla="val 50000"/>
            </a:avLst>
          </a:prstGeom>
          <a:solidFill>
            <a:srgbClr val="334155">
              <a:alpha val="60000"/>
            </a:srgbClr>
          </a:solidFill>
          <a:ln/>
        </p:spPr>
      </p:sp>
      <p:sp>
        <p:nvSpPr>
          <p:cNvPr id="12" name="Shape 10"/>
          <p:cNvSpPr/>
          <p:nvPr/>
        </p:nvSpPr>
        <p:spPr>
          <a:xfrm>
            <a:off x="7406640" y="2587752"/>
            <a:ext cx="1554480" cy="128016"/>
          </a:xfrm>
          <a:prstGeom prst="roundRect">
            <a:avLst>
              <a:gd name="adj" fmla="val 50000"/>
            </a:avLst>
          </a:prstGeom>
          <a:solidFill>
            <a:srgbClr val="334155">
              <a:alpha val="45000"/>
            </a:srgbClr>
          </a:solidFill>
          <a:ln/>
        </p:spPr>
      </p:sp>
      <p:sp>
        <p:nvSpPr>
          <p:cNvPr id="13" name="Shape 11"/>
          <p:cNvSpPr/>
          <p:nvPr/>
        </p:nvSpPr>
        <p:spPr>
          <a:xfrm>
            <a:off x="6583680" y="3108960"/>
            <a:ext cx="4389120" cy="749808"/>
          </a:xfrm>
          <a:prstGeom prst="roundRect">
            <a:avLst>
              <a:gd name="adj" fmla="val 14634"/>
            </a:avLst>
          </a:prstGeom>
          <a:solidFill>
            <a:srgbClr val="243146">
              <a:alpha val="94000"/>
            </a:srgbClr>
          </a:solidFill>
          <a:ln w="9525">
            <a:solidFill>
              <a:srgbClr val="334155">
                <a:alpha val="65000"/>
              </a:srgbClr>
            </a:solidFill>
            <a:prstDash val="solid"/>
          </a:ln>
          <a:effectLst>
            <a:outerShdw sx="100000" sy="100000" kx="0" ky="0" algn="bl" rotWithShape="0" blurRad="127000" dist="38100" dir="5400000">
              <a:srgbClr val="000000">
                <a:alpha val="35000"/>
              </a:srgbClr>
            </a:outerShdw>
          </a:effectLst>
        </p:spPr>
      </p:sp>
      <p:sp>
        <p:nvSpPr>
          <p:cNvPr id="14" name="Shape 12"/>
          <p:cNvSpPr/>
          <p:nvPr/>
        </p:nvSpPr>
        <p:spPr>
          <a:xfrm>
            <a:off x="6812280" y="3282696"/>
            <a:ext cx="402336" cy="402336"/>
          </a:xfrm>
          <a:prstGeom prst="ellipse">
            <a:avLst/>
          </a:prstGeom>
          <a:solidFill>
            <a:srgbClr val="3B82F6">
              <a:alpha val="55000"/>
            </a:srgbClr>
          </a:solidFill>
          <a:ln/>
        </p:spPr>
      </p:sp>
      <p:sp>
        <p:nvSpPr>
          <p:cNvPr id="15" name="Text 13"/>
          <p:cNvSpPr/>
          <p:nvPr/>
        </p:nvSpPr>
        <p:spPr>
          <a:xfrm>
            <a:off x="6812280" y="3264408"/>
            <a:ext cx="402336" cy="402336"/>
          </a:xfrm>
          <a:prstGeom prst="rect">
            <a:avLst/>
          </a:prstGeom>
          <a:noFill/>
          <a:ln/>
        </p:spPr>
        <p:txBody>
          <a:bodyPr wrap="square" lIns="0" tIns="0" rIns="0" bIns="0" rtlCol="0" anchor="ctr"/>
          <a:lstStyle/>
          <a:p>
            <a:pPr algn="ctr" indent="0" marL="0">
              <a:buNone/>
            </a:pPr>
            <a:r>
              <a:rPr lang="en-US" sz="1500" b="1" dirty="0">
                <a:solidFill>
                  <a:srgbClr val="F8FAFC"/>
                </a:solidFill>
                <a:latin typeface="Outfit" pitchFamily="34" charset="0"/>
                <a:ea typeface="Outfit" pitchFamily="34" charset="-122"/>
                <a:cs typeface="Outfit" pitchFamily="34" charset="-120"/>
              </a:rPr>
              <a:t>2</a:t>
            </a:r>
            <a:endParaRPr lang="en-US" sz="1500" dirty="0"/>
          </a:p>
        </p:txBody>
      </p:sp>
      <p:sp>
        <p:nvSpPr>
          <p:cNvPr id="16" name="Shape 14"/>
          <p:cNvSpPr/>
          <p:nvPr/>
        </p:nvSpPr>
        <p:spPr>
          <a:xfrm>
            <a:off x="7406640" y="3273552"/>
            <a:ext cx="2103120" cy="182880"/>
          </a:xfrm>
          <a:prstGeom prst="roundRect">
            <a:avLst>
              <a:gd name="adj" fmla="val 50000"/>
            </a:avLst>
          </a:prstGeom>
          <a:solidFill>
            <a:srgbClr val="334155">
              <a:alpha val="60000"/>
            </a:srgbClr>
          </a:solidFill>
          <a:ln/>
        </p:spPr>
      </p:sp>
      <p:sp>
        <p:nvSpPr>
          <p:cNvPr id="17" name="Shape 15"/>
          <p:cNvSpPr/>
          <p:nvPr/>
        </p:nvSpPr>
        <p:spPr>
          <a:xfrm>
            <a:off x="7406640" y="3547872"/>
            <a:ext cx="1554480" cy="128016"/>
          </a:xfrm>
          <a:prstGeom prst="roundRect">
            <a:avLst>
              <a:gd name="adj" fmla="val 50000"/>
            </a:avLst>
          </a:prstGeom>
          <a:solidFill>
            <a:srgbClr val="334155">
              <a:alpha val="45000"/>
            </a:srgbClr>
          </a:solidFill>
          <a:ln/>
        </p:spPr>
      </p:sp>
      <p:sp>
        <p:nvSpPr>
          <p:cNvPr id="18" name="Shape 16"/>
          <p:cNvSpPr/>
          <p:nvPr/>
        </p:nvSpPr>
        <p:spPr>
          <a:xfrm>
            <a:off x="6583680" y="4069080"/>
            <a:ext cx="4389120" cy="749808"/>
          </a:xfrm>
          <a:prstGeom prst="roundRect">
            <a:avLst>
              <a:gd name="adj" fmla="val 14634"/>
            </a:avLst>
          </a:prstGeom>
          <a:solidFill>
            <a:srgbClr val="243146">
              <a:alpha val="94000"/>
            </a:srgbClr>
          </a:solidFill>
          <a:ln w="9525">
            <a:solidFill>
              <a:srgbClr val="334155">
                <a:alpha val="65000"/>
              </a:srgbClr>
            </a:solidFill>
            <a:prstDash val="solid"/>
          </a:ln>
          <a:effectLst>
            <a:outerShdw sx="100000" sy="100000" kx="0" ky="0" algn="bl" rotWithShape="0" blurRad="127000" dist="38100" dir="5400000">
              <a:srgbClr val="000000">
                <a:alpha val="35000"/>
              </a:srgbClr>
            </a:outerShdw>
          </a:effectLst>
        </p:spPr>
      </p:sp>
      <p:sp>
        <p:nvSpPr>
          <p:cNvPr id="19" name="Shape 17"/>
          <p:cNvSpPr/>
          <p:nvPr/>
        </p:nvSpPr>
        <p:spPr>
          <a:xfrm>
            <a:off x="6812280" y="4242816"/>
            <a:ext cx="402336" cy="402336"/>
          </a:xfrm>
          <a:prstGeom prst="ellipse">
            <a:avLst/>
          </a:prstGeom>
          <a:solidFill>
            <a:srgbClr val="3B82F6">
              <a:alpha val="55000"/>
            </a:srgbClr>
          </a:solidFill>
          <a:ln/>
        </p:spPr>
      </p:sp>
      <p:sp>
        <p:nvSpPr>
          <p:cNvPr id="20" name="Text 18"/>
          <p:cNvSpPr/>
          <p:nvPr/>
        </p:nvSpPr>
        <p:spPr>
          <a:xfrm>
            <a:off x="6812280" y="4224528"/>
            <a:ext cx="402336" cy="402336"/>
          </a:xfrm>
          <a:prstGeom prst="rect">
            <a:avLst/>
          </a:prstGeom>
          <a:noFill/>
          <a:ln/>
        </p:spPr>
        <p:txBody>
          <a:bodyPr wrap="square" lIns="0" tIns="0" rIns="0" bIns="0" rtlCol="0" anchor="ctr"/>
          <a:lstStyle/>
          <a:p>
            <a:pPr algn="ctr" indent="0" marL="0">
              <a:buNone/>
            </a:pPr>
            <a:r>
              <a:rPr lang="en-US" sz="1500" b="1" dirty="0">
                <a:solidFill>
                  <a:srgbClr val="F8FAFC"/>
                </a:solidFill>
                <a:latin typeface="Outfit" pitchFamily="34" charset="0"/>
                <a:ea typeface="Outfit" pitchFamily="34" charset="-122"/>
                <a:cs typeface="Outfit" pitchFamily="34" charset="-120"/>
              </a:rPr>
              <a:t>3</a:t>
            </a:r>
            <a:endParaRPr lang="en-US" sz="1500" dirty="0"/>
          </a:p>
        </p:txBody>
      </p:sp>
      <p:sp>
        <p:nvSpPr>
          <p:cNvPr id="21" name="Shape 19"/>
          <p:cNvSpPr/>
          <p:nvPr/>
        </p:nvSpPr>
        <p:spPr>
          <a:xfrm>
            <a:off x="7406640" y="4233672"/>
            <a:ext cx="1828800" cy="182880"/>
          </a:xfrm>
          <a:prstGeom prst="roundRect">
            <a:avLst>
              <a:gd name="adj" fmla="val 50000"/>
            </a:avLst>
          </a:prstGeom>
          <a:solidFill>
            <a:srgbClr val="334155">
              <a:alpha val="60000"/>
            </a:srgbClr>
          </a:solidFill>
          <a:ln/>
        </p:spPr>
      </p:sp>
      <p:sp>
        <p:nvSpPr>
          <p:cNvPr id="22" name="Shape 20"/>
          <p:cNvSpPr/>
          <p:nvPr/>
        </p:nvSpPr>
        <p:spPr>
          <a:xfrm>
            <a:off x="7406640" y="4507992"/>
            <a:ext cx="1554480" cy="128016"/>
          </a:xfrm>
          <a:prstGeom prst="roundRect">
            <a:avLst>
              <a:gd name="adj" fmla="val 50000"/>
            </a:avLst>
          </a:prstGeom>
          <a:solidFill>
            <a:srgbClr val="334155">
              <a:alpha val="45000"/>
            </a:srgbClr>
          </a:solidFill>
          <a:ln/>
        </p:spPr>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822960" y="777240"/>
            <a:ext cx="6400800" cy="292608"/>
          </a:xfrm>
          <a:prstGeom prst="rect">
            <a:avLst/>
          </a:prstGeom>
          <a:noFill/>
          <a:ln/>
        </p:spPr>
        <p:txBody>
          <a:bodyPr wrap="square" lIns="0" tIns="0" rIns="0" bIns="0" rtlCol="0" anchor="ctr"/>
          <a:lstStyle/>
          <a:p>
            <a:pPr algn="l" indent="0" marL="0">
              <a:buNone/>
            </a:pPr>
            <a:r>
              <a:rPr lang="en-US" sz="1100" b="1" spc="300" kern="0" dirty="0">
                <a:solidFill>
                  <a:srgbClr val="38BDF8"/>
                </a:solidFill>
                <a:latin typeface="Inter" pitchFamily="34" charset="0"/>
                <a:ea typeface="Inter" pitchFamily="34" charset="-122"/>
                <a:cs typeface="Inter" pitchFamily="34" charset="-120"/>
              </a:rPr>
              <a:t>PART ONE  ·  YOUR BOOK</a:t>
            </a:r>
            <a:endParaRPr lang="en-US" sz="1100" dirty="0"/>
          </a:p>
        </p:txBody>
      </p:sp>
      <p:sp>
        <p:nvSpPr>
          <p:cNvPr id="3" name="Text 1"/>
          <p:cNvSpPr/>
          <p:nvPr/>
        </p:nvSpPr>
        <p:spPr>
          <a:xfrm>
            <a:off x="795528" y="1188720"/>
            <a:ext cx="6400800" cy="914400"/>
          </a:xfrm>
          <a:prstGeom prst="rect">
            <a:avLst/>
          </a:prstGeom>
          <a:noFill/>
          <a:ln/>
        </p:spPr>
        <p:txBody>
          <a:bodyPr wrap="square" lIns="0" tIns="0" rIns="0" bIns="0" rtlCol="0" anchor="ctr"/>
          <a:lstStyle/>
          <a:p>
            <a:pPr algn="l" indent="0" marL="0">
              <a:lnSpc>
                <a:spcPct val="104000"/>
              </a:lnSpc>
              <a:buNone/>
            </a:pPr>
            <a:r>
              <a:rPr lang="en-US" sz="3600" b="1" dirty="0">
                <a:solidFill>
                  <a:srgbClr val="F8FAFC"/>
                </a:solidFill>
                <a:latin typeface="Outfit" pitchFamily="34" charset="0"/>
                <a:ea typeface="Outfit" pitchFamily="34" charset="-122"/>
                <a:cs typeface="Outfit" pitchFamily="34" charset="-120"/>
              </a:rPr>
              <a:t>Your website is your book.</a:t>
            </a:r>
            <a:endParaRPr lang="en-US" sz="3600" dirty="0"/>
          </a:p>
        </p:txBody>
      </p:sp>
      <p:sp>
        <p:nvSpPr>
          <p:cNvPr id="4" name="Shape 2"/>
          <p:cNvSpPr/>
          <p:nvPr/>
        </p:nvSpPr>
        <p:spPr>
          <a:xfrm>
            <a:off x="822960" y="2368296"/>
            <a:ext cx="566928" cy="566928"/>
          </a:xfrm>
          <a:prstGeom prst="ellipse">
            <a:avLst/>
          </a:prstGeom>
          <a:solidFill>
            <a:srgbClr val="243146">
              <a:alpha val="90000"/>
            </a:srgbClr>
          </a:solidFill>
          <a:ln w="9525">
            <a:solidFill>
              <a:srgbClr val="334155">
                <a:alpha val="70000"/>
              </a:srgbClr>
            </a:solidFill>
            <a:prstDash val="solid"/>
          </a:ln>
        </p:spPr>
      </p:sp>
      <p:pic>
        <p:nvPicPr>
          <p:cNvPr id="5" name="Image 0" descr="preencoded.png">    </p:cNvPr>
          <p:cNvPicPr>
            <a:picLocks noChangeAspect="1"/>
          </p:cNvPicPr>
          <p:nvPr/>
        </p:nvPicPr>
        <p:blipFill>
          <a:blip r:embed="rId2"/>
          <a:stretch>
            <a:fillRect/>
          </a:stretch>
        </p:blipFill>
        <p:spPr>
          <a:xfrm>
            <a:off x="970361" y="2515697"/>
            <a:ext cx="272125" cy="272125"/>
          </a:xfrm>
          <a:prstGeom prst="rect">
            <a:avLst/>
          </a:prstGeom>
        </p:spPr>
      </p:pic>
      <p:sp>
        <p:nvSpPr>
          <p:cNvPr id="6" name="Text 3"/>
          <p:cNvSpPr/>
          <p:nvPr/>
        </p:nvSpPr>
        <p:spPr>
          <a:xfrm>
            <a:off x="1627632" y="2313432"/>
            <a:ext cx="5230368" cy="329184"/>
          </a:xfrm>
          <a:prstGeom prst="rect">
            <a:avLst/>
          </a:prstGeom>
          <a:noFill/>
          <a:ln/>
        </p:spPr>
        <p:txBody>
          <a:bodyPr wrap="square" lIns="0" tIns="0" rIns="0" bIns="0" rtlCol="0" anchor="ctr"/>
          <a:lstStyle/>
          <a:p>
            <a:pPr indent="0" marL="0">
              <a:buNone/>
            </a:pPr>
            <a:r>
              <a:rPr lang="en-US" sz="1650" b="1" dirty="0">
                <a:solidFill>
                  <a:srgbClr val="F8FAFC"/>
                </a:solidFill>
                <a:latin typeface="Outfit" pitchFamily="34" charset="0"/>
                <a:ea typeface="Outfit" pitchFamily="34" charset="-122"/>
                <a:cs typeface="Outfit" pitchFamily="34" charset="-120"/>
              </a:rPr>
              <a:t>The cover</a:t>
            </a:r>
            <a:endParaRPr lang="en-US" sz="1650" dirty="0"/>
          </a:p>
        </p:txBody>
      </p:sp>
      <p:sp>
        <p:nvSpPr>
          <p:cNvPr id="7" name="Text 4"/>
          <p:cNvSpPr/>
          <p:nvPr/>
        </p:nvSpPr>
        <p:spPr>
          <a:xfrm>
            <a:off x="1627632" y="2642616"/>
            <a:ext cx="5230368" cy="685800"/>
          </a:xfrm>
          <a:prstGeom prst="rect">
            <a:avLst/>
          </a:prstGeom>
          <a:noFill/>
          <a:ln/>
        </p:spPr>
        <p:txBody>
          <a:bodyPr wrap="square" lIns="0" tIns="0" rIns="0" bIns="0" rtlCol="0" anchor="t"/>
          <a:lstStyle/>
          <a:p>
            <a:pPr indent="0" marL="0">
              <a:lnSpc>
                <a:spcPct val="120000"/>
              </a:lnSpc>
              <a:buNone/>
            </a:pPr>
            <a:r>
              <a:rPr lang="en-US" sz="1300" dirty="0">
                <a:solidFill>
                  <a:srgbClr val="94A3B8"/>
                </a:solidFill>
                <a:latin typeface="Inter" pitchFamily="34" charset="0"/>
                <a:ea typeface="Inter" pitchFamily="34" charset="-122"/>
                <a:cs typeface="Inter" pitchFamily="34" charset="-120"/>
              </a:rPr>
              <a:t>Says what you do and where you do it. A vague cover never gets opened.</a:t>
            </a:r>
            <a:endParaRPr lang="en-US" sz="1300" dirty="0"/>
          </a:p>
        </p:txBody>
      </p:sp>
      <p:sp>
        <p:nvSpPr>
          <p:cNvPr id="8" name="Shape 5"/>
          <p:cNvSpPr/>
          <p:nvPr/>
        </p:nvSpPr>
        <p:spPr>
          <a:xfrm>
            <a:off x="822960" y="3511296"/>
            <a:ext cx="566928" cy="566928"/>
          </a:xfrm>
          <a:prstGeom prst="ellipse">
            <a:avLst/>
          </a:prstGeom>
          <a:solidFill>
            <a:srgbClr val="243146">
              <a:alpha val="90000"/>
            </a:srgbClr>
          </a:solidFill>
          <a:ln w="9525">
            <a:solidFill>
              <a:srgbClr val="334155">
                <a:alpha val="70000"/>
              </a:srgbClr>
            </a:solidFill>
            <a:prstDash val="solid"/>
          </a:ln>
        </p:spPr>
      </p:sp>
      <p:pic>
        <p:nvPicPr>
          <p:cNvPr id="9" name="Image 1" descr="preencoded.png">    </p:cNvPr>
          <p:cNvPicPr>
            <a:picLocks noChangeAspect="1"/>
          </p:cNvPicPr>
          <p:nvPr/>
        </p:nvPicPr>
        <p:blipFill>
          <a:blip r:embed="rId3"/>
          <a:stretch>
            <a:fillRect/>
          </a:stretch>
        </p:blipFill>
        <p:spPr>
          <a:xfrm>
            <a:off x="970361" y="3658697"/>
            <a:ext cx="272125" cy="272125"/>
          </a:xfrm>
          <a:prstGeom prst="rect">
            <a:avLst/>
          </a:prstGeom>
        </p:spPr>
      </p:pic>
      <p:sp>
        <p:nvSpPr>
          <p:cNvPr id="10" name="Text 6"/>
          <p:cNvSpPr/>
          <p:nvPr/>
        </p:nvSpPr>
        <p:spPr>
          <a:xfrm>
            <a:off x="1627632" y="3456432"/>
            <a:ext cx="5230368" cy="329184"/>
          </a:xfrm>
          <a:prstGeom prst="rect">
            <a:avLst/>
          </a:prstGeom>
          <a:noFill/>
          <a:ln/>
        </p:spPr>
        <p:txBody>
          <a:bodyPr wrap="square" lIns="0" tIns="0" rIns="0" bIns="0" rtlCol="0" anchor="ctr"/>
          <a:lstStyle/>
          <a:p>
            <a:pPr indent="0" marL="0">
              <a:buNone/>
            </a:pPr>
            <a:r>
              <a:rPr lang="en-US" sz="1650" b="1" dirty="0">
                <a:solidFill>
                  <a:srgbClr val="F8FAFC"/>
                </a:solidFill>
                <a:latin typeface="Outfit" pitchFamily="34" charset="0"/>
                <a:ea typeface="Outfit" pitchFamily="34" charset="-122"/>
                <a:cs typeface="Outfit" pitchFamily="34" charset="-120"/>
              </a:rPr>
              <a:t>The chapters</a:t>
            </a:r>
            <a:endParaRPr lang="en-US" sz="1650" dirty="0"/>
          </a:p>
        </p:txBody>
      </p:sp>
      <p:sp>
        <p:nvSpPr>
          <p:cNvPr id="11" name="Text 7"/>
          <p:cNvSpPr/>
          <p:nvPr/>
        </p:nvSpPr>
        <p:spPr>
          <a:xfrm>
            <a:off x="1627632" y="3785616"/>
            <a:ext cx="5230368" cy="685800"/>
          </a:xfrm>
          <a:prstGeom prst="rect">
            <a:avLst/>
          </a:prstGeom>
          <a:noFill/>
          <a:ln/>
        </p:spPr>
        <p:txBody>
          <a:bodyPr wrap="square" lIns="0" tIns="0" rIns="0" bIns="0" rtlCol="0" anchor="t"/>
          <a:lstStyle/>
          <a:p>
            <a:pPr indent="0" marL="0">
              <a:lnSpc>
                <a:spcPct val="120000"/>
              </a:lnSpc>
              <a:buNone/>
            </a:pPr>
            <a:r>
              <a:rPr lang="en-US" sz="1300" dirty="0">
                <a:solidFill>
                  <a:srgbClr val="94A3B8"/>
                </a:solidFill>
                <a:latin typeface="Inter" pitchFamily="34" charset="0"/>
                <a:ea typeface="Inter" pitchFamily="34" charset="-122"/>
                <a:cs typeface="Inter" pitchFamily="34" charset="-120"/>
              </a:rPr>
              <a:t>Pages that answer the questions customers actually ask. One page per question.</a:t>
            </a:r>
            <a:endParaRPr lang="en-US" sz="1300" dirty="0"/>
          </a:p>
        </p:txBody>
      </p:sp>
      <p:sp>
        <p:nvSpPr>
          <p:cNvPr id="12" name="Shape 8"/>
          <p:cNvSpPr/>
          <p:nvPr/>
        </p:nvSpPr>
        <p:spPr>
          <a:xfrm>
            <a:off x="822960" y="4654296"/>
            <a:ext cx="566928" cy="566928"/>
          </a:xfrm>
          <a:prstGeom prst="ellipse">
            <a:avLst/>
          </a:prstGeom>
          <a:solidFill>
            <a:srgbClr val="243146">
              <a:alpha val="90000"/>
            </a:srgbClr>
          </a:solidFill>
          <a:ln w="9525">
            <a:solidFill>
              <a:srgbClr val="334155">
                <a:alpha val="70000"/>
              </a:srgbClr>
            </a:solidFill>
            <a:prstDash val="solid"/>
          </a:ln>
        </p:spPr>
      </p:sp>
      <p:pic>
        <p:nvPicPr>
          <p:cNvPr id="13" name="Image 2" descr="preencoded.png">    </p:cNvPr>
          <p:cNvPicPr>
            <a:picLocks noChangeAspect="1"/>
          </p:cNvPicPr>
          <p:nvPr/>
        </p:nvPicPr>
        <p:blipFill>
          <a:blip r:embed="rId4"/>
          <a:stretch>
            <a:fillRect/>
          </a:stretch>
        </p:blipFill>
        <p:spPr>
          <a:xfrm>
            <a:off x="970361" y="4801697"/>
            <a:ext cx="272125" cy="272125"/>
          </a:xfrm>
          <a:prstGeom prst="rect">
            <a:avLst/>
          </a:prstGeom>
        </p:spPr>
      </p:pic>
      <p:sp>
        <p:nvSpPr>
          <p:cNvPr id="14" name="Text 9"/>
          <p:cNvSpPr/>
          <p:nvPr/>
        </p:nvSpPr>
        <p:spPr>
          <a:xfrm>
            <a:off x="1627632" y="4599432"/>
            <a:ext cx="5230368" cy="329184"/>
          </a:xfrm>
          <a:prstGeom prst="rect">
            <a:avLst/>
          </a:prstGeom>
          <a:noFill/>
          <a:ln/>
        </p:spPr>
        <p:txBody>
          <a:bodyPr wrap="square" lIns="0" tIns="0" rIns="0" bIns="0" rtlCol="0" anchor="ctr"/>
          <a:lstStyle/>
          <a:p>
            <a:pPr indent="0" marL="0">
              <a:buNone/>
            </a:pPr>
            <a:r>
              <a:rPr lang="en-US" sz="1650" b="1" dirty="0">
                <a:solidFill>
                  <a:srgbClr val="F8FAFC"/>
                </a:solidFill>
                <a:latin typeface="Outfit" pitchFamily="34" charset="0"/>
                <a:ea typeface="Outfit" pitchFamily="34" charset="-122"/>
                <a:cs typeface="Outfit" pitchFamily="34" charset="-120"/>
              </a:rPr>
              <a:t>More than a business card</a:t>
            </a:r>
            <a:endParaRPr lang="en-US" sz="1650" dirty="0"/>
          </a:p>
        </p:txBody>
      </p:sp>
      <p:sp>
        <p:nvSpPr>
          <p:cNvPr id="15" name="Text 10"/>
          <p:cNvSpPr/>
          <p:nvPr/>
        </p:nvSpPr>
        <p:spPr>
          <a:xfrm>
            <a:off x="1627632" y="4928616"/>
            <a:ext cx="5230368" cy="685800"/>
          </a:xfrm>
          <a:prstGeom prst="rect">
            <a:avLst/>
          </a:prstGeom>
          <a:noFill/>
          <a:ln/>
        </p:spPr>
        <p:txBody>
          <a:bodyPr wrap="square" lIns="0" tIns="0" rIns="0" bIns="0" rtlCol="0" anchor="t"/>
          <a:lstStyle/>
          <a:p>
            <a:pPr indent="0" marL="0">
              <a:lnSpc>
                <a:spcPct val="120000"/>
              </a:lnSpc>
              <a:buNone/>
            </a:pPr>
            <a:r>
              <a:rPr lang="en-US" sz="1300" dirty="0">
                <a:solidFill>
                  <a:srgbClr val="94A3B8"/>
                </a:solidFill>
                <a:latin typeface="Inter" pitchFamily="34" charset="0"/>
                <a:ea typeface="Inter" pitchFamily="34" charset="-122"/>
                <a:cs typeface="Inter" pitchFamily="34" charset="-120"/>
              </a:rPr>
              <a:t>A one page site is a card on a shelf. Librarians recommend books.</a:t>
            </a:r>
            <a:endParaRPr lang="en-US" sz="1300" dirty="0"/>
          </a:p>
        </p:txBody>
      </p:sp>
      <p:sp>
        <p:nvSpPr>
          <p:cNvPr id="16" name="Shape 11"/>
          <p:cNvSpPr/>
          <p:nvPr/>
        </p:nvSpPr>
        <p:spPr>
          <a:xfrm>
            <a:off x="7589520" y="1371600"/>
            <a:ext cx="3566160" cy="4297680"/>
          </a:xfrm>
          <a:prstGeom prst="roundRect">
            <a:avLst>
              <a:gd name="adj" fmla="val 3077"/>
            </a:avLst>
          </a:prstGeom>
          <a:solidFill>
            <a:srgbClr val="1E293B">
              <a:alpha val="92000"/>
            </a:srgbClr>
          </a:solidFill>
          <a:ln w="9525">
            <a:solidFill>
              <a:srgbClr val="334155">
                <a:alpha val="65000"/>
              </a:srgbClr>
            </a:solidFill>
            <a:prstDash val="solid"/>
          </a:ln>
          <a:effectLst>
            <a:outerShdw sx="100000" sy="100000" kx="0" ky="0" algn="bl" rotWithShape="0" blurRad="127000" dist="38100" dir="5400000">
              <a:srgbClr val="000000">
                <a:alpha val="35000"/>
              </a:srgbClr>
            </a:outerShdw>
          </a:effectLst>
        </p:spPr>
      </p:sp>
      <p:sp>
        <p:nvSpPr>
          <p:cNvPr id="17" name="Shape 12"/>
          <p:cNvSpPr/>
          <p:nvPr/>
        </p:nvSpPr>
        <p:spPr>
          <a:xfrm>
            <a:off x="7589520" y="1371600"/>
            <a:ext cx="256032" cy="4297680"/>
          </a:xfrm>
          <a:prstGeom prst="rect">
            <a:avLst/>
          </a:prstGeom>
          <a:solidFill>
            <a:srgbClr val="3B82F6"/>
          </a:solidFill>
          <a:ln/>
        </p:spPr>
      </p:sp>
      <p:sp>
        <p:nvSpPr>
          <p:cNvPr id="18" name="Text 13"/>
          <p:cNvSpPr/>
          <p:nvPr/>
        </p:nvSpPr>
        <p:spPr>
          <a:xfrm>
            <a:off x="8092440" y="2103120"/>
            <a:ext cx="2834640" cy="365760"/>
          </a:xfrm>
          <a:prstGeom prst="rect">
            <a:avLst/>
          </a:prstGeom>
          <a:noFill/>
          <a:ln/>
        </p:spPr>
        <p:txBody>
          <a:bodyPr wrap="square" lIns="0" tIns="0" rIns="0" bIns="0" rtlCol="0" anchor="ctr"/>
          <a:lstStyle/>
          <a:p>
            <a:pPr indent="0" marL="0">
              <a:buNone/>
            </a:pPr>
            <a:r>
              <a:rPr lang="en-US" sz="1700" b="1" dirty="0">
                <a:solidFill>
                  <a:srgbClr val="F8FAFC"/>
                </a:solidFill>
                <a:latin typeface="Outfit" pitchFamily="34" charset="0"/>
                <a:ea typeface="Outfit" pitchFamily="34" charset="-122"/>
                <a:cs typeface="Outfit" pitchFamily="34" charset="-120"/>
              </a:rPr>
              <a:t>YOUR BUSINESS</a:t>
            </a:r>
            <a:endParaRPr lang="en-US" sz="1700" dirty="0"/>
          </a:p>
        </p:txBody>
      </p:sp>
      <p:sp>
        <p:nvSpPr>
          <p:cNvPr id="19" name="Text 14"/>
          <p:cNvSpPr/>
          <p:nvPr/>
        </p:nvSpPr>
        <p:spPr>
          <a:xfrm>
            <a:off x="8092440" y="2514600"/>
            <a:ext cx="2834640" cy="274320"/>
          </a:xfrm>
          <a:prstGeom prst="rect">
            <a:avLst/>
          </a:prstGeom>
          <a:noFill/>
          <a:ln/>
        </p:spPr>
        <p:txBody>
          <a:bodyPr wrap="square" lIns="0" tIns="0" rIns="0" bIns="0" rtlCol="0" anchor="ctr"/>
          <a:lstStyle/>
          <a:p>
            <a:pPr indent="0" marL="0">
              <a:buNone/>
            </a:pPr>
            <a:r>
              <a:rPr lang="en-US" sz="1150" dirty="0">
                <a:solidFill>
                  <a:srgbClr val="38BDF8"/>
                </a:solidFill>
                <a:latin typeface="Inter" pitchFamily="34" charset="0"/>
                <a:ea typeface="Inter" pitchFamily="34" charset="-122"/>
                <a:cs typeface="Inter" pitchFamily="34" charset="-120"/>
              </a:rPr>
              <a:t>what you do  ·  where you are</a:t>
            </a:r>
            <a:endParaRPr lang="en-US" sz="1150" dirty="0"/>
          </a:p>
        </p:txBody>
      </p:sp>
      <p:sp>
        <p:nvSpPr>
          <p:cNvPr id="20" name="Shape 15"/>
          <p:cNvSpPr/>
          <p:nvPr/>
        </p:nvSpPr>
        <p:spPr>
          <a:xfrm>
            <a:off x="8092440" y="3200400"/>
            <a:ext cx="2651760" cy="146304"/>
          </a:xfrm>
          <a:prstGeom prst="roundRect">
            <a:avLst>
              <a:gd name="adj" fmla="val 50000"/>
            </a:avLst>
          </a:prstGeom>
          <a:solidFill>
            <a:srgbClr val="334155">
              <a:alpha val="60000"/>
            </a:srgbClr>
          </a:solidFill>
          <a:ln/>
        </p:spPr>
      </p:sp>
      <p:sp>
        <p:nvSpPr>
          <p:cNvPr id="21" name="Shape 16"/>
          <p:cNvSpPr/>
          <p:nvPr/>
        </p:nvSpPr>
        <p:spPr>
          <a:xfrm>
            <a:off x="8092440" y="3493008"/>
            <a:ext cx="2286000" cy="146304"/>
          </a:xfrm>
          <a:prstGeom prst="roundRect">
            <a:avLst>
              <a:gd name="adj" fmla="val 50000"/>
            </a:avLst>
          </a:prstGeom>
          <a:solidFill>
            <a:srgbClr val="334155">
              <a:alpha val="60000"/>
            </a:srgbClr>
          </a:solidFill>
          <a:ln/>
        </p:spPr>
      </p:sp>
      <p:sp>
        <p:nvSpPr>
          <p:cNvPr id="22" name="Shape 17"/>
          <p:cNvSpPr/>
          <p:nvPr/>
        </p:nvSpPr>
        <p:spPr>
          <a:xfrm>
            <a:off x="8092440" y="3785616"/>
            <a:ext cx="2560320" cy="146304"/>
          </a:xfrm>
          <a:prstGeom prst="roundRect">
            <a:avLst>
              <a:gd name="adj" fmla="val 50000"/>
            </a:avLst>
          </a:prstGeom>
          <a:solidFill>
            <a:srgbClr val="334155">
              <a:alpha val="60000"/>
            </a:srgbClr>
          </a:solidFill>
          <a:ln/>
        </p:spPr>
      </p:sp>
      <p:sp>
        <p:nvSpPr>
          <p:cNvPr id="23" name="Shape 18"/>
          <p:cNvSpPr/>
          <p:nvPr/>
        </p:nvSpPr>
        <p:spPr>
          <a:xfrm>
            <a:off x="8092440" y="4078224"/>
            <a:ext cx="2011680" cy="146304"/>
          </a:xfrm>
          <a:prstGeom prst="roundRect">
            <a:avLst>
              <a:gd name="adj" fmla="val 50000"/>
            </a:avLst>
          </a:prstGeom>
          <a:solidFill>
            <a:srgbClr val="334155">
              <a:alpha val="60000"/>
            </a:srgbClr>
          </a:solidFill>
          <a:ln/>
        </p:spPr>
      </p:sp>
      <p:sp>
        <p:nvSpPr>
          <p:cNvPr id="24" name="Shape 19"/>
          <p:cNvSpPr/>
          <p:nvPr/>
        </p:nvSpPr>
        <p:spPr>
          <a:xfrm>
            <a:off x="8092440" y="4370832"/>
            <a:ext cx="2377440" cy="146304"/>
          </a:xfrm>
          <a:prstGeom prst="roundRect">
            <a:avLst>
              <a:gd name="adj" fmla="val 50000"/>
            </a:avLst>
          </a:prstGeom>
          <a:solidFill>
            <a:srgbClr val="334155">
              <a:alpha val="60000"/>
            </a:srgbClr>
          </a:solidFill>
          <a:ln/>
        </p:spPr>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822960" y="777240"/>
            <a:ext cx="6400800" cy="292608"/>
          </a:xfrm>
          <a:prstGeom prst="rect">
            <a:avLst/>
          </a:prstGeom>
          <a:noFill/>
          <a:ln/>
        </p:spPr>
        <p:txBody>
          <a:bodyPr wrap="square" lIns="0" tIns="0" rIns="0" bIns="0" rtlCol="0" anchor="ctr"/>
          <a:lstStyle/>
          <a:p>
            <a:pPr algn="l" indent="0" marL="0">
              <a:buNone/>
            </a:pPr>
            <a:r>
              <a:rPr lang="en-US" sz="1100" b="1" spc="300" kern="0" dirty="0">
                <a:solidFill>
                  <a:srgbClr val="38BDF8"/>
                </a:solidFill>
                <a:latin typeface="Inter" pitchFamily="34" charset="0"/>
                <a:ea typeface="Inter" pitchFamily="34" charset="-122"/>
                <a:cs typeface="Inter" pitchFamily="34" charset="-120"/>
              </a:rPr>
              <a:t>PART TWO  ·  YOUR FLYERS</a:t>
            </a:r>
            <a:endParaRPr lang="en-US" sz="1100" dirty="0"/>
          </a:p>
        </p:txBody>
      </p:sp>
      <p:sp>
        <p:nvSpPr>
          <p:cNvPr id="3" name="Text 1"/>
          <p:cNvSpPr/>
          <p:nvPr/>
        </p:nvSpPr>
        <p:spPr>
          <a:xfrm>
            <a:off x="795528" y="1188720"/>
            <a:ext cx="6766560" cy="914400"/>
          </a:xfrm>
          <a:prstGeom prst="rect">
            <a:avLst/>
          </a:prstGeom>
          <a:noFill/>
          <a:ln/>
        </p:spPr>
        <p:txBody>
          <a:bodyPr wrap="square" lIns="0" tIns="0" rIns="0" bIns="0" rtlCol="0" anchor="ctr"/>
          <a:lstStyle/>
          <a:p>
            <a:pPr algn="l" indent="0" marL="0">
              <a:lnSpc>
                <a:spcPct val="104000"/>
              </a:lnSpc>
              <a:buNone/>
            </a:pPr>
            <a:r>
              <a:rPr lang="en-US" sz="3400" b="1" dirty="0">
                <a:solidFill>
                  <a:srgbClr val="F8FAFC"/>
                </a:solidFill>
                <a:latin typeface="Outfit" pitchFamily="34" charset="0"/>
                <a:ea typeface="Outfit" pitchFamily="34" charset="-122"/>
                <a:cs typeface="Outfit" pitchFamily="34" charset="-120"/>
              </a:rPr>
              <a:t>The flyer: your evidence around town.</a:t>
            </a:r>
            <a:endParaRPr lang="en-US" sz="3400" dirty="0"/>
          </a:p>
        </p:txBody>
      </p:sp>
      <p:sp>
        <p:nvSpPr>
          <p:cNvPr id="4" name="Shape 2"/>
          <p:cNvSpPr/>
          <p:nvPr/>
        </p:nvSpPr>
        <p:spPr>
          <a:xfrm>
            <a:off x="822960" y="2368296"/>
            <a:ext cx="566928" cy="566928"/>
          </a:xfrm>
          <a:prstGeom prst="ellipse">
            <a:avLst/>
          </a:prstGeom>
          <a:solidFill>
            <a:srgbClr val="243146">
              <a:alpha val="90000"/>
            </a:srgbClr>
          </a:solidFill>
          <a:ln w="9525">
            <a:solidFill>
              <a:srgbClr val="334155">
                <a:alpha val="70000"/>
              </a:srgbClr>
            </a:solidFill>
            <a:prstDash val="solid"/>
          </a:ln>
        </p:spPr>
      </p:sp>
      <p:pic>
        <p:nvPicPr>
          <p:cNvPr id="5" name="Image 0" descr="preencoded.png">    </p:cNvPr>
          <p:cNvPicPr>
            <a:picLocks noChangeAspect="1"/>
          </p:cNvPicPr>
          <p:nvPr/>
        </p:nvPicPr>
        <p:blipFill>
          <a:blip r:embed="rId2"/>
          <a:stretch>
            <a:fillRect/>
          </a:stretch>
        </p:blipFill>
        <p:spPr>
          <a:xfrm>
            <a:off x="970361" y="2515697"/>
            <a:ext cx="272125" cy="272125"/>
          </a:xfrm>
          <a:prstGeom prst="rect">
            <a:avLst/>
          </a:prstGeom>
        </p:spPr>
      </p:pic>
      <p:sp>
        <p:nvSpPr>
          <p:cNvPr id="6" name="Text 3"/>
          <p:cNvSpPr/>
          <p:nvPr/>
        </p:nvSpPr>
        <p:spPr>
          <a:xfrm>
            <a:off x="1627632" y="2313432"/>
            <a:ext cx="5047488" cy="329184"/>
          </a:xfrm>
          <a:prstGeom prst="rect">
            <a:avLst/>
          </a:prstGeom>
          <a:noFill/>
          <a:ln/>
        </p:spPr>
        <p:txBody>
          <a:bodyPr wrap="square" lIns="0" tIns="0" rIns="0" bIns="0" rtlCol="0" anchor="ctr"/>
          <a:lstStyle/>
          <a:p>
            <a:pPr indent="0" marL="0">
              <a:buNone/>
            </a:pPr>
            <a:r>
              <a:rPr lang="en-US" sz="1650" b="1" dirty="0">
                <a:solidFill>
                  <a:srgbClr val="F8FAFC"/>
                </a:solidFill>
                <a:latin typeface="Outfit" pitchFamily="34" charset="0"/>
                <a:ea typeface="Outfit" pitchFamily="34" charset="-122"/>
                <a:cs typeface="Outfit" pitchFamily="34" charset="-120"/>
              </a:rPr>
              <a:t>Your listings</a:t>
            </a:r>
            <a:endParaRPr lang="en-US" sz="1650" dirty="0"/>
          </a:p>
        </p:txBody>
      </p:sp>
      <p:sp>
        <p:nvSpPr>
          <p:cNvPr id="7" name="Text 4"/>
          <p:cNvSpPr/>
          <p:nvPr/>
        </p:nvSpPr>
        <p:spPr>
          <a:xfrm>
            <a:off x="1627632" y="2642616"/>
            <a:ext cx="5047488" cy="685800"/>
          </a:xfrm>
          <a:prstGeom prst="rect">
            <a:avLst/>
          </a:prstGeom>
          <a:noFill/>
          <a:ln/>
        </p:spPr>
        <p:txBody>
          <a:bodyPr wrap="square" lIns="0" tIns="0" rIns="0" bIns="0" rtlCol="0" anchor="t"/>
          <a:lstStyle/>
          <a:p>
            <a:pPr indent="0" marL="0">
              <a:lnSpc>
                <a:spcPct val="120000"/>
              </a:lnSpc>
              <a:buNone/>
            </a:pPr>
            <a:r>
              <a:rPr lang="en-US" sz="1300" dirty="0">
                <a:solidFill>
                  <a:srgbClr val="94A3B8"/>
                </a:solidFill>
                <a:latin typeface="Inter" pitchFamily="34" charset="0"/>
                <a:ea typeface="Inter" pitchFamily="34" charset="-122"/>
                <a:cs typeface="Inter" pitchFamily="34" charset="-120"/>
              </a:rPr>
              <a:t>Directories and maps. The catalog cards that prove you exist, and where.</a:t>
            </a:r>
            <a:endParaRPr lang="en-US" sz="1300" dirty="0"/>
          </a:p>
        </p:txBody>
      </p:sp>
      <p:sp>
        <p:nvSpPr>
          <p:cNvPr id="8" name="Shape 5"/>
          <p:cNvSpPr/>
          <p:nvPr/>
        </p:nvSpPr>
        <p:spPr>
          <a:xfrm>
            <a:off x="822960" y="3511296"/>
            <a:ext cx="566928" cy="566928"/>
          </a:xfrm>
          <a:prstGeom prst="ellipse">
            <a:avLst/>
          </a:prstGeom>
          <a:solidFill>
            <a:srgbClr val="243146">
              <a:alpha val="90000"/>
            </a:srgbClr>
          </a:solidFill>
          <a:ln w="9525">
            <a:solidFill>
              <a:srgbClr val="334155">
                <a:alpha val="70000"/>
              </a:srgbClr>
            </a:solidFill>
            <a:prstDash val="solid"/>
          </a:ln>
        </p:spPr>
      </p:sp>
      <p:pic>
        <p:nvPicPr>
          <p:cNvPr id="9" name="Image 1" descr="preencoded.png">    </p:cNvPr>
          <p:cNvPicPr>
            <a:picLocks noChangeAspect="1"/>
          </p:cNvPicPr>
          <p:nvPr/>
        </p:nvPicPr>
        <p:blipFill>
          <a:blip r:embed="rId3"/>
          <a:stretch>
            <a:fillRect/>
          </a:stretch>
        </p:blipFill>
        <p:spPr>
          <a:xfrm>
            <a:off x="970361" y="3658697"/>
            <a:ext cx="272125" cy="272125"/>
          </a:xfrm>
          <a:prstGeom prst="rect">
            <a:avLst/>
          </a:prstGeom>
        </p:spPr>
      </p:pic>
      <p:sp>
        <p:nvSpPr>
          <p:cNvPr id="10" name="Text 6"/>
          <p:cNvSpPr/>
          <p:nvPr/>
        </p:nvSpPr>
        <p:spPr>
          <a:xfrm>
            <a:off x="1627632" y="3456432"/>
            <a:ext cx="5047488" cy="329184"/>
          </a:xfrm>
          <a:prstGeom prst="rect">
            <a:avLst/>
          </a:prstGeom>
          <a:noFill/>
          <a:ln/>
        </p:spPr>
        <p:txBody>
          <a:bodyPr wrap="square" lIns="0" tIns="0" rIns="0" bIns="0" rtlCol="0" anchor="ctr"/>
          <a:lstStyle/>
          <a:p>
            <a:pPr indent="0" marL="0">
              <a:buNone/>
            </a:pPr>
            <a:r>
              <a:rPr lang="en-US" sz="1650" b="1" dirty="0">
                <a:solidFill>
                  <a:srgbClr val="F8FAFC"/>
                </a:solidFill>
                <a:latin typeface="Outfit" pitchFamily="34" charset="0"/>
                <a:ea typeface="Outfit" pitchFamily="34" charset="-122"/>
                <a:cs typeface="Outfit" pitchFamily="34" charset="-120"/>
              </a:rPr>
              <a:t>Others pointing at you</a:t>
            </a:r>
            <a:endParaRPr lang="en-US" sz="1650" dirty="0"/>
          </a:p>
        </p:txBody>
      </p:sp>
      <p:sp>
        <p:nvSpPr>
          <p:cNvPr id="11" name="Text 7"/>
          <p:cNvSpPr/>
          <p:nvPr/>
        </p:nvSpPr>
        <p:spPr>
          <a:xfrm>
            <a:off x="1627632" y="3785616"/>
            <a:ext cx="5047488" cy="685800"/>
          </a:xfrm>
          <a:prstGeom prst="rect">
            <a:avLst/>
          </a:prstGeom>
          <a:noFill/>
          <a:ln/>
        </p:spPr>
        <p:txBody>
          <a:bodyPr wrap="square" lIns="0" tIns="0" rIns="0" bIns="0" rtlCol="0" anchor="t"/>
          <a:lstStyle/>
          <a:p>
            <a:pPr indent="0" marL="0">
              <a:lnSpc>
                <a:spcPct val="120000"/>
              </a:lnSpc>
              <a:buNone/>
            </a:pPr>
            <a:r>
              <a:rPr lang="en-US" sz="1300" dirty="0">
                <a:solidFill>
                  <a:srgbClr val="94A3B8"/>
                </a:solidFill>
                <a:latin typeface="Inter" pitchFamily="34" charset="0"/>
                <a:ea typeface="Inter" pitchFamily="34" charset="-122"/>
                <a:cs typeface="Inter" pitchFamily="34" charset="-120"/>
              </a:rPr>
              <a:t>Websites that reference your book. Public vouching you cannot write yourself.</a:t>
            </a:r>
            <a:endParaRPr lang="en-US" sz="1300" dirty="0"/>
          </a:p>
        </p:txBody>
      </p:sp>
      <p:sp>
        <p:nvSpPr>
          <p:cNvPr id="12" name="Shape 8"/>
          <p:cNvSpPr/>
          <p:nvPr/>
        </p:nvSpPr>
        <p:spPr>
          <a:xfrm>
            <a:off x="822960" y="4654296"/>
            <a:ext cx="566928" cy="566928"/>
          </a:xfrm>
          <a:prstGeom prst="ellipse">
            <a:avLst/>
          </a:prstGeom>
          <a:solidFill>
            <a:srgbClr val="243146">
              <a:alpha val="90000"/>
            </a:srgbClr>
          </a:solidFill>
          <a:ln w="9525">
            <a:solidFill>
              <a:srgbClr val="334155">
                <a:alpha val="70000"/>
              </a:srgbClr>
            </a:solidFill>
            <a:prstDash val="solid"/>
          </a:ln>
        </p:spPr>
      </p:sp>
      <p:pic>
        <p:nvPicPr>
          <p:cNvPr id="13" name="Image 2" descr="preencoded.png">    </p:cNvPr>
          <p:cNvPicPr>
            <a:picLocks noChangeAspect="1"/>
          </p:cNvPicPr>
          <p:nvPr/>
        </p:nvPicPr>
        <p:blipFill>
          <a:blip r:embed="rId4"/>
          <a:stretch>
            <a:fillRect/>
          </a:stretch>
        </p:blipFill>
        <p:spPr>
          <a:xfrm>
            <a:off x="970361" y="4801697"/>
            <a:ext cx="272125" cy="272125"/>
          </a:xfrm>
          <a:prstGeom prst="rect">
            <a:avLst/>
          </a:prstGeom>
        </p:spPr>
      </p:pic>
      <p:sp>
        <p:nvSpPr>
          <p:cNvPr id="14" name="Text 9"/>
          <p:cNvSpPr/>
          <p:nvPr/>
        </p:nvSpPr>
        <p:spPr>
          <a:xfrm>
            <a:off x="1627632" y="4599432"/>
            <a:ext cx="5047488" cy="329184"/>
          </a:xfrm>
          <a:prstGeom prst="rect">
            <a:avLst/>
          </a:prstGeom>
          <a:noFill/>
          <a:ln/>
        </p:spPr>
        <p:txBody>
          <a:bodyPr wrap="square" lIns="0" tIns="0" rIns="0" bIns="0" rtlCol="0" anchor="ctr"/>
          <a:lstStyle/>
          <a:p>
            <a:pPr indent="0" marL="0">
              <a:buNone/>
            </a:pPr>
            <a:r>
              <a:rPr lang="en-US" sz="1650" b="1" dirty="0">
                <a:solidFill>
                  <a:srgbClr val="F8FAFC"/>
                </a:solidFill>
                <a:latin typeface="Outfit" pitchFamily="34" charset="0"/>
                <a:ea typeface="Outfit" pitchFamily="34" charset="-122"/>
                <a:cs typeface="Outfit" pitchFamily="34" charset="-120"/>
              </a:rPr>
              <a:t>What readers say</a:t>
            </a:r>
            <a:endParaRPr lang="en-US" sz="1650" dirty="0"/>
          </a:p>
        </p:txBody>
      </p:sp>
      <p:sp>
        <p:nvSpPr>
          <p:cNvPr id="15" name="Text 10"/>
          <p:cNvSpPr/>
          <p:nvPr/>
        </p:nvSpPr>
        <p:spPr>
          <a:xfrm>
            <a:off x="1627632" y="4928616"/>
            <a:ext cx="5047488" cy="685800"/>
          </a:xfrm>
          <a:prstGeom prst="rect">
            <a:avLst/>
          </a:prstGeom>
          <a:noFill/>
          <a:ln/>
        </p:spPr>
        <p:txBody>
          <a:bodyPr wrap="square" lIns="0" tIns="0" rIns="0" bIns="0" rtlCol="0" anchor="t"/>
          <a:lstStyle/>
          <a:p>
            <a:pPr indent="0" marL="0">
              <a:lnSpc>
                <a:spcPct val="120000"/>
              </a:lnSpc>
              <a:buNone/>
            </a:pPr>
            <a:r>
              <a:rPr lang="en-US" sz="1300" dirty="0">
                <a:solidFill>
                  <a:srgbClr val="94A3B8"/>
                </a:solidFill>
                <a:latin typeface="Inter" pitchFamily="34" charset="0"/>
                <a:ea typeface="Inter" pitchFamily="34" charset="-122"/>
                <a:cs typeface="Inter" pitchFamily="34" charset="-120"/>
              </a:rPr>
              <a:t>Reviews. The librarian reads every single one.</a:t>
            </a:r>
            <a:endParaRPr lang="en-US" sz="1300" dirty="0"/>
          </a:p>
        </p:txBody>
      </p:sp>
      <p:sp>
        <p:nvSpPr>
          <p:cNvPr id="16" name="Shape 11"/>
          <p:cNvSpPr/>
          <p:nvPr/>
        </p:nvSpPr>
        <p:spPr>
          <a:xfrm>
            <a:off x="7223760" y="2148840"/>
            <a:ext cx="4114800" cy="3063240"/>
          </a:xfrm>
          <a:prstGeom prst="roundRect">
            <a:avLst>
              <a:gd name="adj" fmla="val 3582"/>
            </a:avLst>
          </a:prstGeom>
          <a:solidFill>
            <a:srgbClr val="1E293B">
              <a:alpha val="88000"/>
            </a:srgbClr>
          </a:solidFill>
          <a:ln w="9525">
            <a:solidFill>
              <a:srgbClr val="F59E0B">
                <a:alpha val="45000"/>
              </a:srgbClr>
            </a:solidFill>
            <a:prstDash val="solid"/>
          </a:ln>
          <a:effectLst>
            <a:outerShdw sx="100000" sy="100000" kx="0" ky="0" algn="bl" rotWithShape="0" blurRad="127000" dist="38100" dir="5400000">
              <a:srgbClr val="000000">
                <a:alpha val="35000"/>
              </a:srgbClr>
            </a:outerShdw>
          </a:effectLst>
        </p:spPr>
      </p:sp>
      <p:sp>
        <p:nvSpPr>
          <p:cNvPr id="17" name="Shape 12"/>
          <p:cNvSpPr/>
          <p:nvPr/>
        </p:nvSpPr>
        <p:spPr>
          <a:xfrm>
            <a:off x="7543800" y="2487168"/>
            <a:ext cx="621792" cy="621792"/>
          </a:xfrm>
          <a:prstGeom prst="ellipse">
            <a:avLst/>
          </a:prstGeom>
          <a:solidFill>
            <a:srgbClr val="243146">
              <a:alpha val="90000"/>
            </a:srgbClr>
          </a:solidFill>
          <a:ln w="9525">
            <a:solidFill>
              <a:srgbClr val="334155">
                <a:alpha val="70000"/>
              </a:srgbClr>
            </a:solidFill>
            <a:prstDash val="solid"/>
          </a:ln>
        </p:spPr>
      </p:sp>
      <p:pic>
        <p:nvPicPr>
          <p:cNvPr id="18" name="Image 3" descr="preencoded.png">    </p:cNvPr>
          <p:cNvPicPr>
            <a:picLocks noChangeAspect="1"/>
          </p:cNvPicPr>
          <p:nvPr/>
        </p:nvPicPr>
        <p:blipFill>
          <a:blip r:embed="rId5"/>
          <a:stretch>
            <a:fillRect/>
          </a:stretch>
        </p:blipFill>
        <p:spPr>
          <a:xfrm>
            <a:off x="7705466" y="2648834"/>
            <a:ext cx="298460" cy="298460"/>
          </a:xfrm>
          <a:prstGeom prst="rect">
            <a:avLst/>
          </a:prstGeom>
        </p:spPr>
      </p:pic>
      <p:sp>
        <p:nvSpPr>
          <p:cNvPr id="19" name="Text 13"/>
          <p:cNvSpPr/>
          <p:nvPr/>
        </p:nvSpPr>
        <p:spPr>
          <a:xfrm>
            <a:off x="7543800" y="3310128"/>
            <a:ext cx="3474720" cy="685800"/>
          </a:xfrm>
          <a:prstGeom prst="rect">
            <a:avLst/>
          </a:prstGeom>
          <a:noFill/>
          <a:ln/>
        </p:spPr>
        <p:txBody>
          <a:bodyPr wrap="square" lIns="0" tIns="0" rIns="0" bIns="0" rtlCol="0" anchor="ctr"/>
          <a:lstStyle/>
          <a:p>
            <a:pPr indent="0" marL="0">
              <a:lnSpc>
                <a:spcPct val="110000"/>
              </a:lnSpc>
              <a:buNone/>
            </a:pPr>
            <a:r>
              <a:rPr lang="en-US" sz="1700" b="1" dirty="0">
                <a:solidFill>
                  <a:srgbClr val="F8FAFC"/>
                </a:solidFill>
                <a:latin typeface="Outfit" pitchFamily="34" charset="0"/>
                <a:ea typeface="Outfit" pitchFamily="34" charset="-122"/>
                <a:cs typeface="Outfit" pitchFamily="34" charset="-120"/>
              </a:rPr>
              <a:t>One rule: every flyer must match.</a:t>
            </a:r>
            <a:endParaRPr lang="en-US" sz="1700" dirty="0"/>
          </a:p>
        </p:txBody>
      </p:sp>
      <p:sp>
        <p:nvSpPr>
          <p:cNvPr id="20" name="Text 14"/>
          <p:cNvSpPr/>
          <p:nvPr/>
        </p:nvSpPr>
        <p:spPr>
          <a:xfrm>
            <a:off x="7543800" y="4041648"/>
            <a:ext cx="3474720" cy="914400"/>
          </a:xfrm>
          <a:prstGeom prst="rect">
            <a:avLst/>
          </a:prstGeom>
          <a:noFill/>
          <a:ln/>
        </p:spPr>
        <p:txBody>
          <a:bodyPr wrap="square" lIns="0" tIns="0" rIns="0" bIns="0" rtlCol="0" anchor="ctr"/>
          <a:lstStyle/>
          <a:p>
            <a:pPr indent="0" marL="0">
              <a:lnSpc>
                <a:spcPct val="125000"/>
              </a:lnSpc>
              <a:buNone/>
            </a:pPr>
            <a:r>
              <a:rPr lang="en-US" sz="1300" dirty="0">
                <a:solidFill>
                  <a:srgbClr val="CBD5E1"/>
                </a:solidFill>
                <a:latin typeface="Inter" pitchFamily="34" charset="0"/>
                <a:ea typeface="Inter" pitchFamily="34" charset="-122"/>
                <a:cs typeface="Inter" pitchFamily="34" charset="-120"/>
              </a:rPr>
              <a:t>A different name, phone, or address on each one, and the librarian trusts none of them.</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822960" y="777240"/>
            <a:ext cx="6400800" cy="292608"/>
          </a:xfrm>
          <a:prstGeom prst="rect">
            <a:avLst/>
          </a:prstGeom>
          <a:noFill/>
          <a:ln/>
        </p:spPr>
        <p:txBody>
          <a:bodyPr wrap="square" lIns="0" tIns="0" rIns="0" bIns="0" rtlCol="0" anchor="ctr"/>
          <a:lstStyle/>
          <a:p>
            <a:pPr algn="l" indent="0" marL="0">
              <a:buNone/>
            </a:pPr>
            <a:r>
              <a:rPr lang="en-US" sz="1100" b="1" spc="300" kern="0" dirty="0">
                <a:solidFill>
                  <a:srgbClr val="38BDF8"/>
                </a:solidFill>
                <a:latin typeface="Inter" pitchFamily="34" charset="0"/>
                <a:ea typeface="Inter" pitchFamily="34" charset="-122"/>
                <a:cs typeface="Inter" pitchFamily="34" charset="-120"/>
              </a:rPr>
              <a:t>PUTTING IT TOGETHER</a:t>
            </a:r>
            <a:endParaRPr lang="en-US" sz="1100" dirty="0"/>
          </a:p>
        </p:txBody>
      </p:sp>
      <p:sp>
        <p:nvSpPr>
          <p:cNvPr id="3" name="Text 1"/>
          <p:cNvSpPr/>
          <p:nvPr/>
        </p:nvSpPr>
        <p:spPr>
          <a:xfrm>
            <a:off x="795528" y="1188720"/>
            <a:ext cx="7315200" cy="914400"/>
          </a:xfrm>
          <a:prstGeom prst="rect">
            <a:avLst/>
          </a:prstGeom>
          <a:noFill/>
          <a:ln/>
        </p:spPr>
        <p:txBody>
          <a:bodyPr wrap="square" lIns="0" tIns="0" rIns="0" bIns="0" rtlCol="0" anchor="ctr"/>
          <a:lstStyle/>
          <a:p>
            <a:pPr algn="l" indent="0" marL="0">
              <a:lnSpc>
                <a:spcPct val="104000"/>
              </a:lnSpc>
              <a:buNone/>
            </a:pPr>
            <a:r>
              <a:rPr lang="en-US" sz="3600" b="1" dirty="0">
                <a:solidFill>
                  <a:srgbClr val="F8FAFC"/>
                </a:solidFill>
                <a:latin typeface="Outfit" pitchFamily="34" charset="0"/>
                <a:ea typeface="Outfit" pitchFamily="34" charset="-122"/>
                <a:cs typeface="Outfit" pitchFamily="34" charset="-120"/>
              </a:rPr>
              <a:t>How the librarian decides.</a:t>
            </a:r>
            <a:endParaRPr lang="en-US" sz="3600" dirty="0"/>
          </a:p>
        </p:txBody>
      </p:sp>
      <p:sp>
        <p:nvSpPr>
          <p:cNvPr id="4" name="Shape 2"/>
          <p:cNvSpPr/>
          <p:nvPr/>
        </p:nvSpPr>
        <p:spPr>
          <a:xfrm>
            <a:off x="822960" y="2194560"/>
            <a:ext cx="3337560" cy="2011680"/>
          </a:xfrm>
          <a:prstGeom prst="roundRect">
            <a:avLst>
              <a:gd name="adj" fmla="val 5455"/>
            </a:avLst>
          </a:prstGeom>
          <a:solidFill>
            <a:srgbClr val="1E293B">
              <a:alpha val="86000"/>
            </a:srgbClr>
          </a:solidFill>
          <a:ln w="9525">
            <a:solidFill>
              <a:srgbClr val="334155">
                <a:alpha val="65000"/>
              </a:srgbClr>
            </a:solidFill>
            <a:prstDash val="solid"/>
          </a:ln>
          <a:effectLst>
            <a:outerShdw sx="100000" sy="100000" kx="0" ky="0" algn="bl" rotWithShape="0" blurRad="127000" dist="38100" dir="5400000">
              <a:srgbClr val="000000">
                <a:alpha val="35000"/>
              </a:srgbClr>
            </a:outerShdw>
          </a:effectLst>
        </p:spPr>
      </p:sp>
      <p:sp>
        <p:nvSpPr>
          <p:cNvPr id="5" name="Shape 3"/>
          <p:cNvSpPr/>
          <p:nvPr/>
        </p:nvSpPr>
        <p:spPr>
          <a:xfrm>
            <a:off x="1097280" y="2468880"/>
            <a:ext cx="548640" cy="548640"/>
          </a:xfrm>
          <a:prstGeom prst="ellipse">
            <a:avLst/>
          </a:prstGeom>
          <a:solidFill>
            <a:srgbClr val="243146">
              <a:alpha val="90000"/>
            </a:srgbClr>
          </a:solidFill>
          <a:ln w="9525">
            <a:solidFill>
              <a:srgbClr val="334155">
                <a:alpha val="70000"/>
              </a:srgbClr>
            </a:solidFill>
            <a:prstDash val="solid"/>
          </a:ln>
        </p:spPr>
      </p:sp>
      <p:pic>
        <p:nvPicPr>
          <p:cNvPr id="6" name="Image 0" descr="preencoded.png">    </p:cNvPr>
          <p:cNvPicPr>
            <a:picLocks noChangeAspect="1"/>
          </p:cNvPicPr>
          <p:nvPr/>
        </p:nvPicPr>
        <p:blipFill>
          <a:blip r:embed="rId2"/>
          <a:stretch>
            <a:fillRect/>
          </a:stretch>
        </p:blipFill>
        <p:spPr>
          <a:xfrm>
            <a:off x="1239926" y="2611526"/>
            <a:ext cx="263347" cy="263347"/>
          </a:xfrm>
          <a:prstGeom prst="rect">
            <a:avLst/>
          </a:prstGeom>
        </p:spPr>
      </p:pic>
      <p:sp>
        <p:nvSpPr>
          <p:cNvPr id="7" name="Text 4"/>
          <p:cNvSpPr/>
          <p:nvPr/>
        </p:nvSpPr>
        <p:spPr>
          <a:xfrm>
            <a:off x="1097280" y="3154680"/>
            <a:ext cx="2834640" cy="320040"/>
          </a:xfrm>
          <a:prstGeom prst="rect">
            <a:avLst/>
          </a:prstGeom>
          <a:noFill/>
          <a:ln/>
        </p:spPr>
        <p:txBody>
          <a:bodyPr wrap="square" lIns="0" tIns="0" rIns="0" bIns="0" rtlCol="0" anchor="ctr"/>
          <a:lstStyle/>
          <a:p>
            <a:pPr indent="0" marL="0">
              <a:buNone/>
            </a:pPr>
            <a:r>
              <a:rPr lang="en-US" sz="1550" b="1" dirty="0">
                <a:solidFill>
                  <a:srgbClr val="F8FAFC"/>
                </a:solidFill>
                <a:latin typeface="Outfit" pitchFamily="34" charset="0"/>
                <a:ea typeface="Outfit" pitchFamily="34" charset="-122"/>
                <a:cs typeface="Outfit" pitchFamily="34" charset="-120"/>
              </a:rPr>
              <a:t>A book worth reading</a:t>
            </a:r>
            <a:endParaRPr lang="en-US" sz="1550" dirty="0"/>
          </a:p>
        </p:txBody>
      </p:sp>
      <p:sp>
        <p:nvSpPr>
          <p:cNvPr id="8" name="Text 5"/>
          <p:cNvSpPr/>
          <p:nvPr/>
        </p:nvSpPr>
        <p:spPr>
          <a:xfrm>
            <a:off x="1097280" y="3493008"/>
            <a:ext cx="2788920" cy="640080"/>
          </a:xfrm>
          <a:prstGeom prst="rect">
            <a:avLst/>
          </a:prstGeom>
          <a:noFill/>
          <a:ln/>
        </p:spPr>
        <p:txBody>
          <a:bodyPr wrap="square" lIns="0" tIns="0" rIns="0" bIns="0" rtlCol="0" anchor="t"/>
          <a:lstStyle/>
          <a:p>
            <a:pPr indent="0" marL="0">
              <a:lnSpc>
                <a:spcPct val="120000"/>
              </a:lnSpc>
              <a:buNone/>
            </a:pPr>
            <a:r>
              <a:rPr lang="en-US" sz="1200" dirty="0">
                <a:solidFill>
                  <a:srgbClr val="94A3B8"/>
                </a:solidFill>
                <a:latin typeface="Inter" pitchFamily="34" charset="0"/>
                <a:ea typeface="Inter" pitchFamily="34" charset="-122"/>
                <a:cs typeface="Inter" pitchFamily="34" charset="-120"/>
              </a:rPr>
              <a:t>Your site answers the question better than the next book on the shelf.</a:t>
            </a:r>
            <a:endParaRPr lang="en-US" sz="1200" dirty="0"/>
          </a:p>
        </p:txBody>
      </p:sp>
      <p:sp>
        <p:nvSpPr>
          <p:cNvPr id="9" name="Shape 6"/>
          <p:cNvSpPr/>
          <p:nvPr/>
        </p:nvSpPr>
        <p:spPr>
          <a:xfrm>
            <a:off x="4434840" y="2194560"/>
            <a:ext cx="3337560" cy="2011680"/>
          </a:xfrm>
          <a:prstGeom prst="roundRect">
            <a:avLst>
              <a:gd name="adj" fmla="val 5455"/>
            </a:avLst>
          </a:prstGeom>
          <a:solidFill>
            <a:srgbClr val="1E293B">
              <a:alpha val="86000"/>
            </a:srgbClr>
          </a:solidFill>
          <a:ln w="9525">
            <a:solidFill>
              <a:srgbClr val="334155">
                <a:alpha val="65000"/>
              </a:srgbClr>
            </a:solidFill>
            <a:prstDash val="solid"/>
          </a:ln>
          <a:effectLst>
            <a:outerShdw sx="100000" sy="100000" kx="0" ky="0" algn="bl" rotWithShape="0" blurRad="127000" dist="38100" dir="5400000">
              <a:srgbClr val="000000">
                <a:alpha val="35000"/>
              </a:srgbClr>
            </a:outerShdw>
          </a:effectLst>
        </p:spPr>
      </p:sp>
      <p:sp>
        <p:nvSpPr>
          <p:cNvPr id="10" name="Shape 7"/>
          <p:cNvSpPr/>
          <p:nvPr/>
        </p:nvSpPr>
        <p:spPr>
          <a:xfrm>
            <a:off x="4709160" y="2468880"/>
            <a:ext cx="548640" cy="548640"/>
          </a:xfrm>
          <a:prstGeom prst="ellipse">
            <a:avLst/>
          </a:prstGeom>
          <a:solidFill>
            <a:srgbClr val="243146">
              <a:alpha val="90000"/>
            </a:srgbClr>
          </a:solidFill>
          <a:ln w="9525">
            <a:solidFill>
              <a:srgbClr val="334155">
                <a:alpha val="70000"/>
              </a:srgbClr>
            </a:solidFill>
            <a:prstDash val="solid"/>
          </a:ln>
        </p:spPr>
      </p:sp>
      <p:pic>
        <p:nvPicPr>
          <p:cNvPr id="11" name="Image 1" descr="preencoded.png">    </p:cNvPr>
          <p:cNvPicPr>
            <a:picLocks noChangeAspect="1"/>
          </p:cNvPicPr>
          <p:nvPr/>
        </p:nvPicPr>
        <p:blipFill>
          <a:blip r:embed="rId3"/>
          <a:stretch>
            <a:fillRect/>
          </a:stretch>
        </p:blipFill>
        <p:spPr>
          <a:xfrm>
            <a:off x="4851806" y="2611526"/>
            <a:ext cx="263347" cy="263347"/>
          </a:xfrm>
          <a:prstGeom prst="rect">
            <a:avLst/>
          </a:prstGeom>
        </p:spPr>
      </p:pic>
      <p:sp>
        <p:nvSpPr>
          <p:cNvPr id="12" name="Text 8"/>
          <p:cNvSpPr/>
          <p:nvPr/>
        </p:nvSpPr>
        <p:spPr>
          <a:xfrm>
            <a:off x="4709160" y="3154680"/>
            <a:ext cx="2834640" cy="320040"/>
          </a:xfrm>
          <a:prstGeom prst="rect">
            <a:avLst/>
          </a:prstGeom>
          <a:noFill/>
          <a:ln/>
        </p:spPr>
        <p:txBody>
          <a:bodyPr wrap="square" lIns="0" tIns="0" rIns="0" bIns="0" rtlCol="0" anchor="ctr"/>
          <a:lstStyle/>
          <a:p>
            <a:pPr indent="0" marL="0">
              <a:buNone/>
            </a:pPr>
            <a:r>
              <a:rPr lang="en-US" sz="1550" b="1" dirty="0">
                <a:solidFill>
                  <a:srgbClr val="F8FAFC"/>
                </a:solidFill>
                <a:latin typeface="Outfit" pitchFamily="34" charset="0"/>
                <a:ea typeface="Outfit" pitchFamily="34" charset="-122"/>
                <a:cs typeface="Outfit" pitchFamily="34" charset="-120"/>
              </a:rPr>
              <a:t>Flyers that agree</a:t>
            </a:r>
            <a:endParaRPr lang="en-US" sz="1550" dirty="0"/>
          </a:p>
        </p:txBody>
      </p:sp>
      <p:sp>
        <p:nvSpPr>
          <p:cNvPr id="13" name="Text 9"/>
          <p:cNvSpPr/>
          <p:nvPr/>
        </p:nvSpPr>
        <p:spPr>
          <a:xfrm>
            <a:off x="4709160" y="3493008"/>
            <a:ext cx="2788920" cy="640080"/>
          </a:xfrm>
          <a:prstGeom prst="rect">
            <a:avLst/>
          </a:prstGeom>
          <a:noFill/>
          <a:ln/>
        </p:spPr>
        <p:txBody>
          <a:bodyPr wrap="square" lIns="0" tIns="0" rIns="0" bIns="0" rtlCol="0" anchor="t"/>
          <a:lstStyle/>
          <a:p>
            <a:pPr indent="0" marL="0">
              <a:lnSpc>
                <a:spcPct val="120000"/>
              </a:lnSpc>
              <a:buNone/>
            </a:pPr>
            <a:r>
              <a:rPr lang="en-US" sz="1200" dirty="0">
                <a:solidFill>
                  <a:srgbClr val="94A3B8"/>
                </a:solidFill>
                <a:latin typeface="Inter" pitchFamily="34" charset="0"/>
                <a:ea typeface="Inter" pitchFamily="34" charset="-122"/>
                <a:cs typeface="Inter" pitchFamily="34" charset="-120"/>
              </a:rPr>
              <a:t>Consistent evidence of you, everywhere the librarian looks.</a:t>
            </a:r>
            <a:endParaRPr lang="en-US" sz="1200" dirty="0"/>
          </a:p>
        </p:txBody>
      </p:sp>
      <p:sp>
        <p:nvSpPr>
          <p:cNvPr id="14" name="Shape 10"/>
          <p:cNvSpPr/>
          <p:nvPr/>
        </p:nvSpPr>
        <p:spPr>
          <a:xfrm>
            <a:off x="8046720" y="2194560"/>
            <a:ext cx="3337560" cy="2011680"/>
          </a:xfrm>
          <a:prstGeom prst="roundRect">
            <a:avLst>
              <a:gd name="adj" fmla="val 5455"/>
            </a:avLst>
          </a:prstGeom>
          <a:solidFill>
            <a:srgbClr val="1E293B">
              <a:alpha val="86000"/>
            </a:srgbClr>
          </a:solidFill>
          <a:ln w="9525">
            <a:solidFill>
              <a:srgbClr val="334155">
                <a:alpha val="65000"/>
              </a:srgbClr>
            </a:solidFill>
            <a:prstDash val="solid"/>
          </a:ln>
          <a:effectLst>
            <a:outerShdw sx="100000" sy="100000" kx="0" ky="0" algn="bl" rotWithShape="0" blurRad="127000" dist="38100" dir="5400000">
              <a:srgbClr val="000000">
                <a:alpha val="35000"/>
              </a:srgbClr>
            </a:outerShdw>
          </a:effectLst>
        </p:spPr>
      </p:sp>
      <p:sp>
        <p:nvSpPr>
          <p:cNvPr id="15" name="Shape 11"/>
          <p:cNvSpPr/>
          <p:nvPr/>
        </p:nvSpPr>
        <p:spPr>
          <a:xfrm>
            <a:off x="8321040" y="2468880"/>
            <a:ext cx="548640" cy="548640"/>
          </a:xfrm>
          <a:prstGeom prst="ellipse">
            <a:avLst/>
          </a:prstGeom>
          <a:solidFill>
            <a:srgbClr val="243146">
              <a:alpha val="90000"/>
            </a:srgbClr>
          </a:solidFill>
          <a:ln w="9525">
            <a:solidFill>
              <a:srgbClr val="334155">
                <a:alpha val="70000"/>
              </a:srgbClr>
            </a:solidFill>
            <a:prstDash val="solid"/>
          </a:ln>
        </p:spPr>
      </p:sp>
      <p:pic>
        <p:nvPicPr>
          <p:cNvPr id="16" name="Image 2" descr="preencoded.png">    </p:cNvPr>
          <p:cNvPicPr>
            <a:picLocks noChangeAspect="1"/>
          </p:cNvPicPr>
          <p:nvPr/>
        </p:nvPicPr>
        <p:blipFill>
          <a:blip r:embed="rId4"/>
          <a:stretch>
            <a:fillRect/>
          </a:stretch>
        </p:blipFill>
        <p:spPr>
          <a:xfrm>
            <a:off x="8463686" y="2611526"/>
            <a:ext cx="263347" cy="263347"/>
          </a:xfrm>
          <a:prstGeom prst="rect">
            <a:avLst/>
          </a:prstGeom>
        </p:spPr>
      </p:pic>
      <p:sp>
        <p:nvSpPr>
          <p:cNvPr id="17" name="Text 12"/>
          <p:cNvSpPr/>
          <p:nvPr/>
        </p:nvSpPr>
        <p:spPr>
          <a:xfrm>
            <a:off x="8321040" y="3154680"/>
            <a:ext cx="2834640" cy="320040"/>
          </a:xfrm>
          <a:prstGeom prst="rect">
            <a:avLst/>
          </a:prstGeom>
          <a:noFill/>
          <a:ln/>
        </p:spPr>
        <p:txBody>
          <a:bodyPr wrap="square" lIns="0" tIns="0" rIns="0" bIns="0" rtlCol="0" anchor="ctr"/>
          <a:lstStyle/>
          <a:p>
            <a:pPr indent="0" marL="0">
              <a:buNone/>
            </a:pPr>
            <a:r>
              <a:rPr lang="en-US" sz="1550" b="1" dirty="0">
                <a:solidFill>
                  <a:srgbClr val="F8FAFC"/>
                </a:solidFill>
                <a:latin typeface="Outfit" pitchFamily="34" charset="0"/>
                <a:ea typeface="Outfit" pitchFamily="34" charset="-122"/>
                <a:cs typeface="Outfit" pitchFamily="34" charset="-120"/>
              </a:rPr>
              <a:t>Readers who return</a:t>
            </a:r>
            <a:endParaRPr lang="en-US" sz="1550" dirty="0"/>
          </a:p>
        </p:txBody>
      </p:sp>
      <p:sp>
        <p:nvSpPr>
          <p:cNvPr id="18" name="Text 13"/>
          <p:cNvSpPr/>
          <p:nvPr/>
        </p:nvSpPr>
        <p:spPr>
          <a:xfrm>
            <a:off x="8321040" y="3493008"/>
            <a:ext cx="2788920" cy="640080"/>
          </a:xfrm>
          <a:prstGeom prst="rect">
            <a:avLst/>
          </a:prstGeom>
          <a:noFill/>
          <a:ln/>
        </p:spPr>
        <p:txBody>
          <a:bodyPr wrap="square" lIns="0" tIns="0" rIns="0" bIns="0" rtlCol="0" anchor="t"/>
          <a:lstStyle/>
          <a:p>
            <a:pPr indent="0" marL="0">
              <a:lnSpc>
                <a:spcPct val="120000"/>
              </a:lnSpc>
              <a:buNone/>
            </a:pPr>
            <a:r>
              <a:rPr lang="en-US" sz="1200" dirty="0">
                <a:solidFill>
                  <a:srgbClr val="94A3B8"/>
                </a:solidFill>
                <a:latin typeface="Inter" pitchFamily="34" charset="0"/>
                <a:ea typeface="Inter" pitchFamily="34" charset="-122"/>
                <a:cs typeface="Inter" pitchFamily="34" charset="-120"/>
              </a:rPr>
              <a:t>People choose your book, stay a while, and come back again.</a:t>
            </a:r>
            <a:endParaRPr lang="en-US" sz="1200" dirty="0"/>
          </a:p>
        </p:txBody>
      </p:sp>
      <p:sp>
        <p:nvSpPr>
          <p:cNvPr id="19" name="Shape 14"/>
          <p:cNvSpPr/>
          <p:nvPr/>
        </p:nvSpPr>
        <p:spPr>
          <a:xfrm>
            <a:off x="822960" y="4663440"/>
            <a:ext cx="10561320" cy="1234440"/>
          </a:xfrm>
          <a:prstGeom prst="roundRect">
            <a:avLst>
              <a:gd name="adj" fmla="val 8889"/>
            </a:avLst>
          </a:prstGeom>
          <a:solidFill>
            <a:srgbClr val="243146">
              <a:alpha val="75000"/>
            </a:srgbClr>
          </a:solidFill>
          <a:ln w="9525">
            <a:solidFill>
              <a:srgbClr val="334155">
                <a:alpha val="65000"/>
              </a:srgbClr>
            </a:solidFill>
            <a:prstDash val="solid"/>
          </a:ln>
          <a:effectLst>
            <a:outerShdw sx="100000" sy="100000" kx="0" ky="0" algn="bl" rotWithShape="0" blurRad="127000" dist="38100" dir="5400000">
              <a:srgbClr val="000000">
                <a:alpha val="35000"/>
              </a:srgbClr>
            </a:outerShdw>
          </a:effectLst>
        </p:spPr>
      </p:sp>
      <p:sp>
        <p:nvSpPr>
          <p:cNvPr id="20" name="Text 15"/>
          <p:cNvSpPr/>
          <p:nvPr/>
        </p:nvSpPr>
        <p:spPr>
          <a:xfrm>
            <a:off x="1143000" y="4864608"/>
            <a:ext cx="9966960" cy="868680"/>
          </a:xfrm>
          <a:prstGeom prst="rect">
            <a:avLst/>
          </a:prstGeom>
          <a:noFill/>
          <a:ln/>
        </p:spPr>
        <p:txBody>
          <a:bodyPr wrap="square" lIns="0" tIns="0" rIns="0" bIns="0" rtlCol="0" anchor="ctr"/>
          <a:lstStyle/>
          <a:p>
            <a:pPr indent="0" marL="0">
              <a:lnSpc>
                <a:spcPct val="125000"/>
              </a:lnSpc>
              <a:buNone/>
            </a:pPr>
            <a:r>
              <a:rPr lang="en-US" sz="1450" b="1" dirty="0">
                <a:solidFill>
                  <a:srgbClr val="38BDF8"/>
                </a:solidFill>
                <a:latin typeface="Outfit" pitchFamily="34" charset="0"/>
                <a:ea typeface="Outfit" pitchFamily="34" charset="-122"/>
                <a:cs typeface="Outfit" pitchFamily="34" charset="-120"/>
              </a:rPr>
              <a:t>And the folding table out front?  </a:t>
            </a:r>
            <a:pPr indent="0" marL="0">
              <a:lnSpc>
                <a:spcPct val="125000"/>
              </a:lnSpc>
              <a:buNone/>
            </a:pPr>
            <a:r>
              <a:rPr lang="en-US" sz="1350" dirty="0">
                <a:solidFill>
                  <a:srgbClr val="CBD5E1"/>
                </a:solidFill>
                <a:latin typeface="Inter" pitchFamily="34" charset="0"/>
                <a:ea typeface="Inter" pitchFamily="34" charset="-122"/>
                <a:cs typeface="Inter" pitchFamily="34" charset="-120"/>
              </a:rPr>
              <a:t>Paid ads. Clearly labeled, gone the moment you stop paying. The recommendation itself is not for sale, which is exactly why it is worth more.</a:t>
            </a:r>
            <a:endParaRPr lang="en-US" sz="14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822960" y="777240"/>
            <a:ext cx="6400800" cy="292608"/>
          </a:xfrm>
          <a:prstGeom prst="rect">
            <a:avLst/>
          </a:prstGeom>
          <a:noFill/>
          <a:ln/>
        </p:spPr>
        <p:txBody>
          <a:bodyPr wrap="square" lIns="0" tIns="0" rIns="0" bIns="0" rtlCol="0" anchor="ctr"/>
          <a:lstStyle/>
          <a:p>
            <a:pPr algn="l" indent="0" marL="0">
              <a:buNone/>
            </a:pPr>
            <a:r>
              <a:rPr lang="en-US" sz="1100" b="1" spc="300" kern="0" dirty="0">
                <a:solidFill>
                  <a:srgbClr val="38BDF8"/>
                </a:solidFill>
                <a:latin typeface="Inter" pitchFamily="34" charset="0"/>
                <a:ea typeface="Inter" pitchFamily="34" charset="-122"/>
                <a:cs typeface="Inter" pitchFamily="34" charset="-120"/>
              </a:rPr>
              <a:t>CLEARING THE FOG</a:t>
            </a:r>
            <a:endParaRPr lang="en-US" sz="1100" dirty="0"/>
          </a:p>
        </p:txBody>
      </p:sp>
      <p:sp>
        <p:nvSpPr>
          <p:cNvPr id="3" name="Text 1"/>
          <p:cNvSpPr/>
          <p:nvPr/>
        </p:nvSpPr>
        <p:spPr>
          <a:xfrm>
            <a:off x="795528" y="1188720"/>
            <a:ext cx="6400800" cy="914400"/>
          </a:xfrm>
          <a:prstGeom prst="rect">
            <a:avLst/>
          </a:prstGeom>
          <a:noFill/>
          <a:ln/>
        </p:spPr>
        <p:txBody>
          <a:bodyPr wrap="square" lIns="0" tIns="0" rIns="0" bIns="0" rtlCol="0" anchor="ctr"/>
          <a:lstStyle/>
          <a:p>
            <a:pPr algn="l" indent="0" marL="0">
              <a:lnSpc>
                <a:spcPct val="104000"/>
              </a:lnSpc>
              <a:buNone/>
            </a:pPr>
            <a:r>
              <a:rPr lang="en-US" sz="3600" b="1" dirty="0">
                <a:solidFill>
                  <a:srgbClr val="F8FAFC"/>
                </a:solidFill>
                <a:latin typeface="Outfit" pitchFamily="34" charset="0"/>
                <a:ea typeface="Outfit" pitchFamily="34" charset="-122"/>
                <a:cs typeface="Outfit" pitchFamily="34" charset="-120"/>
              </a:rPr>
              <a:t>What SEO is not.</a:t>
            </a:r>
            <a:endParaRPr lang="en-US" sz="3600" dirty="0"/>
          </a:p>
        </p:txBody>
      </p:sp>
      <p:sp>
        <p:nvSpPr>
          <p:cNvPr id="4" name="Shape 2"/>
          <p:cNvSpPr/>
          <p:nvPr/>
        </p:nvSpPr>
        <p:spPr>
          <a:xfrm>
            <a:off x="822960" y="2240280"/>
            <a:ext cx="5074920" cy="1600200"/>
          </a:xfrm>
          <a:prstGeom prst="roundRect">
            <a:avLst>
              <a:gd name="adj" fmla="val 6857"/>
            </a:avLst>
          </a:prstGeom>
          <a:solidFill>
            <a:srgbClr val="1E293B">
              <a:alpha val="86000"/>
            </a:srgbClr>
          </a:solidFill>
          <a:ln w="9525">
            <a:solidFill>
              <a:srgbClr val="334155">
                <a:alpha val="65000"/>
              </a:srgbClr>
            </a:solidFill>
            <a:prstDash val="solid"/>
          </a:ln>
          <a:effectLst>
            <a:outerShdw sx="100000" sy="100000" kx="0" ky="0" algn="bl" rotWithShape="0" blurRad="127000" dist="38100" dir="5400000">
              <a:srgbClr val="000000">
                <a:alpha val="35000"/>
              </a:srgbClr>
            </a:outerShdw>
          </a:effectLst>
        </p:spPr>
      </p:sp>
      <p:sp>
        <p:nvSpPr>
          <p:cNvPr id="5" name="Shape 3"/>
          <p:cNvSpPr/>
          <p:nvPr/>
        </p:nvSpPr>
        <p:spPr>
          <a:xfrm>
            <a:off x="1097280" y="2496312"/>
            <a:ext cx="512064" cy="512064"/>
          </a:xfrm>
          <a:prstGeom prst="ellipse">
            <a:avLst/>
          </a:prstGeom>
          <a:solidFill>
            <a:srgbClr val="243146">
              <a:alpha val="90000"/>
            </a:srgbClr>
          </a:solidFill>
          <a:ln w="9525">
            <a:solidFill>
              <a:srgbClr val="334155">
                <a:alpha val="70000"/>
              </a:srgbClr>
            </a:solidFill>
            <a:prstDash val="solid"/>
          </a:ln>
        </p:spPr>
      </p:sp>
      <p:pic>
        <p:nvPicPr>
          <p:cNvPr id="6" name="Image 0" descr="preencoded.png">    </p:cNvPr>
          <p:cNvPicPr>
            <a:picLocks noChangeAspect="1"/>
          </p:cNvPicPr>
          <p:nvPr/>
        </p:nvPicPr>
        <p:blipFill>
          <a:blip r:embed="rId2"/>
          <a:stretch>
            <a:fillRect/>
          </a:stretch>
        </p:blipFill>
        <p:spPr>
          <a:xfrm>
            <a:off x="1230417" y="2629449"/>
            <a:ext cx="245791" cy="245791"/>
          </a:xfrm>
          <a:prstGeom prst="rect">
            <a:avLst/>
          </a:prstGeom>
        </p:spPr>
      </p:pic>
      <p:sp>
        <p:nvSpPr>
          <p:cNvPr id="7" name="Text 4"/>
          <p:cNvSpPr/>
          <p:nvPr/>
        </p:nvSpPr>
        <p:spPr>
          <a:xfrm>
            <a:off x="1828800" y="2468880"/>
            <a:ext cx="3840480" cy="320040"/>
          </a:xfrm>
          <a:prstGeom prst="rect">
            <a:avLst/>
          </a:prstGeom>
          <a:noFill/>
          <a:ln/>
        </p:spPr>
        <p:txBody>
          <a:bodyPr wrap="square" lIns="0" tIns="0" rIns="0" bIns="0" rtlCol="0" anchor="ctr"/>
          <a:lstStyle/>
          <a:p>
            <a:pPr indent="0" marL="0">
              <a:buNone/>
            </a:pPr>
            <a:r>
              <a:rPr lang="en-US" sz="1600" b="1" dirty="0">
                <a:solidFill>
                  <a:srgbClr val="F8FAFC"/>
                </a:solidFill>
                <a:latin typeface="Outfit" pitchFamily="34" charset="0"/>
                <a:ea typeface="Outfit" pitchFamily="34" charset="-122"/>
                <a:cs typeface="Outfit" pitchFamily="34" charset="-120"/>
              </a:rPr>
              <a:t>A one time fix</a:t>
            </a:r>
            <a:endParaRPr lang="en-US" sz="1600" dirty="0"/>
          </a:p>
        </p:txBody>
      </p:sp>
      <p:sp>
        <p:nvSpPr>
          <p:cNvPr id="8" name="Text 5"/>
          <p:cNvSpPr/>
          <p:nvPr/>
        </p:nvSpPr>
        <p:spPr>
          <a:xfrm>
            <a:off x="1828800" y="2843784"/>
            <a:ext cx="3886200" cy="777240"/>
          </a:xfrm>
          <a:prstGeom prst="rect">
            <a:avLst/>
          </a:prstGeom>
          <a:noFill/>
          <a:ln/>
        </p:spPr>
        <p:txBody>
          <a:bodyPr wrap="square" lIns="0" tIns="0" rIns="0" bIns="0" rtlCol="0" anchor="t"/>
          <a:lstStyle/>
          <a:p>
            <a:pPr indent="0" marL="0">
              <a:lnSpc>
                <a:spcPct val="120000"/>
              </a:lnSpc>
              <a:buNone/>
            </a:pPr>
            <a:r>
              <a:rPr lang="en-US" sz="1250" dirty="0">
                <a:solidFill>
                  <a:srgbClr val="94A3B8"/>
                </a:solidFill>
                <a:latin typeface="Inter" pitchFamily="34" charset="0"/>
                <a:ea typeface="Inter" pitchFamily="34" charset="-122"/>
                <a:cs typeface="Inter" pitchFamily="34" charset="-120"/>
              </a:rPr>
              <a:t>The library reshelves every day. SEO is a habit, not a project.</a:t>
            </a:r>
            <a:endParaRPr lang="en-US" sz="1250" dirty="0"/>
          </a:p>
        </p:txBody>
      </p:sp>
      <p:sp>
        <p:nvSpPr>
          <p:cNvPr id="9" name="Shape 6"/>
          <p:cNvSpPr/>
          <p:nvPr/>
        </p:nvSpPr>
        <p:spPr>
          <a:xfrm>
            <a:off x="6172200" y="2240280"/>
            <a:ext cx="5074920" cy="1600200"/>
          </a:xfrm>
          <a:prstGeom prst="roundRect">
            <a:avLst>
              <a:gd name="adj" fmla="val 6857"/>
            </a:avLst>
          </a:prstGeom>
          <a:solidFill>
            <a:srgbClr val="1E293B">
              <a:alpha val="86000"/>
            </a:srgbClr>
          </a:solidFill>
          <a:ln w="9525">
            <a:solidFill>
              <a:srgbClr val="334155">
                <a:alpha val="65000"/>
              </a:srgbClr>
            </a:solidFill>
            <a:prstDash val="solid"/>
          </a:ln>
          <a:effectLst>
            <a:outerShdw sx="100000" sy="100000" kx="0" ky="0" algn="bl" rotWithShape="0" blurRad="127000" dist="38100" dir="5400000">
              <a:srgbClr val="000000">
                <a:alpha val="35000"/>
              </a:srgbClr>
            </a:outerShdw>
          </a:effectLst>
        </p:spPr>
      </p:sp>
      <p:sp>
        <p:nvSpPr>
          <p:cNvPr id="10" name="Shape 7"/>
          <p:cNvSpPr/>
          <p:nvPr/>
        </p:nvSpPr>
        <p:spPr>
          <a:xfrm>
            <a:off x="6446520" y="2496312"/>
            <a:ext cx="512064" cy="512064"/>
          </a:xfrm>
          <a:prstGeom prst="ellipse">
            <a:avLst/>
          </a:prstGeom>
          <a:solidFill>
            <a:srgbClr val="243146">
              <a:alpha val="90000"/>
            </a:srgbClr>
          </a:solidFill>
          <a:ln w="9525">
            <a:solidFill>
              <a:srgbClr val="334155">
                <a:alpha val="70000"/>
              </a:srgbClr>
            </a:solidFill>
            <a:prstDash val="solid"/>
          </a:ln>
        </p:spPr>
      </p:sp>
      <p:pic>
        <p:nvPicPr>
          <p:cNvPr id="11" name="Image 1" descr="preencoded.png">    </p:cNvPr>
          <p:cNvPicPr>
            <a:picLocks noChangeAspect="1"/>
          </p:cNvPicPr>
          <p:nvPr/>
        </p:nvPicPr>
        <p:blipFill>
          <a:blip r:embed="rId3"/>
          <a:stretch>
            <a:fillRect/>
          </a:stretch>
        </p:blipFill>
        <p:spPr>
          <a:xfrm>
            <a:off x="6579657" y="2629449"/>
            <a:ext cx="245791" cy="245791"/>
          </a:xfrm>
          <a:prstGeom prst="rect">
            <a:avLst/>
          </a:prstGeom>
        </p:spPr>
      </p:pic>
      <p:sp>
        <p:nvSpPr>
          <p:cNvPr id="12" name="Text 8"/>
          <p:cNvSpPr/>
          <p:nvPr/>
        </p:nvSpPr>
        <p:spPr>
          <a:xfrm>
            <a:off x="7178040" y="2468880"/>
            <a:ext cx="3840480" cy="320040"/>
          </a:xfrm>
          <a:prstGeom prst="rect">
            <a:avLst/>
          </a:prstGeom>
          <a:noFill/>
          <a:ln/>
        </p:spPr>
        <p:txBody>
          <a:bodyPr wrap="square" lIns="0" tIns="0" rIns="0" bIns="0" rtlCol="0" anchor="ctr"/>
          <a:lstStyle/>
          <a:p>
            <a:pPr indent="0" marL="0">
              <a:buNone/>
            </a:pPr>
            <a:r>
              <a:rPr lang="en-US" sz="1600" b="1" dirty="0">
                <a:solidFill>
                  <a:srgbClr val="F8FAFC"/>
                </a:solidFill>
                <a:latin typeface="Outfit" pitchFamily="34" charset="0"/>
                <a:ea typeface="Outfit" pitchFamily="34" charset="-122"/>
                <a:cs typeface="Outfit" pitchFamily="34" charset="-120"/>
              </a:rPr>
              <a:t>Keyword stuffing</a:t>
            </a:r>
            <a:endParaRPr lang="en-US" sz="1600" dirty="0"/>
          </a:p>
        </p:txBody>
      </p:sp>
      <p:sp>
        <p:nvSpPr>
          <p:cNvPr id="13" name="Text 9"/>
          <p:cNvSpPr/>
          <p:nvPr/>
        </p:nvSpPr>
        <p:spPr>
          <a:xfrm>
            <a:off x="7178040" y="2843784"/>
            <a:ext cx="3886200" cy="777240"/>
          </a:xfrm>
          <a:prstGeom prst="rect">
            <a:avLst/>
          </a:prstGeom>
          <a:noFill/>
          <a:ln/>
        </p:spPr>
        <p:txBody>
          <a:bodyPr wrap="square" lIns="0" tIns="0" rIns="0" bIns="0" rtlCol="0" anchor="t"/>
          <a:lstStyle/>
          <a:p>
            <a:pPr indent="0" marL="0">
              <a:lnSpc>
                <a:spcPct val="120000"/>
              </a:lnSpc>
              <a:buNone/>
            </a:pPr>
            <a:r>
              <a:rPr lang="en-US" sz="1250" dirty="0">
                <a:solidFill>
                  <a:srgbClr val="94A3B8"/>
                </a:solidFill>
                <a:latin typeface="Inter" pitchFamily="34" charset="0"/>
                <a:ea typeface="Inter" pitchFamily="34" charset="-122"/>
                <a:cs typeface="Inter" pitchFamily="34" charset="-120"/>
              </a:rPr>
              <a:t>Saying plumber forty times does not impress a librarian who reads.</a:t>
            </a:r>
            <a:endParaRPr lang="en-US" sz="1250" dirty="0"/>
          </a:p>
        </p:txBody>
      </p:sp>
      <p:sp>
        <p:nvSpPr>
          <p:cNvPr id="14" name="Shape 10"/>
          <p:cNvSpPr/>
          <p:nvPr/>
        </p:nvSpPr>
        <p:spPr>
          <a:xfrm>
            <a:off x="822960" y="4069080"/>
            <a:ext cx="5074920" cy="1600200"/>
          </a:xfrm>
          <a:prstGeom prst="roundRect">
            <a:avLst>
              <a:gd name="adj" fmla="val 6857"/>
            </a:avLst>
          </a:prstGeom>
          <a:solidFill>
            <a:srgbClr val="1E293B">
              <a:alpha val="86000"/>
            </a:srgbClr>
          </a:solidFill>
          <a:ln w="9525">
            <a:solidFill>
              <a:srgbClr val="334155">
                <a:alpha val="65000"/>
              </a:srgbClr>
            </a:solidFill>
            <a:prstDash val="solid"/>
          </a:ln>
          <a:effectLst>
            <a:outerShdw sx="100000" sy="100000" kx="0" ky="0" algn="bl" rotWithShape="0" blurRad="127000" dist="38100" dir="5400000">
              <a:srgbClr val="000000">
                <a:alpha val="35000"/>
              </a:srgbClr>
            </a:outerShdw>
          </a:effectLst>
        </p:spPr>
      </p:sp>
      <p:sp>
        <p:nvSpPr>
          <p:cNvPr id="15" name="Shape 11"/>
          <p:cNvSpPr/>
          <p:nvPr/>
        </p:nvSpPr>
        <p:spPr>
          <a:xfrm>
            <a:off x="1097280" y="4325112"/>
            <a:ext cx="512064" cy="512064"/>
          </a:xfrm>
          <a:prstGeom prst="ellipse">
            <a:avLst/>
          </a:prstGeom>
          <a:solidFill>
            <a:srgbClr val="243146">
              <a:alpha val="90000"/>
            </a:srgbClr>
          </a:solidFill>
          <a:ln w="9525">
            <a:solidFill>
              <a:srgbClr val="334155">
                <a:alpha val="70000"/>
              </a:srgbClr>
            </a:solidFill>
            <a:prstDash val="solid"/>
          </a:ln>
        </p:spPr>
      </p:sp>
      <p:pic>
        <p:nvPicPr>
          <p:cNvPr id="16" name="Image 2" descr="preencoded.png">    </p:cNvPr>
          <p:cNvPicPr>
            <a:picLocks noChangeAspect="1"/>
          </p:cNvPicPr>
          <p:nvPr/>
        </p:nvPicPr>
        <p:blipFill>
          <a:blip r:embed="rId4"/>
          <a:stretch>
            <a:fillRect/>
          </a:stretch>
        </p:blipFill>
        <p:spPr>
          <a:xfrm>
            <a:off x="1230417" y="4458249"/>
            <a:ext cx="245791" cy="245791"/>
          </a:xfrm>
          <a:prstGeom prst="rect">
            <a:avLst/>
          </a:prstGeom>
        </p:spPr>
      </p:pic>
      <p:sp>
        <p:nvSpPr>
          <p:cNvPr id="17" name="Text 12"/>
          <p:cNvSpPr/>
          <p:nvPr/>
        </p:nvSpPr>
        <p:spPr>
          <a:xfrm>
            <a:off x="1828800" y="4297680"/>
            <a:ext cx="3840480" cy="320040"/>
          </a:xfrm>
          <a:prstGeom prst="rect">
            <a:avLst/>
          </a:prstGeom>
          <a:noFill/>
          <a:ln/>
        </p:spPr>
        <p:txBody>
          <a:bodyPr wrap="square" lIns="0" tIns="0" rIns="0" bIns="0" rtlCol="0" anchor="ctr"/>
          <a:lstStyle/>
          <a:p>
            <a:pPr indent="0" marL="0">
              <a:buNone/>
            </a:pPr>
            <a:r>
              <a:rPr lang="en-US" sz="1600" b="1" dirty="0">
                <a:solidFill>
                  <a:srgbClr val="F8FAFC"/>
                </a:solidFill>
                <a:latin typeface="Outfit" pitchFamily="34" charset="0"/>
                <a:ea typeface="Outfit" pitchFamily="34" charset="-122"/>
                <a:cs typeface="Outfit" pitchFamily="34" charset="-120"/>
              </a:rPr>
              <a:t>Paying Google for rank</a:t>
            </a:r>
            <a:endParaRPr lang="en-US" sz="1600" dirty="0"/>
          </a:p>
        </p:txBody>
      </p:sp>
      <p:sp>
        <p:nvSpPr>
          <p:cNvPr id="18" name="Text 13"/>
          <p:cNvSpPr/>
          <p:nvPr/>
        </p:nvSpPr>
        <p:spPr>
          <a:xfrm>
            <a:off x="1828800" y="4672584"/>
            <a:ext cx="3886200" cy="777240"/>
          </a:xfrm>
          <a:prstGeom prst="rect">
            <a:avLst/>
          </a:prstGeom>
          <a:noFill/>
          <a:ln/>
        </p:spPr>
        <p:txBody>
          <a:bodyPr wrap="square" lIns="0" tIns="0" rIns="0" bIns="0" rtlCol="0" anchor="t"/>
          <a:lstStyle/>
          <a:p>
            <a:pPr indent="0" marL="0">
              <a:lnSpc>
                <a:spcPct val="120000"/>
              </a:lnSpc>
              <a:buNone/>
            </a:pPr>
            <a:r>
              <a:rPr lang="en-US" sz="1250" dirty="0">
                <a:solidFill>
                  <a:srgbClr val="94A3B8"/>
                </a:solidFill>
                <a:latin typeface="Inter" pitchFamily="34" charset="0"/>
                <a:ea typeface="Inter" pitchFamily="34" charset="-122"/>
                <a:cs typeface="Inter" pitchFamily="34" charset="-120"/>
              </a:rPr>
              <a:t>Money buys the folding table. It never buys the shelf.</a:t>
            </a:r>
            <a:endParaRPr lang="en-US" sz="1250" dirty="0"/>
          </a:p>
        </p:txBody>
      </p:sp>
      <p:sp>
        <p:nvSpPr>
          <p:cNvPr id="19" name="Shape 14"/>
          <p:cNvSpPr/>
          <p:nvPr/>
        </p:nvSpPr>
        <p:spPr>
          <a:xfrm>
            <a:off x="6172200" y="4069080"/>
            <a:ext cx="5074920" cy="1600200"/>
          </a:xfrm>
          <a:prstGeom prst="roundRect">
            <a:avLst>
              <a:gd name="adj" fmla="val 6857"/>
            </a:avLst>
          </a:prstGeom>
          <a:solidFill>
            <a:srgbClr val="1E293B">
              <a:alpha val="86000"/>
            </a:srgbClr>
          </a:solidFill>
          <a:ln w="9525">
            <a:solidFill>
              <a:srgbClr val="334155">
                <a:alpha val="65000"/>
              </a:srgbClr>
            </a:solidFill>
            <a:prstDash val="solid"/>
          </a:ln>
          <a:effectLst>
            <a:outerShdw sx="100000" sy="100000" kx="0" ky="0" algn="bl" rotWithShape="0" blurRad="127000" dist="38100" dir="5400000">
              <a:srgbClr val="000000">
                <a:alpha val="35000"/>
              </a:srgbClr>
            </a:outerShdw>
          </a:effectLst>
        </p:spPr>
      </p:sp>
      <p:sp>
        <p:nvSpPr>
          <p:cNvPr id="20" name="Shape 15"/>
          <p:cNvSpPr/>
          <p:nvPr/>
        </p:nvSpPr>
        <p:spPr>
          <a:xfrm>
            <a:off x="6446520" y="4325112"/>
            <a:ext cx="512064" cy="512064"/>
          </a:xfrm>
          <a:prstGeom prst="ellipse">
            <a:avLst/>
          </a:prstGeom>
          <a:solidFill>
            <a:srgbClr val="243146">
              <a:alpha val="90000"/>
            </a:srgbClr>
          </a:solidFill>
          <a:ln w="9525">
            <a:solidFill>
              <a:srgbClr val="334155">
                <a:alpha val="70000"/>
              </a:srgbClr>
            </a:solidFill>
            <a:prstDash val="solid"/>
          </a:ln>
        </p:spPr>
      </p:sp>
      <p:pic>
        <p:nvPicPr>
          <p:cNvPr id="21" name="Image 3" descr="preencoded.png">    </p:cNvPr>
          <p:cNvPicPr>
            <a:picLocks noChangeAspect="1"/>
          </p:cNvPicPr>
          <p:nvPr/>
        </p:nvPicPr>
        <p:blipFill>
          <a:blip r:embed="rId5"/>
          <a:stretch>
            <a:fillRect/>
          </a:stretch>
        </p:blipFill>
        <p:spPr>
          <a:xfrm>
            <a:off x="6579657" y="4458249"/>
            <a:ext cx="245791" cy="245791"/>
          </a:xfrm>
          <a:prstGeom prst="rect">
            <a:avLst/>
          </a:prstGeom>
        </p:spPr>
      </p:pic>
      <p:sp>
        <p:nvSpPr>
          <p:cNvPr id="22" name="Text 16"/>
          <p:cNvSpPr/>
          <p:nvPr/>
        </p:nvSpPr>
        <p:spPr>
          <a:xfrm>
            <a:off x="7178040" y="4297680"/>
            <a:ext cx="3840480" cy="320040"/>
          </a:xfrm>
          <a:prstGeom prst="rect">
            <a:avLst/>
          </a:prstGeom>
          <a:noFill/>
          <a:ln/>
        </p:spPr>
        <p:txBody>
          <a:bodyPr wrap="square" lIns="0" tIns="0" rIns="0" bIns="0" rtlCol="0" anchor="ctr"/>
          <a:lstStyle/>
          <a:p>
            <a:pPr indent="0" marL="0">
              <a:buNone/>
            </a:pPr>
            <a:r>
              <a:rPr lang="en-US" sz="1600" b="1" dirty="0">
                <a:solidFill>
                  <a:srgbClr val="F8FAFC"/>
                </a:solidFill>
                <a:latin typeface="Outfit" pitchFamily="34" charset="0"/>
                <a:ea typeface="Outfit" pitchFamily="34" charset="-122"/>
                <a:cs typeface="Outfit" pitchFamily="34" charset="-120"/>
              </a:rPr>
              <a:t>Magic</a:t>
            </a:r>
            <a:endParaRPr lang="en-US" sz="1600" dirty="0"/>
          </a:p>
        </p:txBody>
      </p:sp>
      <p:sp>
        <p:nvSpPr>
          <p:cNvPr id="23" name="Text 17"/>
          <p:cNvSpPr/>
          <p:nvPr/>
        </p:nvSpPr>
        <p:spPr>
          <a:xfrm>
            <a:off x="7178040" y="4672584"/>
            <a:ext cx="3886200" cy="777240"/>
          </a:xfrm>
          <a:prstGeom prst="rect">
            <a:avLst/>
          </a:prstGeom>
          <a:noFill/>
          <a:ln/>
        </p:spPr>
        <p:txBody>
          <a:bodyPr wrap="square" lIns="0" tIns="0" rIns="0" bIns="0" rtlCol="0" anchor="t"/>
          <a:lstStyle/>
          <a:p>
            <a:pPr indent="0" marL="0">
              <a:lnSpc>
                <a:spcPct val="120000"/>
              </a:lnSpc>
              <a:buNone/>
            </a:pPr>
            <a:r>
              <a:rPr lang="en-US" sz="1250" dirty="0">
                <a:solidFill>
                  <a:srgbClr val="94A3B8"/>
                </a:solidFill>
                <a:latin typeface="Inter" pitchFamily="34" charset="0"/>
                <a:ea typeface="Inter" pitchFamily="34" charset="-122"/>
                <a:cs typeface="Inter" pitchFamily="34" charset="-120"/>
              </a:rPr>
              <a:t>It is a trust system. Explainable, measurable, and it compounds.</a:t>
            </a:r>
            <a:endParaRPr lang="en-US" sz="12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822960" y="777240"/>
            <a:ext cx="6400800" cy="292608"/>
          </a:xfrm>
          <a:prstGeom prst="rect">
            <a:avLst/>
          </a:prstGeom>
          <a:noFill/>
          <a:ln/>
        </p:spPr>
        <p:txBody>
          <a:bodyPr wrap="square" lIns="0" tIns="0" rIns="0" bIns="0" rtlCol="0" anchor="ctr"/>
          <a:lstStyle/>
          <a:p>
            <a:pPr algn="l" indent="0" marL="0">
              <a:buNone/>
            </a:pPr>
            <a:r>
              <a:rPr lang="en-US" sz="1100" b="1" spc="300" kern="0" dirty="0">
                <a:solidFill>
                  <a:srgbClr val="38BDF8"/>
                </a:solidFill>
                <a:latin typeface="Inter" pitchFamily="34" charset="0"/>
                <a:ea typeface="Inter" pitchFamily="34" charset="-122"/>
                <a:cs typeface="Inter" pitchFamily="34" charset="-120"/>
              </a:rPr>
              <a:t>THE LOCAL TWIST</a:t>
            </a:r>
            <a:endParaRPr lang="en-US" sz="1100" dirty="0"/>
          </a:p>
        </p:txBody>
      </p:sp>
      <p:sp>
        <p:nvSpPr>
          <p:cNvPr id="3" name="Text 1"/>
          <p:cNvSpPr/>
          <p:nvPr/>
        </p:nvSpPr>
        <p:spPr>
          <a:xfrm>
            <a:off x="795528" y="1188720"/>
            <a:ext cx="5394960" cy="914400"/>
          </a:xfrm>
          <a:prstGeom prst="rect">
            <a:avLst/>
          </a:prstGeom>
          <a:noFill/>
          <a:ln/>
        </p:spPr>
        <p:txBody>
          <a:bodyPr wrap="square" lIns="0" tIns="0" rIns="0" bIns="0" rtlCol="0" anchor="ctr"/>
          <a:lstStyle/>
          <a:p>
            <a:pPr algn="l" indent="0" marL="0">
              <a:lnSpc>
                <a:spcPct val="104000"/>
              </a:lnSpc>
              <a:buNone/>
            </a:pPr>
            <a:r>
              <a:rPr lang="en-US" sz="3800" b="1" dirty="0">
                <a:solidFill>
                  <a:srgbClr val="F8FAFC"/>
                </a:solidFill>
                <a:latin typeface="Outfit" pitchFamily="34" charset="0"/>
                <a:ea typeface="Outfit" pitchFamily="34" charset="-122"/>
                <a:cs typeface="Outfit" pitchFamily="34" charset="-120"/>
              </a:rPr>
              <a:t>The shelf by the door.</a:t>
            </a:r>
            <a:endParaRPr lang="en-US" sz="3800" dirty="0"/>
          </a:p>
        </p:txBody>
      </p:sp>
      <p:sp>
        <p:nvSpPr>
          <p:cNvPr id="4" name="Text 2"/>
          <p:cNvSpPr/>
          <p:nvPr/>
        </p:nvSpPr>
        <p:spPr>
          <a:xfrm>
            <a:off x="822960" y="2286000"/>
            <a:ext cx="4663440" cy="1554480"/>
          </a:xfrm>
          <a:prstGeom prst="rect">
            <a:avLst/>
          </a:prstGeom>
          <a:noFill/>
          <a:ln/>
        </p:spPr>
        <p:txBody>
          <a:bodyPr wrap="square" lIns="0" tIns="0" rIns="0" bIns="0" rtlCol="0" anchor="t"/>
          <a:lstStyle/>
          <a:p>
            <a:pPr algn="l" indent="0" marL="0">
              <a:lnSpc>
                <a:spcPct val="125000"/>
              </a:lnSpc>
              <a:buNone/>
            </a:pPr>
            <a:r>
              <a:rPr lang="en-US" sz="1500" dirty="0">
                <a:solidFill>
                  <a:srgbClr val="CBD5E1"/>
                </a:solidFill>
                <a:latin typeface="Inter" pitchFamily="34" charset="0"/>
                <a:ea typeface="Inter" pitchFamily="34" charset="-122"/>
                <a:cs typeface="Inter" pitchFamily="34" charset="-120"/>
              </a:rPr>
              <a:t>For local searches the librarian keeps a short shelf right at the entrance: three names, a map, hours, reviews. Most customers never walk past it.</a:t>
            </a:r>
            <a:endParaRPr lang="en-US" sz="1500" dirty="0"/>
          </a:p>
        </p:txBody>
      </p:sp>
      <p:sp>
        <p:nvSpPr>
          <p:cNvPr id="5" name="Text 3"/>
          <p:cNvSpPr/>
          <p:nvPr/>
        </p:nvSpPr>
        <p:spPr>
          <a:xfrm>
            <a:off x="822960" y="4160520"/>
            <a:ext cx="4663440" cy="822960"/>
          </a:xfrm>
          <a:prstGeom prst="rect">
            <a:avLst/>
          </a:prstGeom>
          <a:noFill/>
          <a:ln/>
        </p:spPr>
        <p:txBody>
          <a:bodyPr wrap="square" lIns="0" tIns="0" rIns="0" bIns="0" rtlCol="0" anchor="ctr"/>
          <a:lstStyle/>
          <a:p>
            <a:pPr indent="0" marL="0">
              <a:lnSpc>
                <a:spcPct val="115000"/>
              </a:lnSpc>
              <a:buNone/>
            </a:pPr>
            <a:r>
              <a:rPr lang="en-US" sz="1900" b="1" dirty="0">
                <a:solidFill>
                  <a:srgbClr val="38BDF8"/>
                </a:solidFill>
                <a:latin typeface="Outfit" pitchFamily="34" charset="0"/>
                <a:ea typeface="Outfit" pitchFamily="34" charset="-122"/>
                <a:cs typeface="Outfit" pitchFamily="34" charset="-120"/>
              </a:rPr>
              <a:t>Local business is won and lost on this shelf.</a:t>
            </a:r>
            <a:endParaRPr lang="en-US" sz="1900" dirty="0"/>
          </a:p>
        </p:txBody>
      </p:sp>
      <p:sp>
        <p:nvSpPr>
          <p:cNvPr id="6" name="Shape 4"/>
          <p:cNvSpPr/>
          <p:nvPr/>
        </p:nvSpPr>
        <p:spPr>
          <a:xfrm>
            <a:off x="6217920" y="1234440"/>
            <a:ext cx="5120640" cy="4206240"/>
          </a:xfrm>
          <a:prstGeom prst="roundRect">
            <a:avLst>
              <a:gd name="adj" fmla="val 2609"/>
            </a:avLst>
          </a:prstGeom>
          <a:solidFill>
            <a:srgbClr val="1E293B">
              <a:alpha val="86000"/>
            </a:srgbClr>
          </a:solidFill>
          <a:ln w="9525">
            <a:solidFill>
              <a:srgbClr val="334155">
                <a:alpha val="65000"/>
              </a:srgbClr>
            </a:solidFill>
            <a:prstDash val="solid"/>
          </a:ln>
          <a:effectLst>
            <a:outerShdw sx="100000" sy="100000" kx="0" ky="0" algn="bl" rotWithShape="0" blurRad="127000" dist="38100" dir="5400000">
              <a:srgbClr val="000000">
                <a:alpha val="35000"/>
              </a:srgbClr>
            </a:outerShdw>
          </a:effectLst>
        </p:spPr>
      </p:sp>
      <p:sp>
        <p:nvSpPr>
          <p:cNvPr id="7" name="Shape 5"/>
          <p:cNvSpPr/>
          <p:nvPr/>
        </p:nvSpPr>
        <p:spPr>
          <a:xfrm>
            <a:off x="6537960" y="1554480"/>
            <a:ext cx="4480560" cy="822960"/>
          </a:xfrm>
          <a:prstGeom prst="roundRect">
            <a:avLst>
              <a:gd name="adj" fmla="val 8889"/>
            </a:avLst>
          </a:prstGeom>
          <a:solidFill>
            <a:srgbClr val="2A3852">
              <a:alpha val="80000"/>
            </a:srgbClr>
          </a:solidFill>
          <a:ln/>
        </p:spPr>
      </p:sp>
      <p:pic>
        <p:nvPicPr>
          <p:cNvPr id="8" name="Image 0" descr="preencoded.png">    </p:cNvPr>
          <p:cNvPicPr>
            <a:picLocks noChangeAspect="1"/>
          </p:cNvPicPr>
          <p:nvPr/>
        </p:nvPicPr>
        <p:blipFill>
          <a:blip r:embed="rId2"/>
          <a:stretch>
            <a:fillRect/>
          </a:stretch>
        </p:blipFill>
        <p:spPr>
          <a:xfrm>
            <a:off x="8595360" y="1755648"/>
            <a:ext cx="411480" cy="411480"/>
          </a:xfrm>
          <a:prstGeom prst="rect">
            <a:avLst/>
          </a:prstGeom>
        </p:spPr>
      </p:pic>
      <p:sp>
        <p:nvSpPr>
          <p:cNvPr id="9" name="Shape 6"/>
          <p:cNvSpPr/>
          <p:nvPr/>
        </p:nvSpPr>
        <p:spPr>
          <a:xfrm>
            <a:off x="6537960" y="2606040"/>
            <a:ext cx="4480560" cy="777240"/>
          </a:xfrm>
          <a:prstGeom prst="roundRect">
            <a:avLst>
              <a:gd name="adj" fmla="val 14118"/>
            </a:avLst>
          </a:prstGeom>
          <a:solidFill>
            <a:srgbClr val="243146">
              <a:alpha val="92000"/>
            </a:srgbClr>
          </a:solidFill>
          <a:ln w="9525">
            <a:solidFill>
              <a:srgbClr val="334155">
                <a:alpha val="65000"/>
              </a:srgbClr>
            </a:solidFill>
            <a:prstDash val="solid"/>
          </a:ln>
          <a:effectLst>
            <a:outerShdw sx="100000" sy="100000" kx="0" ky="0" algn="bl" rotWithShape="0" blurRad="127000" dist="38100" dir="5400000">
              <a:srgbClr val="000000">
                <a:alpha val="35000"/>
              </a:srgbClr>
            </a:outerShdw>
          </a:effectLst>
        </p:spPr>
      </p:sp>
      <p:sp>
        <p:nvSpPr>
          <p:cNvPr id="10" name="Shape 7"/>
          <p:cNvSpPr/>
          <p:nvPr/>
        </p:nvSpPr>
        <p:spPr>
          <a:xfrm>
            <a:off x="6858000" y="2752344"/>
            <a:ext cx="2103120" cy="182880"/>
          </a:xfrm>
          <a:prstGeom prst="roundRect">
            <a:avLst>
              <a:gd name="adj" fmla="val 50000"/>
            </a:avLst>
          </a:prstGeom>
          <a:solidFill>
            <a:srgbClr val="334155">
              <a:alpha val="60000"/>
            </a:srgbClr>
          </a:solidFill>
          <a:ln/>
        </p:spPr>
      </p:sp>
      <p:pic>
        <p:nvPicPr>
          <p:cNvPr id="11" name="Image 1" descr="preencoded.png">    </p:cNvPr>
          <p:cNvPicPr>
            <a:picLocks noChangeAspect="1"/>
          </p:cNvPicPr>
          <p:nvPr/>
        </p:nvPicPr>
        <p:blipFill>
          <a:blip r:embed="rId3"/>
          <a:stretch>
            <a:fillRect/>
          </a:stretch>
        </p:blipFill>
        <p:spPr>
          <a:xfrm>
            <a:off x="6858000" y="3044952"/>
            <a:ext cx="182880" cy="182880"/>
          </a:xfrm>
          <a:prstGeom prst="rect">
            <a:avLst/>
          </a:prstGeom>
        </p:spPr>
      </p:pic>
      <p:sp>
        <p:nvSpPr>
          <p:cNvPr id="12" name="Shape 8"/>
          <p:cNvSpPr/>
          <p:nvPr/>
        </p:nvSpPr>
        <p:spPr>
          <a:xfrm>
            <a:off x="7114032" y="3063240"/>
            <a:ext cx="914400" cy="128016"/>
          </a:xfrm>
          <a:prstGeom prst="roundRect">
            <a:avLst>
              <a:gd name="adj" fmla="val 50000"/>
            </a:avLst>
          </a:prstGeom>
          <a:solidFill>
            <a:srgbClr val="334155">
              <a:alpha val="45000"/>
            </a:srgbClr>
          </a:solidFill>
          <a:ln/>
        </p:spPr>
      </p:sp>
      <p:sp>
        <p:nvSpPr>
          <p:cNvPr id="13" name="Shape 9"/>
          <p:cNvSpPr/>
          <p:nvPr/>
        </p:nvSpPr>
        <p:spPr>
          <a:xfrm>
            <a:off x="9692640" y="2880360"/>
            <a:ext cx="1005840" cy="201168"/>
          </a:xfrm>
          <a:prstGeom prst="roundRect">
            <a:avLst>
              <a:gd name="adj" fmla="val 50000"/>
            </a:avLst>
          </a:prstGeom>
          <a:solidFill>
            <a:srgbClr val="3B82F6">
              <a:alpha val="80000"/>
            </a:srgbClr>
          </a:solidFill>
          <a:ln/>
        </p:spPr>
      </p:sp>
      <p:sp>
        <p:nvSpPr>
          <p:cNvPr id="14" name="Shape 10"/>
          <p:cNvSpPr/>
          <p:nvPr/>
        </p:nvSpPr>
        <p:spPr>
          <a:xfrm>
            <a:off x="6537960" y="3520440"/>
            <a:ext cx="4480560" cy="777240"/>
          </a:xfrm>
          <a:prstGeom prst="roundRect">
            <a:avLst>
              <a:gd name="adj" fmla="val 14118"/>
            </a:avLst>
          </a:prstGeom>
          <a:solidFill>
            <a:srgbClr val="243146">
              <a:alpha val="92000"/>
            </a:srgbClr>
          </a:solidFill>
          <a:ln w="9525">
            <a:solidFill>
              <a:srgbClr val="334155">
                <a:alpha val="65000"/>
              </a:srgbClr>
            </a:solidFill>
            <a:prstDash val="solid"/>
          </a:ln>
          <a:effectLst>
            <a:outerShdw sx="100000" sy="100000" kx="0" ky="0" algn="bl" rotWithShape="0" blurRad="127000" dist="38100" dir="5400000">
              <a:srgbClr val="000000">
                <a:alpha val="35000"/>
              </a:srgbClr>
            </a:outerShdw>
          </a:effectLst>
        </p:spPr>
      </p:sp>
      <p:sp>
        <p:nvSpPr>
          <p:cNvPr id="15" name="Shape 11"/>
          <p:cNvSpPr/>
          <p:nvPr/>
        </p:nvSpPr>
        <p:spPr>
          <a:xfrm>
            <a:off x="6858000" y="3666744"/>
            <a:ext cx="1920240" cy="182880"/>
          </a:xfrm>
          <a:prstGeom prst="roundRect">
            <a:avLst>
              <a:gd name="adj" fmla="val 50000"/>
            </a:avLst>
          </a:prstGeom>
          <a:solidFill>
            <a:srgbClr val="334155">
              <a:alpha val="60000"/>
            </a:srgbClr>
          </a:solidFill>
          <a:ln/>
        </p:spPr>
      </p:sp>
      <p:pic>
        <p:nvPicPr>
          <p:cNvPr id="16" name="Image 2" descr="preencoded.png">    </p:cNvPr>
          <p:cNvPicPr>
            <a:picLocks noChangeAspect="1"/>
          </p:cNvPicPr>
          <p:nvPr/>
        </p:nvPicPr>
        <p:blipFill>
          <a:blip r:embed="rId4"/>
          <a:stretch>
            <a:fillRect/>
          </a:stretch>
        </p:blipFill>
        <p:spPr>
          <a:xfrm>
            <a:off x="6858000" y="3959352"/>
            <a:ext cx="182880" cy="182880"/>
          </a:xfrm>
          <a:prstGeom prst="rect">
            <a:avLst/>
          </a:prstGeom>
        </p:spPr>
      </p:pic>
      <p:sp>
        <p:nvSpPr>
          <p:cNvPr id="17" name="Shape 12"/>
          <p:cNvSpPr/>
          <p:nvPr/>
        </p:nvSpPr>
        <p:spPr>
          <a:xfrm>
            <a:off x="7114032" y="3977640"/>
            <a:ext cx="914400" cy="128016"/>
          </a:xfrm>
          <a:prstGeom prst="roundRect">
            <a:avLst>
              <a:gd name="adj" fmla="val 50000"/>
            </a:avLst>
          </a:prstGeom>
          <a:solidFill>
            <a:srgbClr val="334155">
              <a:alpha val="45000"/>
            </a:srgbClr>
          </a:solidFill>
          <a:ln/>
        </p:spPr>
      </p:sp>
      <p:sp>
        <p:nvSpPr>
          <p:cNvPr id="18" name="Shape 13"/>
          <p:cNvSpPr/>
          <p:nvPr/>
        </p:nvSpPr>
        <p:spPr>
          <a:xfrm>
            <a:off x="9692640" y="3794760"/>
            <a:ext cx="1005840" cy="201168"/>
          </a:xfrm>
          <a:prstGeom prst="roundRect">
            <a:avLst>
              <a:gd name="adj" fmla="val 50000"/>
            </a:avLst>
          </a:prstGeom>
          <a:solidFill>
            <a:srgbClr val="3B82F6">
              <a:alpha val="45000"/>
            </a:srgbClr>
          </a:solidFill>
          <a:ln/>
        </p:spPr>
      </p:sp>
      <p:sp>
        <p:nvSpPr>
          <p:cNvPr id="19" name="Shape 14"/>
          <p:cNvSpPr/>
          <p:nvPr/>
        </p:nvSpPr>
        <p:spPr>
          <a:xfrm>
            <a:off x="6537960" y="4434840"/>
            <a:ext cx="4480560" cy="777240"/>
          </a:xfrm>
          <a:prstGeom prst="roundRect">
            <a:avLst>
              <a:gd name="adj" fmla="val 14118"/>
            </a:avLst>
          </a:prstGeom>
          <a:solidFill>
            <a:srgbClr val="243146">
              <a:alpha val="92000"/>
            </a:srgbClr>
          </a:solidFill>
          <a:ln w="9525">
            <a:solidFill>
              <a:srgbClr val="334155">
                <a:alpha val="65000"/>
              </a:srgbClr>
            </a:solidFill>
            <a:prstDash val="solid"/>
          </a:ln>
          <a:effectLst>
            <a:outerShdw sx="100000" sy="100000" kx="0" ky="0" algn="bl" rotWithShape="0" blurRad="127000" dist="38100" dir="5400000">
              <a:srgbClr val="000000">
                <a:alpha val="35000"/>
              </a:srgbClr>
            </a:outerShdw>
          </a:effectLst>
        </p:spPr>
      </p:sp>
      <p:sp>
        <p:nvSpPr>
          <p:cNvPr id="20" name="Shape 15"/>
          <p:cNvSpPr/>
          <p:nvPr/>
        </p:nvSpPr>
        <p:spPr>
          <a:xfrm>
            <a:off x="6858000" y="4581144"/>
            <a:ext cx="1737360" cy="182880"/>
          </a:xfrm>
          <a:prstGeom prst="roundRect">
            <a:avLst>
              <a:gd name="adj" fmla="val 50000"/>
            </a:avLst>
          </a:prstGeom>
          <a:solidFill>
            <a:srgbClr val="334155">
              <a:alpha val="60000"/>
            </a:srgbClr>
          </a:solidFill>
          <a:ln/>
        </p:spPr>
      </p:sp>
      <p:pic>
        <p:nvPicPr>
          <p:cNvPr id="21" name="Image 3" descr="preencoded.png">    </p:cNvPr>
          <p:cNvPicPr>
            <a:picLocks noChangeAspect="1"/>
          </p:cNvPicPr>
          <p:nvPr/>
        </p:nvPicPr>
        <p:blipFill>
          <a:blip r:embed="rId5"/>
          <a:stretch>
            <a:fillRect/>
          </a:stretch>
        </p:blipFill>
        <p:spPr>
          <a:xfrm>
            <a:off x="6858000" y="4873752"/>
            <a:ext cx="182880" cy="182880"/>
          </a:xfrm>
          <a:prstGeom prst="rect">
            <a:avLst/>
          </a:prstGeom>
        </p:spPr>
      </p:pic>
      <p:sp>
        <p:nvSpPr>
          <p:cNvPr id="22" name="Shape 16"/>
          <p:cNvSpPr/>
          <p:nvPr/>
        </p:nvSpPr>
        <p:spPr>
          <a:xfrm>
            <a:off x="7114032" y="4892040"/>
            <a:ext cx="914400" cy="128016"/>
          </a:xfrm>
          <a:prstGeom prst="roundRect">
            <a:avLst>
              <a:gd name="adj" fmla="val 50000"/>
            </a:avLst>
          </a:prstGeom>
          <a:solidFill>
            <a:srgbClr val="334155">
              <a:alpha val="45000"/>
            </a:srgbClr>
          </a:solidFill>
          <a:ln/>
        </p:spPr>
      </p:sp>
      <p:sp>
        <p:nvSpPr>
          <p:cNvPr id="23" name="Shape 17"/>
          <p:cNvSpPr/>
          <p:nvPr/>
        </p:nvSpPr>
        <p:spPr>
          <a:xfrm>
            <a:off x="9692640" y="4709160"/>
            <a:ext cx="1005840" cy="201168"/>
          </a:xfrm>
          <a:prstGeom prst="roundRect">
            <a:avLst>
              <a:gd name="adj" fmla="val 50000"/>
            </a:avLst>
          </a:prstGeom>
          <a:solidFill>
            <a:srgbClr val="3B82F6">
              <a:alpha val="45000"/>
            </a:srgbClr>
          </a:solidFill>
          <a:ln/>
        </p:spPr>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822960" y="777240"/>
            <a:ext cx="6400800" cy="292608"/>
          </a:xfrm>
          <a:prstGeom prst="rect">
            <a:avLst/>
          </a:prstGeom>
          <a:noFill/>
          <a:ln/>
        </p:spPr>
        <p:txBody>
          <a:bodyPr wrap="square" lIns="0" tIns="0" rIns="0" bIns="0" rtlCol="0" anchor="ctr"/>
          <a:lstStyle/>
          <a:p>
            <a:pPr algn="l" indent="0" marL="0">
              <a:buNone/>
            </a:pPr>
            <a:r>
              <a:rPr lang="en-US" sz="1100" b="1" spc="300" kern="0" dirty="0">
                <a:solidFill>
                  <a:srgbClr val="38BDF8"/>
                </a:solidFill>
                <a:latin typeface="Inter" pitchFamily="34" charset="0"/>
                <a:ea typeface="Inter" pitchFamily="34" charset="-122"/>
                <a:cs typeface="Inter" pitchFamily="34" charset="-120"/>
              </a:rPr>
              <a:t>PROOF, NOT PROMISES</a:t>
            </a:r>
            <a:endParaRPr lang="en-US" sz="1100" dirty="0"/>
          </a:p>
        </p:txBody>
      </p:sp>
      <p:sp>
        <p:nvSpPr>
          <p:cNvPr id="3" name="Text 1"/>
          <p:cNvSpPr/>
          <p:nvPr/>
        </p:nvSpPr>
        <p:spPr>
          <a:xfrm>
            <a:off x="795528" y="1188720"/>
            <a:ext cx="7772400" cy="914400"/>
          </a:xfrm>
          <a:prstGeom prst="rect">
            <a:avLst/>
          </a:prstGeom>
          <a:noFill/>
          <a:ln/>
        </p:spPr>
        <p:txBody>
          <a:bodyPr wrap="square" lIns="0" tIns="0" rIns="0" bIns="0" rtlCol="0" anchor="ctr"/>
          <a:lstStyle/>
          <a:p>
            <a:pPr algn="l" indent="0" marL="0">
              <a:lnSpc>
                <a:spcPct val="104000"/>
              </a:lnSpc>
              <a:buNone/>
            </a:pPr>
            <a:r>
              <a:rPr lang="en-US" sz="3200" b="1" dirty="0">
                <a:solidFill>
                  <a:srgbClr val="F8FAFC"/>
                </a:solidFill>
                <a:latin typeface="Outfit" pitchFamily="34" charset="0"/>
                <a:ea typeface="Outfit" pitchFamily="34" charset="-122"/>
                <a:cs typeface="Outfit" pitchFamily="34" charset="-120"/>
              </a:rPr>
              <a:t>We audited the room you are sitting in.</a:t>
            </a:r>
            <a:endParaRPr lang="en-US" sz="3200" dirty="0"/>
          </a:p>
        </p:txBody>
      </p:sp>
      <p:sp>
        <p:nvSpPr>
          <p:cNvPr id="4" name="Shape 2"/>
          <p:cNvSpPr/>
          <p:nvPr/>
        </p:nvSpPr>
        <p:spPr>
          <a:xfrm>
            <a:off x="822960" y="2194560"/>
            <a:ext cx="1783080" cy="1600200"/>
          </a:xfrm>
          <a:prstGeom prst="roundRect">
            <a:avLst>
              <a:gd name="adj" fmla="val 6857"/>
            </a:avLst>
          </a:prstGeom>
          <a:solidFill>
            <a:srgbClr val="1E293B">
              <a:alpha val="86000"/>
            </a:srgbClr>
          </a:solidFill>
          <a:ln w="9525">
            <a:solidFill>
              <a:srgbClr val="334155">
                <a:alpha val="65000"/>
              </a:srgbClr>
            </a:solidFill>
            <a:prstDash val="solid"/>
          </a:ln>
          <a:effectLst>
            <a:outerShdw sx="100000" sy="100000" kx="0" ky="0" algn="bl" rotWithShape="0" blurRad="127000" dist="38100" dir="5400000">
              <a:srgbClr val="000000">
                <a:alpha val="35000"/>
              </a:srgbClr>
            </a:outerShdw>
          </a:effectLst>
        </p:spPr>
      </p:sp>
      <p:sp>
        <p:nvSpPr>
          <p:cNvPr id="5" name="Text 3"/>
          <p:cNvSpPr/>
          <p:nvPr/>
        </p:nvSpPr>
        <p:spPr>
          <a:xfrm>
            <a:off x="932688" y="2377440"/>
            <a:ext cx="1563624" cy="685800"/>
          </a:xfrm>
          <a:prstGeom prst="rect">
            <a:avLst/>
          </a:prstGeom>
          <a:noFill/>
          <a:ln/>
        </p:spPr>
        <p:txBody>
          <a:bodyPr wrap="square" lIns="0" tIns="0" rIns="0" bIns="0" rtlCol="0" anchor="ctr"/>
          <a:lstStyle/>
          <a:p>
            <a:pPr algn="ctr" indent="0" marL="0">
              <a:buNone/>
            </a:pPr>
            <a:r>
              <a:rPr lang="en-US" sz="4000" b="1" dirty="0">
                <a:solidFill>
                  <a:srgbClr val="10B981"/>
                </a:solidFill>
                <a:latin typeface="Outfit" pitchFamily="34" charset="0"/>
                <a:ea typeface="Outfit" pitchFamily="34" charset="-122"/>
                <a:cs typeface="Outfit" pitchFamily="34" charset="-120"/>
              </a:rPr>
              <a:t>20</a:t>
            </a:r>
            <a:endParaRPr lang="en-US" sz="4000" dirty="0"/>
          </a:p>
        </p:txBody>
      </p:sp>
      <p:sp>
        <p:nvSpPr>
          <p:cNvPr id="6" name="Text 4"/>
          <p:cNvSpPr/>
          <p:nvPr/>
        </p:nvSpPr>
        <p:spPr>
          <a:xfrm>
            <a:off x="932688" y="3154680"/>
            <a:ext cx="1563624" cy="548640"/>
          </a:xfrm>
          <a:prstGeom prst="rect">
            <a:avLst/>
          </a:prstGeom>
          <a:noFill/>
          <a:ln/>
        </p:spPr>
        <p:txBody>
          <a:bodyPr wrap="square" lIns="0" tIns="0" rIns="0" bIns="0" rtlCol="0" anchor="t"/>
          <a:lstStyle/>
          <a:p>
            <a:pPr algn="ctr" indent="0" marL="0">
              <a:lnSpc>
                <a:spcPct val="115000"/>
              </a:lnSpc>
              <a:buNone/>
            </a:pPr>
            <a:r>
              <a:rPr lang="en-US" sz="1100" dirty="0">
                <a:solidFill>
                  <a:srgbClr val="94A3B8"/>
                </a:solidFill>
                <a:latin typeface="Inter" pitchFamily="34" charset="0"/>
                <a:ea typeface="Inter" pitchFamily="34" charset="-122"/>
                <a:cs typeface="Inter" pitchFamily="34" charset="-120"/>
              </a:rPr>
              <a:t>searches measured</a:t>
            </a:r>
            <a:endParaRPr lang="en-US" sz="1100" dirty="0"/>
          </a:p>
        </p:txBody>
      </p:sp>
      <p:sp>
        <p:nvSpPr>
          <p:cNvPr id="7" name="Shape 5"/>
          <p:cNvSpPr/>
          <p:nvPr/>
        </p:nvSpPr>
        <p:spPr>
          <a:xfrm>
            <a:off x="2788920" y="2194560"/>
            <a:ext cx="1783080" cy="1600200"/>
          </a:xfrm>
          <a:prstGeom prst="roundRect">
            <a:avLst>
              <a:gd name="adj" fmla="val 6857"/>
            </a:avLst>
          </a:prstGeom>
          <a:solidFill>
            <a:srgbClr val="1E293B">
              <a:alpha val="86000"/>
            </a:srgbClr>
          </a:solidFill>
          <a:ln w="9525">
            <a:solidFill>
              <a:srgbClr val="334155">
                <a:alpha val="65000"/>
              </a:srgbClr>
            </a:solidFill>
            <a:prstDash val="solid"/>
          </a:ln>
          <a:effectLst>
            <a:outerShdw sx="100000" sy="100000" kx="0" ky="0" algn="bl" rotWithShape="0" blurRad="127000" dist="38100" dir="5400000">
              <a:srgbClr val="000000">
                <a:alpha val="35000"/>
              </a:srgbClr>
            </a:outerShdw>
          </a:effectLst>
        </p:spPr>
      </p:sp>
      <p:sp>
        <p:nvSpPr>
          <p:cNvPr id="8" name="Text 6"/>
          <p:cNvSpPr/>
          <p:nvPr/>
        </p:nvSpPr>
        <p:spPr>
          <a:xfrm>
            <a:off x="2898648" y="2377440"/>
            <a:ext cx="1563624" cy="685800"/>
          </a:xfrm>
          <a:prstGeom prst="rect">
            <a:avLst/>
          </a:prstGeom>
          <a:noFill/>
          <a:ln/>
        </p:spPr>
        <p:txBody>
          <a:bodyPr wrap="square" lIns="0" tIns="0" rIns="0" bIns="0" rtlCol="0" anchor="ctr"/>
          <a:lstStyle/>
          <a:p>
            <a:pPr algn="ctr" indent="0" marL="0">
              <a:buNone/>
            </a:pPr>
            <a:r>
              <a:rPr lang="en-US" sz="2600" b="1" dirty="0">
                <a:solidFill>
                  <a:srgbClr val="10B981"/>
                </a:solidFill>
                <a:latin typeface="Outfit" pitchFamily="34" charset="0"/>
                <a:ea typeface="Outfit" pitchFamily="34" charset="-122"/>
                <a:cs typeface="Outfit" pitchFamily="34" charset="-120"/>
              </a:rPr>
              <a:t>17 of 20</a:t>
            </a:r>
            <a:endParaRPr lang="en-US" sz="2600" dirty="0"/>
          </a:p>
        </p:txBody>
      </p:sp>
      <p:sp>
        <p:nvSpPr>
          <p:cNvPr id="9" name="Text 7"/>
          <p:cNvSpPr/>
          <p:nvPr/>
        </p:nvSpPr>
        <p:spPr>
          <a:xfrm>
            <a:off x="2898648" y="3154680"/>
            <a:ext cx="1563624" cy="548640"/>
          </a:xfrm>
          <a:prstGeom prst="rect">
            <a:avLst/>
          </a:prstGeom>
          <a:noFill/>
          <a:ln/>
        </p:spPr>
        <p:txBody>
          <a:bodyPr wrap="square" lIns="0" tIns="0" rIns="0" bIns="0" rtlCol="0" anchor="t"/>
          <a:lstStyle/>
          <a:p>
            <a:pPr algn="ctr" indent="0" marL="0">
              <a:lnSpc>
                <a:spcPct val="115000"/>
              </a:lnSpc>
              <a:buNone/>
            </a:pPr>
            <a:r>
              <a:rPr lang="en-US" sz="1100" dirty="0">
                <a:solidFill>
                  <a:srgbClr val="94A3B8"/>
                </a:solidFill>
                <a:latin typeface="Inter" pitchFamily="34" charset="0"/>
                <a:ea typeface="Inter" pitchFamily="34" charset="-122"/>
                <a:cs typeface="Inter" pitchFamily="34" charset="-120"/>
              </a:rPr>
              <a:t>on the shelf, top three</a:t>
            </a:r>
            <a:endParaRPr lang="en-US" sz="1100" dirty="0"/>
          </a:p>
        </p:txBody>
      </p:sp>
      <p:sp>
        <p:nvSpPr>
          <p:cNvPr id="10" name="Shape 8"/>
          <p:cNvSpPr/>
          <p:nvPr/>
        </p:nvSpPr>
        <p:spPr>
          <a:xfrm>
            <a:off x="4754880" y="2194560"/>
            <a:ext cx="1783080" cy="1600200"/>
          </a:xfrm>
          <a:prstGeom prst="roundRect">
            <a:avLst>
              <a:gd name="adj" fmla="val 6857"/>
            </a:avLst>
          </a:prstGeom>
          <a:solidFill>
            <a:srgbClr val="1E293B">
              <a:alpha val="86000"/>
            </a:srgbClr>
          </a:solidFill>
          <a:ln w="9525">
            <a:solidFill>
              <a:srgbClr val="334155">
                <a:alpha val="65000"/>
              </a:srgbClr>
            </a:solidFill>
            <a:prstDash val="solid"/>
          </a:ln>
          <a:effectLst>
            <a:outerShdw sx="100000" sy="100000" kx="0" ky="0" algn="bl" rotWithShape="0" blurRad="127000" dist="38100" dir="5400000">
              <a:srgbClr val="000000">
                <a:alpha val="35000"/>
              </a:srgbClr>
            </a:outerShdw>
          </a:effectLst>
        </p:spPr>
      </p:sp>
      <p:sp>
        <p:nvSpPr>
          <p:cNvPr id="11" name="Text 9"/>
          <p:cNvSpPr/>
          <p:nvPr/>
        </p:nvSpPr>
        <p:spPr>
          <a:xfrm>
            <a:off x="4864608" y="2377440"/>
            <a:ext cx="1563624" cy="685800"/>
          </a:xfrm>
          <a:prstGeom prst="rect">
            <a:avLst/>
          </a:prstGeom>
          <a:noFill/>
          <a:ln/>
        </p:spPr>
        <p:txBody>
          <a:bodyPr wrap="square" lIns="0" tIns="0" rIns="0" bIns="0" rtlCol="0" anchor="ctr"/>
          <a:lstStyle/>
          <a:p>
            <a:pPr algn="ctr" indent="0" marL="0">
              <a:buNone/>
            </a:pPr>
            <a:r>
              <a:rPr lang="en-US" sz="4000" b="1" dirty="0">
                <a:solidFill>
                  <a:srgbClr val="10B981"/>
                </a:solidFill>
                <a:latin typeface="Outfit" pitchFamily="34" charset="0"/>
                <a:ea typeface="Outfit" pitchFamily="34" charset="-122"/>
                <a:cs typeface="Outfit" pitchFamily="34" charset="-120"/>
              </a:rPr>
              <a:t>12</a:t>
            </a:r>
            <a:endParaRPr lang="en-US" sz="4000" dirty="0"/>
          </a:p>
        </p:txBody>
      </p:sp>
      <p:sp>
        <p:nvSpPr>
          <p:cNvPr id="12" name="Text 10"/>
          <p:cNvSpPr/>
          <p:nvPr/>
        </p:nvSpPr>
        <p:spPr>
          <a:xfrm>
            <a:off x="4864608" y="3154680"/>
            <a:ext cx="1563624" cy="548640"/>
          </a:xfrm>
          <a:prstGeom prst="rect">
            <a:avLst/>
          </a:prstGeom>
          <a:noFill/>
          <a:ln/>
        </p:spPr>
        <p:txBody>
          <a:bodyPr wrap="square" lIns="0" tIns="0" rIns="0" bIns="0" rtlCol="0" anchor="t"/>
          <a:lstStyle/>
          <a:p>
            <a:pPr algn="ctr" indent="0" marL="0">
              <a:lnSpc>
                <a:spcPct val="115000"/>
              </a:lnSpc>
              <a:buNone/>
            </a:pPr>
            <a:r>
              <a:rPr lang="en-US" sz="1100" dirty="0">
                <a:solidFill>
                  <a:srgbClr val="94A3B8"/>
                </a:solidFill>
                <a:latin typeface="Inter" pitchFamily="34" charset="0"/>
                <a:ea typeface="Inter" pitchFamily="34" charset="-122"/>
                <a:cs typeface="Inter" pitchFamily="34" charset="-120"/>
              </a:rPr>
              <a:t>ranked number one</a:t>
            </a:r>
            <a:endParaRPr lang="en-US" sz="1100" dirty="0"/>
          </a:p>
        </p:txBody>
      </p:sp>
      <p:sp>
        <p:nvSpPr>
          <p:cNvPr id="13" name="Text 11"/>
          <p:cNvSpPr/>
          <p:nvPr/>
        </p:nvSpPr>
        <p:spPr>
          <a:xfrm>
            <a:off x="822960" y="4023360"/>
            <a:ext cx="5669280" cy="320040"/>
          </a:xfrm>
          <a:prstGeom prst="rect">
            <a:avLst/>
          </a:prstGeom>
          <a:noFill/>
          <a:ln/>
        </p:spPr>
        <p:txBody>
          <a:bodyPr wrap="square" lIns="0" tIns="0" rIns="0" bIns="0" rtlCol="0" anchor="ctr"/>
          <a:lstStyle/>
          <a:p>
            <a:pPr indent="0" marL="0">
              <a:buNone/>
            </a:pPr>
            <a:r>
              <a:rPr lang="en-US" sz="1250" dirty="0">
                <a:solidFill>
                  <a:srgbClr val="94A3B8"/>
                </a:solidFill>
                <a:latin typeface="Inter" pitchFamily="34" charset="0"/>
                <a:ea typeface="Inter" pitchFamily="34" charset="-122"/>
                <a:cs typeface="Inter" pitchFamily="34" charset="-120"/>
              </a:rPr>
              <a:t>River Arts Venue  ·  Rome market  ·  measured July 19</a:t>
            </a:r>
            <a:endParaRPr lang="en-US" sz="1250" dirty="0"/>
          </a:p>
        </p:txBody>
      </p:sp>
      <p:sp>
        <p:nvSpPr>
          <p:cNvPr id="14" name="Text 12">
            <a:hlinkClick r:id="rId2" tooltip=""/>
          </p:cNvPr>
          <p:cNvSpPr/>
          <p:nvPr/>
        </p:nvSpPr>
        <p:spPr>
          <a:xfrm>
            <a:off x="822960" y="4370832"/>
            <a:ext cx="5760720" cy="320040"/>
          </a:xfrm>
          <a:prstGeom prst="rect">
            <a:avLst/>
          </a:prstGeom>
          <a:noFill/>
          <a:ln/>
        </p:spPr>
        <p:txBody>
          <a:bodyPr wrap="square" lIns="0" tIns="0" rIns="0" bIns="0" rtlCol="0" anchor="ctr"/>
          <a:lstStyle/>
          <a:p>
            <a:pPr indent="0" marL="0">
              <a:buNone/>
            </a:pPr>
            <a:r>
              <a:rPr lang="en-US" sz="1250" u="sng" dirty="0">
                <a:solidFill>
                  <a:srgbClr val="38BDF8"/>
                </a:solidFill>
                <a:latin typeface="Inter" pitchFamily="34" charset="0"/>
                <a:ea typeface="Inter" pitchFamily="34" charset="-122"/>
                <a:cs typeface="Inter" pitchFamily="34" charset="-120"/>
                <a:hlinkClick r:id="rId2" invalidUrl="" action="" tgtFrame="" tooltip="" history="1" highlightClick="0" endSnd="0">
                  <a:extLst>
                    <a:ext uri="{A12FA001-AC4F-418D-AE19-62706E023703}">
                      <ahyp:hlinkClr xmlns:ahyp="http://schemas.microsoft.com/office/drawing/2018/hyperlinkcolor" val="tx"/>
                    </a:ext>
                  </a:extLst>
                </a:hlinkClick>
              </a:rPr>
              <a:t>forge-dev-studio.github.io/client-reports/river-arts-venue</a:t>
            </a:r>
            <a:endParaRPr lang="en-US" sz="1250" dirty="0"/>
          </a:p>
        </p:txBody>
      </p:sp>
      <p:sp>
        <p:nvSpPr>
          <p:cNvPr id="15" name="Text 13"/>
          <p:cNvSpPr/>
          <p:nvPr/>
        </p:nvSpPr>
        <p:spPr>
          <a:xfrm>
            <a:off x="822960" y="4846320"/>
            <a:ext cx="5760720" cy="868680"/>
          </a:xfrm>
          <a:prstGeom prst="rect">
            <a:avLst/>
          </a:prstGeom>
          <a:noFill/>
          <a:ln/>
        </p:spPr>
        <p:txBody>
          <a:bodyPr wrap="square" lIns="0" tIns="0" rIns="0" bIns="0" rtlCol="0" anchor="ctr"/>
          <a:lstStyle/>
          <a:p>
            <a:pPr indent="0" marL="0">
              <a:lnSpc>
                <a:spcPct val="125000"/>
              </a:lnSpc>
              <a:buNone/>
            </a:pPr>
            <a:r>
              <a:rPr lang="en-US" sz="1350" dirty="0">
                <a:solidFill>
                  <a:srgbClr val="CBD5E1"/>
                </a:solidFill>
                <a:latin typeface="Inter" pitchFamily="34" charset="0"/>
                <a:ea typeface="Inter" pitchFamily="34" charset="-122"/>
                <a:cs typeface="Inter" pitchFamily="34" charset="-120"/>
              </a:rPr>
              <a:t>The edges show up too: wedding venue at 6, birthday party and rehearsal dinner at 5. Finding those is the point of an audit.</a:t>
            </a:r>
            <a:endParaRPr lang="en-US" sz="1350" dirty="0"/>
          </a:p>
        </p:txBody>
      </p:sp>
      <p:sp>
        <p:nvSpPr>
          <p:cNvPr id="16" name="Shape 14"/>
          <p:cNvSpPr/>
          <p:nvPr/>
        </p:nvSpPr>
        <p:spPr>
          <a:xfrm>
            <a:off x="6995160" y="1874520"/>
            <a:ext cx="4343400" cy="3794760"/>
          </a:xfrm>
          <a:prstGeom prst="roundRect">
            <a:avLst>
              <a:gd name="adj" fmla="val 2892"/>
            </a:avLst>
          </a:prstGeom>
          <a:solidFill>
            <a:srgbClr val="1E293B">
              <a:alpha val="90000"/>
            </a:srgbClr>
          </a:solidFill>
          <a:ln w="9525">
            <a:solidFill>
              <a:srgbClr val="334155">
                <a:alpha val="65000"/>
              </a:srgbClr>
            </a:solidFill>
            <a:prstDash val="solid"/>
          </a:ln>
          <a:effectLst>
            <a:outerShdw sx="100000" sy="100000" kx="0" ky="0" algn="bl" rotWithShape="0" blurRad="127000" dist="38100" dir="5400000">
              <a:srgbClr val="000000">
                <a:alpha val="35000"/>
              </a:srgbClr>
            </a:outerShdw>
          </a:effectLst>
        </p:spPr>
      </p:sp>
      <p:pic>
        <p:nvPicPr>
          <p:cNvPr id="17" name="Image 0" descr="preencoded.png">    </p:cNvPr>
          <p:cNvPicPr>
            <a:picLocks noChangeAspect="1"/>
          </p:cNvPicPr>
          <p:nvPr/>
        </p:nvPicPr>
        <p:blipFill>
          <a:blip r:embed="rId3"/>
          <a:stretch>
            <a:fillRect/>
          </a:stretch>
        </p:blipFill>
        <p:spPr>
          <a:xfrm>
            <a:off x="7315200" y="2176272"/>
            <a:ext cx="274320" cy="274320"/>
          </a:xfrm>
          <a:prstGeom prst="rect">
            <a:avLst/>
          </a:prstGeom>
        </p:spPr>
      </p:pic>
      <p:sp>
        <p:nvSpPr>
          <p:cNvPr id="18" name="Text 15"/>
          <p:cNvSpPr/>
          <p:nvPr/>
        </p:nvSpPr>
        <p:spPr>
          <a:xfrm>
            <a:off x="7699248" y="2121408"/>
            <a:ext cx="3474720" cy="365760"/>
          </a:xfrm>
          <a:prstGeom prst="rect">
            <a:avLst/>
          </a:prstGeom>
          <a:noFill/>
          <a:ln/>
        </p:spPr>
        <p:txBody>
          <a:bodyPr wrap="square" lIns="0" tIns="0" rIns="0" bIns="0" rtlCol="0" anchor="ctr"/>
          <a:lstStyle/>
          <a:p>
            <a:pPr indent="0" marL="0">
              <a:buNone/>
            </a:pPr>
            <a:r>
              <a:rPr lang="en-US" sz="1400" dirty="0">
                <a:solidFill>
                  <a:srgbClr val="F8FAFC"/>
                </a:solidFill>
                <a:latin typeface="Inter" pitchFamily="34" charset="0"/>
                <a:ea typeface="Inter" pitchFamily="34" charset="-122"/>
                <a:cs typeface="Inter" pitchFamily="34" charset="-120"/>
              </a:rPr>
              <a:t>event venue rome ga</a:t>
            </a:r>
            <a:endParaRPr lang="en-US" sz="1400" dirty="0"/>
          </a:p>
        </p:txBody>
      </p:sp>
      <p:sp>
        <p:nvSpPr>
          <p:cNvPr id="19" name="Shape 16"/>
          <p:cNvSpPr/>
          <p:nvPr/>
        </p:nvSpPr>
        <p:spPr>
          <a:xfrm>
            <a:off x="7315200" y="2697480"/>
            <a:ext cx="3703320" cy="804672"/>
          </a:xfrm>
          <a:prstGeom prst="roundRect">
            <a:avLst>
              <a:gd name="adj" fmla="val 13636"/>
            </a:avLst>
          </a:prstGeom>
          <a:solidFill>
            <a:srgbClr val="243146"/>
          </a:solidFill>
          <a:ln w="15875">
            <a:solidFill>
              <a:srgbClr val="10B981">
                <a:alpha val="75000"/>
              </a:srgbClr>
            </a:solidFill>
            <a:prstDash val="solid"/>
          </a:ln>
          <a:effectLst>
            <a:outerShdw sx="100000" sy="100000" kx="0" ky="0" algn="bl" rotWithShape="0" blurRad="127000" dist="38100" dir="5400000">
              <a:srgbClr val="000000">
                <a:alpha val="35000"/>
              </a:srgbClr>
            </a:outerShdw>
          </a:effectLst>
        </p:spPr>
      </p:sp>
      <p:sp>
        <p:nvSpPr>
          <p:cNvPr id="20" name="Shape 17"/>
          <p:cNvSpPr/>
          <p:nvPr/>
        </p:nvSpPr>
        <p:spPr>
          <a:xfrm>
            <a:off x="7498080" y="2898648"/>
            <a:ext cx="402336" cy="402336"/>
          </a:xfrm>
          <a:prstGeom prst="ellipse">
            <a:avLst/>
          </a:prstGeom>
          <a:solidFill>
            <a:srgbClr val="10B981"/>
          </a:solidFill>
          <a:ln/>
        </p:spPr>
      </p:sp>
      <p:sp>
        <p:nvSpPr>
          <p:cNvPr id="21" name="Text 18"/>
          <p:cNvSpPr/>
          <p:nvPr/>
        </p:nvSpPr>
        <p:spPr>
          <a:xfrm>
            <a:off x="7498080" y="2880360"/>
            <a:ext cx="402336" cy="402336"/>
          </a:xfrm>
          <a:prstGeom prst="rect">
            <a:avLst/>
          </a:prstGeom>
          <a:noFill/>
          <a:ln/>
        </p:spPr>
        <p:txBody>
          <a:bodyPr wrap="square" lIns="0" tIns="0" rIns="0" bIns="0" rtlCol="0" anchor="ctr"/>
          <a:lstStyle/>
          <a:p>
            <a:pPr algn="ctr" indent="0" marL="0">
              <a:buNone/>
            </a:pPr>
            <a:r>
              <a:rPr lang="en-US" sz="1400" b="1" dirty="0">
                <a:solidFill>
                  <a:srgbClr val="0B1120"/>
                </a:solidFill>
                <a:latin typeface="Outfit" pitchFamily="34" charset="0"/>
                <a:ea typeface="Outfit" pitchFamily="34" charset="-122"/>
                <a:cs typeface="Outfit" pitchFamily="34" charset="-120"/>
              </a:rPr>
              <a:t>1</a:t>
            </a:r>
            <a:endParaRPr lang="en-US" sz="1400" dirty="0"/>
          </a:p>
        </p:txBody>
      </p:sp>
      <p:sp>
        <p:nvSpPr>
          <p:cNvPr id="22" name="Text 19"/>
          <p:cNvSpPr/>
          <p:nvPr/>
        </p:nvSpPr>
        <p:spPr>
          <a:xfrm>
            <a:off x="8065008" y="2816352"/>
            <a:ext cx="2834640" cy="320040"/>
          </a:xfrm>
          <a:prstGeom prst="rect">
            <a:avLst/>
          </a:prstGeom>
          <a:noFill/>
          <a:ln/>
        </p:spPr>
        <p:txBody>
          <a:bodyPr wrap="square" lIns="0" tIns="0" rIns="0" bIns="0" rtlCol="0" anchor="ctr"/>
          <a:lstStyle/>
          <a:p>
            <a:pPr indent="0" marL="0">
              <a:buNone/>
            </a:pPr>
            <a:r>
              <a:rPr lang="en-US" sz="1400" b="1" dirty="0">
                <a:solidFill>
                  <a:srgbClr val="F8FAFC"/>
                </a:solidFill>
                <a:latin typeface="Outfit" pitchFamily="34" charset="0"/>
                <a:ea typeface="Outfit" pitchFamily="34" charset="-122"/>
                <a:cs typeface="Outfit" pitchFamily="34" charset="-120"/>
              </a:rPr>
              <a:t>River Arts Venue</a:t>
            </a:r>
            <a:endParaRPr lang="en-US" sz="1400" dirty="0"/>
          </a:p>
        </p:txBody>
      </p:sp>
      <p:pic>
        <p:nvPicPr>
          <p:cNvPr id="23" name="Image 1" descr="preencoded.png">    </p:cNvPr>
          <p:cNvPicPr>
            <a:picLocks noChangeAspect="1"/>
          </p:cNvPicPr>
          <p:nvPr/>
        </p:nvPicPr>
        <p:blipFill>
          <a:blip r:embed="rId4"/>
          <a:stretch>
            <a:fillRect/>
          </a:stretch>
        </p:blipFill>
        <p:spPr>
          <a:xfrm>
            <a:off x="8083296" y="3163824"/>
            <a:ext cx="173736" cy="173736"/>
          </a:xfrm>
          <a:prstGeom prst="rect">
            <a:avLst/>
          </a:prstGeom>
        </p:spPr>
      </p:pic>
      <p:sp>
        <p:nvSpPr>
          <p:cNvPr id="24" name="Text 20"/>
          <p:cNvSpPr/>
          <p:nvPr/>
        </p:nvSpPr>
        <p:spPr>
          <a:xfrm>
            <a:off x="8321040" y="3099816"/>
            <a:ext cx="1097280" cy="274320"/>
          </a:xfrm>
          <a:prstGeom prst="rect">
            <a:avLst/>
          </a:prstGeom>
          <a:noFill/>
          <a:ln/>
        </p:spPr>
        <p:txBody>
          <a:bodyPr wrap="square" lIns="0" tIns="0" rIns="0" bIns="0" rtlCol="0" anchor="ctr"/>
          <a:lstStyle/>
          <a:p>
            <a:pPr indent="0" marL="0">
              <a:buNone/>
            </a:pPr>
            <a:r>
              <a:rPr lang="en-US" sz="1200" dirty="0">
                <a:solidFill>
                  <a:srgbClr val="CBD5E1"/>
                </a:solidFill>
                <a:latin typeface="Inter" pitchFamily="34" charset="0"/>
                <a:ea typeface="Inter" pitchFamily="34" charset="-122"/>
                <a:cs typeface="Inter" pitchFamily="34" charset="-120"/>
              </a:rPr>
              <a:t>5.0</a:t>
            </a:r>
            <a:endParaRPr lang="en-US" sz="1200" dirty="0"/>
          </a:p>
        </p:txBody>
      </p:sp>
      <p:sp>
        <p:nvSpPr>
          <p:cNvPr id="25" name="Shape 21"/>
          <p:cNvSpPr/>
          <p:nvPr/>
        </p:nvSpPr>
        <p:spPr>
          <a:xfrm>
            <a:off x="7315200" y="3630168"/>
            <a:ext cx="3703320" cy="804672"/>
          </a:xfrm>
          <a:prstGeom prst="roundRect">
            <a:avLst>
              <a:gd name="adj" fmla="val 13636"/>
            </a:avLst>
          </a:prstGeom>
          <a:solidFill>
            <a:srgbClr val="1E293B">
              <a:alpha val="80000"/>
            </a:srgbClr>
          </a:solidFill>
          <a:ln w="9525">
            <a:solidFill>
              <a:srgbClr val="334155">
                <a:alpha val="60000"/>
              </a:srgbClr>
            </a:solidFill>
            <a:prstDash val="solid"/>
          </a:ln>
          <a:effectLst>
            <a:outerShdw sx="100000" sy="100000" kx="0" ky="0" algn="bl" rotWithShape="0" blurRad="127000" dist="38100" dir="5400000">
              <a:srgbClr val="000000">
                <a:alpha val="35000"/>
              </a:srgbClr>
            </a:outerShdw>
          </a:effectLst>
        </p:spPr>
      </p:sp>
      <p:sp>
        <p:nvSpPr>
          <p:cNvPr id="26" name="Shape 22"/>
          <p:cNvSpPr/>
          <p:nvPr/>
        </p:nvSpPr>
        <p:spPr>
          <a:xfrm>
            <a:off x="7498080" y="3831336"/>
            <a:ext cx="402336" cy="402336"/>
          </a:xfrm>
          <a:prstGeom prst="ellipse">
            <a:avLst/>
          </a:prstGeom>
          <a:solidFill>
            <a:srgbClr val="3A4A63"/>
          </a:solidFill>
          <a:ln/>
        </p:spPr>
      </p:sp>
      <p:sp>
        <p:nvSpPr>
          <p:cNvPr id="27" name="Text 23"/>
          <p:cNvSpPr/>
          <p:nvPr/>
        </p:nvSpPr>
        <p:spPr>
          <a:xfrm>
            <a:off x="7498080" y="3813048"/>
            <a:ext cx="402336" cy="402336"/>
          </a:xfrm>
          <a:prstGeom prst="rect">
            <a:avLst/>
          </a:prstGeom>
          <a:noFill/>
          <a:ln/>
        </p:spPr>
        <p:txBody>
          <a:bodyPr wrap="square" lIns="0" tIns="0" rIns="0" bIns="0" rtlCol="0" anchor="ctr"/>
          <a:lstStyle/>
          <a:p>
            <a:pPr algn="ctr" indent="0" marL="0">
              <a:buNone/>
            </a:pPr>
            <a:r>
              <a:rPr lang="en-US" sz="1400" b="1" dirty="0">
                <a:solidFill>
                  <a:srgbClr val="F8FAFC"/>
                </a:solidFill>
                <a:latin typeface="Outfit" pitchFamily="34" charset="0"/>
                <a:ea typeface="Outfit" pitchFamily="34" charset="-122"/>
                <a:cs typeface="Outfit" pitchFamily="34" charset="-120"/>
              </a:rPr>
              <a:t>2</a:t>
            </a:r>
            <a:endParaRPr lang="en-US" sz="1400" dirty="0"/>
          </a:p>
        </p:txBody>
      </p:sp>
      <p:sp>
        <p:nvSpPr>
          <p:cNvPr id="28" name="Text 24"/>
          <p:cNvSpPr/>
          <p:nvPr/>
        </p:nvSpPr>
        <p:spPr>
          <a:xfrm>
            <a:off x="8065008" y="3749040"/>
            <a:ext cx="2834640" cy="320040"/>
          </a:xfrm>
          <a:prstGeom prst="rect">
            <a:avLst/>
          </a:prstGeom>
          <a:noFill/>
          <a:ln/>
        </p:spPr>
        <p:txBody>
          <a:bodyPr wrap="square" lIns="0" tIns="0" rIns="0" bIns="0" rtlCol="0" anchor="ctr"/>
          <a:lstStyle/>
          <a:p>
            <a:pPr indent="0" marL="0">
              <a:buNone/>
            </a:pPr>
            <a:r>
              <a:rPr lang="en-US" sz="1400" dirty="0">
                <a:solidFill>
                  <a:srgbClr val="F8FAFC"/>
                </a:solidFill>
                <a:latin typeface="Outfit" pitchFamily="34" charset="0"/>
                <a:ea typeface="Outfit" pitchFamily="34" charset="-122"/>
                <a:cs typeface="Outfit" pitchFamily="34" charset="-120"/>
              </a:rPr>
              <a:t>Taylor Estate</a:t>
            </a:r>
            <a:endParaRPr lang="en-US" sz="1400" dirty="0"/>
          </a:p>
        </p:txBody>
      </p:sp>
      <p:pic>
        <p:nvPicPr>
          <p:cNvPr id="29" name="Image 2" descr="preencoded.png">    </p:cNvPr>
          <p:cNvPicPr>
            <a:picLocks noChangeAspect="1"/>
          </p:cNvPicPr>
          <p:nvPr/>
        </p:nvPicPr>
        <p:blipFill>
          <a:blip r:embed="rId5"/>
          <a:stretch>
            <a:fillRect/>
          </a:stretch>
        </p:blipFill>
        <p:spPr>
          <a:xfrm>
            <a:off x="8083296" y="4096512"/>
            <a:ext cx="173736" cy="173736"/>
          </a:xfrm>
          <a:prstGeom prst="rect">
            <a:avLst/>
          </a:prstGeom>
        </p:spPr>
      </p:pic>
      <p:sp>
        <p:nvSpPr>
          <p:cNvPr id="30" name="Text 25"/>
          <p:cNvSpPr/>
          <p:nvPr/>
        </p:nvSpPr>
        <p:spPr>
          <a:xfrm>
            <a:off x="8321040" y="4032504"/>
            <a:ext cx="1097280" cy="274320"/>
          </a:xfrm>
          <a:prstGeom prst="rect">
            <a:avLst/>
          </a:prstGeom>
          <a:noFill/>
          <a:ln/>
        </p:spPr>
        <p:txBody>
          <a:bodyPr wrap="square" lIns="0" tIns="0" rIns="0" bIns="0" rtlCol="0" anchor="ctr"/>
          <a:lstStyle/>
          <a:p>
            <a:pPr indent="0" marL="0">
              <a:buNone/>
            </a:pPr>
            <a:r>
              <a:rPr lang="en-US" sz="1200" dirty="0">
                <a:solidFill>
                  <a:srgbClr val="CBD5E1"/>
                </a:solidFill>
                <a:latin typeface="Inter" pitchFamily="34" charset="0"/>
                <a:ea typeface="Inter" pitchFamily="34" charset="-122"/>
                <a:cs typeface="Inter" pitchFamily="34" charset="-120"/>
              </a:rPr>
              <a:t>4.9</a:t>
            </a:r>
            <a:endParaRPr lang="en-US" sz="1200" dirty="0"/>
          </a:p>
        </p:txBody>
      </p:sp>
      <p:sp>
        <p:nvSpPr>
          <p:cNvPr id="31" name="Shape 26"/>
          <p:cNvSpPr/>
          <p:nvPr/>
        </p:nvSpPr>
        <p:spPr>
          <a:xfrm>
            <a:off x="7315200" y="4562856"/>
            <a:ext cx="3703320" cy="804672"/>
          </a:xfrm>
          <a:prstGeom prst="roundRect">
            <a:avLst>
              <a:gd name="adj" fmla="val 13636"/>
            </a:avLst>
          </a:prstGeom>
          <a:solidFill>
            <a:srgbClr val="1E293B">
              <a:alpha val="80000"/>
            </a:srgbClr>
          </a:solidFill>
          <a:ln w="9525">
            <a:solidFill>
              <a:srgbClr val="334155">
                <a:alpha val="60000"/>
              </a:srgbClr>
            </a:solidFill>
            <a:prstDash val="solid"/>
          </a:ln>
          <a:effectLst>
            <a:outerShdw sx="100000" sy="100000" kx="0" ky="0" algn="bl" rotWithShape="0" blurRad="127000" dist="38100" dir="5400000">
              <a:srgbClr val="000000">
                <a:alpha val="35000"/>
              </a:srgbClr>
            </a:outerShdw>
          </a:effectLst>
        </p:spPr>
      </p:sp>
      <p:sp>
        <p:nvSpPr>
          <p:cNvPr id="32" name="Shape 27"/>
          <p:cNvSpPr/>
          <p:nvPr/>
        </p:nvSpPr>
        <p:spPr>
          <a:xfrm>
            <a:off x="7498080" y="4764024"/>
            <a:ext cx="402336" cy="402336"/>
          </a:xfrm>
          <a:prstGeom prst="ellipse">
            <a:avLst/>
          </a:prstGeom>
          <a:solidFill>
            <a:srgbClr val="3A4A63"/>
          </a:solidFill>
          <a:ln/>
        </p:spPr>
      </p:sp>
      <p:sp>
        <p:nvSpPr>
          <p:cNvPr id="33" name="Text 28"/>
          <p:cNvSpPr/>
          <p:nvPr/>
        </p:nvSpPr>
        <p:spPr>
          <a:xfrm>
            <a:off x="7498080" y="4745736"/>
            <a:ext cx="402336" cy="402336"/>
          </a:xfrm>
          <a:prstGeom prst="rect">
            <a:avLst/>
          </a:prstGeom>
          <a:noFill/>
          <a:ln/>
        </p:spPr>
        <p:txBody>
          <a:bodyPr wrap="square" lIns="0" tIns="0" rIns="0" bIns="0" rtlCol="0" anchor="ctr"/>
          <a:lstStyle/>
          <a:p>
            <a:pPr algn="ctr" indent="0" marL="0">
              <a:buNone/>
            </a:pPr>
            <a:r>
              <a:rPr lang="en-US" sz="1400" b="1" dirty="0">
                <a:solidFill>
                  <a:srgbClr val="F8FAFC"/>
                </a:solidFill>
                <a:latin typeface="Outfit" pitchFamily="34" charset="0"/>
                <a:ea typeface="Outfit" pitchFamily="34" charset="-122"/>
                <a:cs typeface="Outfit" pitchFamily="34" charset="-120"/>
              </a:rPr>
              <a:t>3</a:t>
            </a:r>
            <a:endParaRPr lang="en-US" sz="1400" dirty="0"/>
          </a:p>
        </p:txBody>
      </p:sp>
      <p:sp>
        <p:nvSpPr>
          <p:cNvPr id="34" name="Text 29"/>
          <p:cNvSpPr/>
          <p:nvPr/>
        </p:nvSpPr>
        <p:spPr>
          <a:xfrm>
            <a:off x="8065008" y="4681728"/>
            <a:ext cx="2834640" cy="320040"/>
          </a:xfrm>
          <a:prstGeom prst="rect">
            <a:avLst/>
          </a:prstGeom>
          <a:noFill/>
          <a:ln/>
        </p:spPr>
        <p:txBody>
          <a:bodyPr wrap="square" lIns="0" tIns="0" rIns="0" bIns="0" rtlCol="0" anchor="ctr"/>
          <a:lstStyle/>
          <a:p>
            <a:pPr indent="0" marL="0">
              <a:buNone/>
            </a:pPr>
            <a:r>
              <a:rPr lang="en-US" sz="1400" dirty="0">
                <a:solidFill>
                  <a:srgbClr val="F8FAFC"/>
                </a:solidFill>
                <a:latin typeface="Outfit" pitchFamily="34" charset="0"/>
                <a:ea typeface="Outfit" pitchFamily="34" charset="-122"/>
                <a:cs typeface="Outfit" pitchFamily="34" charset="-120"/>
              </a:rPr>
              <a:t>Screen 417</a:t>
            </a:r>
            <a:endParaRPr lang="en-US" sz="1400" dirty="0"/>
          </a:p>
        </p:txBody>
      </p:sp>
      <p:pic>
        <p:nvPicPr>
          <p:cNvPr id="35" name="Image 3" descr="preencoded.png">    </p:cNvPr>
          <p:cNvPicPr>
            <a:picLocks noChangeAspect="1"/>
          </p:cNvPicPr>
          <p:nvPr/>
        </p:nvPicPr>
        <p:blipFill>
          <a:blip r:embed="rId6"/>
          <a:stretch>
            <a:fillRect/>
          </a:stretch>
        </p:blipFill>
        <p:spPr>
          <a:xfrm>
            <a:off x="8083296" y="5029200"/>
            <a:ext cx="173736" cy="173736"/>
          </a:xfrm>
          <a:prstGeom prst="rect">
            <a:avLst/>
          </a:prstGeom>
        </p:spPr>
      </p:pic>
      <p:sp>
        <p:nvSpPr>
          <p:cNvPr id="36" name="Text 30"/>
          <p:cNvSpPr/>
          <p:nvPr/>
        </p:nvSpPr>
        <p:spPr>
          <a:xfrm>
            <a:off x="8321040" y="4965192"/>
            <a:ext cx="1097280" cy="274320"/>
          </a:xfrm>
          <a:prstGeom prst="rect">
            <a:avLst/>
          </a:prstGeom>
          <a:noFill/>
          <a:ln/>
        </p:spPr>
        <p:txBody>
          <a:bodyPr wrap="square" lIns="0" tIns="0" rIns="0" bIns="0" rtlCol="0" anchor="ctr"/>
          <a:lstStyle/>
          <a:p>
            <a:pPr indent="0" marL="0">
              <a:buNone/>
            </a:pPr>
            <a:r>
              <a:rPr lang="en-US" sz="1200" dirty="0">
                <a:solidFill>
                  <a:srgbClr val="CBD5E1"/>
                </a:solidFill>
                <a:latin typeface="Inter" pitchFamily="34" charset="0"/>
                <a:ea typeface="Inter" pitchFamily="34" charset="-122"/>
                <a:cs typeface="Inter" pitchFamily="34" charset="-120"/>
              </a:rPr>
              <a:t>5.0</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822960" y="1051560"/>
            <a:ext cx="10515600" cy="1737360"/>
          </a:xfrm>
          <a:prstGeom prst="rect">
            <a:avLst/>
          </a:prstGeom>
          <a:noFill/>
          <a:ln/>
        </p:spPr>
        <p:txBody>
          <a:bodyPr wrap="square" lIns="0" tIns="0" rIns="0" bIns="0" rtlCol="0" anchor="ctr"/>
          <a:lstStyle/>
          <a:p>
            <a:pPr algn="ctr" indent="0" marL="0">
              <a:lnSpc>
                <a:spcPct val="104000"/>
              </a:lnSpc>
              <a:buNone/>
            </a:pPr>
            <a:r>
              <a:rPr lang="en-US" sz="3800" b="1" dirty="0">
                <a:solidFill>
                  <a:srgbClr val="F8FAFC"/>
                </a:solidFill>
                <a:latin typeface="Outfit" pitchFamily="34" charset="0"/>
                <a:ea typeface="Outfit" pitchFamily="34" charset="-122"/>
                <a:cs typeface="Outfit" pitchFamily="34" charset="-120"/>
              </a:rPr>
              <a:t>So what does the librarian</a:t>
            </a:r>
            <a:endParaRPr lang="en-US" sz="3800" dirty="0"/>
          </a:p>
          <a:p>
            <a:pPr algn="ctr" indent="0" marL="0">
              <a:lnSpc>
                <a:spcPct val="104000"/>
              </a:lnSpc>
              <a:buNone/>
            </a:pPr>
            <a:r>
              <a:rPr lang="en-US" sz="3800" b="1" dirty="0">
                <a:solidFill>
                  <a:srgbClr val="F8FAFC"/>
                </a:solidFill>
                <a:latin typeface="Outfit" pitchFamily="34" charset="0"/>
                <a:ea typeface="Outfit" pitchFamily="34" charset="-122"/>
                <a:cs typeface="Outfit" pitchFamily="34" charset="-120"/>
              </a:rPr>
              <a:t>see about YOUR business?</a:t>
            </a:r>
            <a:endParaRPr lang="en-US" sz="3800" dirty="0"/>
          </a:p>
        </p:txBody>
      </p:sp>
      <p:sp>
        <p:nvSpPr>
          <p:cNvPr id="3" name="Shape 1"/>
          <p:cNvSpPr/>
          <p:nvPr/>
        </p:nvSpPr>
        <p:spPr>
          <a:xfrm>
            <a:off x="896112" y="3154680"/>
            <a:ext cx="2377440" cy="1920240"/>
          </a:xfrm>
          <a:prstGeom prst="roundRect">
            <a:avLst>
              <a:gd name="adj" fmla="val 5714"/>
            </a:avLst>
          </a:prstGeom>
          <a:solidFill>
            <a:srgbClr val="1E293B">
              <a:alpha val="86000"/>
            </a:srgbClr>
          </a:solidFill>
          <a:ln w="9525">
            <a:solidFill>
              <a:srgbClr val="334155">
                <a:alpha val="65000"/>
              </a:srgbClr>
            </a:solidFill>
            <a:prstDash val="solid"/>
          </a:ln>
          <a:effectLst>
            <a:outerShdw sx="100000" sy="100000" kx="0" ky="0" algn="bl" rotWithShape="0" blurRad="127000" dist="38100" dir="5400000">
              <a:srgbClr val="000000">
                <a:alpha val="35000"/>
              </a:srgbClr>
            </a:outerShdw>
          </a:effectLst>
        </p:spPr>
      </p:sp>
      <p:sp>
        <p:nvSpPr>
          <p:cNvPr id="4" name="Text 2"/>
          <p:cNvSpPr/>
          <p:nvPr/>
        </p:nvSpPr>
        <p:spPr>
          <a:xfrm>
            <a:off x="987552" y="3383280"/>
            <a:ext cx="2194560" cy="868680"/>
          </a:xfrm>
          <a:prstGeom prst="rect">
            <a:avLst/>
          </a:prstGeom>
          <a:noFill/>
          <a:ln/>
        </p:spPr>
        <p:txBody>
          <a:bodyPr wrap="square" lIns="0" tIns="0" rIns="0" bIns="0" rtlCol="0" anchor="ctr"/>
          <a:lstStyle/>
          <a:p>
            <a:pPr algn="ctr" indent="0" marL="0">
              <a:buNone/>
            </a:pPr>
            <a:r>
              <a:rPr lang="en-US" sz="4400" b="1" dirty="0">
                <a:solidFill>
                  <a:srgbClr val="38BDF8"/>
                </a:solidFill>
                <a:latin typeface="Outfit" pitchFamily="34" charset="0"/>
                <a:ea typeface="Outfit" pitchFamily="34" charset="-122"/>
                <a:cs typeface="Outfit" pitchFamily="34" charset="-120"/>
              </a:rPr>
              <a:t>14</a:t>
            </a:r>
            <a:endParaRPr lang="en-US" sz="4400" dirty="0"/>
          </a:p>
        </p:txBody>
      </p:sp>
      <p:sp>
        <p:nvSpPr>
          <p:cNvPr id="5" name="Text 3"/>
          <p:cNvSpPr/>
          <p:nvPr/>
        </p:nvSpPr>
        <p:spPr>
          <a:xfrm>
            <a:off x="987552" y="4343400"/>
            <a:ext cx="2194560" cy="457200"/>
          </a:xfrm>
          <a:prstGeom prst="rect">
            <a:avLst/>
          </a:prstGeom>
          <a:noFill/>
          <a:ln/>
        </p:spPr>
        <p:txBody>
          <a:bodyPr wrap="square" lIns="0" tIns="0" rIns="0" bIns="0" rtlCol="0" anchor="t"/>
          <a:lstStyle/>
          <a:p>
            <a:pPr algn="ctr" indent="0" marL="0">
              <a:buNone/>
            </a:pPr>
            <a:r>
              <a:rPr lang="en-US" sz="1250" dirty="0">
                <a:solidFill>
                  <a:srgbClr val="94A3B8"/>
                </a:solidFill>
                <a:latin typeface="Inter" pitchFamily="34" charset="0"/>
                <a:ea typeface="Inter" pitchFamily="34" charset="-122"/>
                <a:cs typeface="Inter" pitchFamily="34" charset="-120"/>
              </a:rPr>
              <a:t>member businesses</a:t>
            </a:r>
            <a:endParaRPr lang="en-US" sz="1250" dirty="0"/>
          </a:p>
        </p:txBody>
      </p:sp>
      <p:sp>
        <p:nvSpPr>
          <p:cNvPr id="6" name="Shape 4"/>
          <p:cNvSpPr/>
          <p:nvPr/>
        </p:nvSpPr>
        <p:spPr>
          <a:xfrm>
            <a:off x="3575304" y="3154680"/>
            <a:ext cx="2377440" cy="1920240"/>
          </a:xfrm>
          <a:prstGeom prst="roundRect">
            <a:avLst>
              <a:gd name="adj" fmla="val 5714"/>
            </a:avLst>
          </a:prstGeom>
          <a:solidFill>
            <a:srgbClr val="1E293B">
              <a:alpha val="86000"/>
            </a:srgbClr>
          </a:solidFill>
          <a:ln w="9525">
            <a:solidFill>
              <a:srgbClr val="334155">
                <a:alpha val="65000"/>
              </a:srgbClr>
            </a:solidFill>
            <a:prstDash val="solid"/>
          </a:ln>
          <a:effectLst>
            <a:outerShdw sx="100000" sy="100000" kx="0" ky="0" algn="bl" rotWithShape="0" blurRad="127000" dist="38100" dir="5400000">
              <a:srgbClr val="000000">
                <a:alpha val="35000"/>
              </a:srgbClr>
            </a:outerShdw>
          </a:effectLst>
        </p:spPr>
      </p:sp>
      <p:sp>
        <p:nvSpPr>
          <p:cNvPr id="7" name="Text 5"/>
          <p:cNvSpPr/>
          <p:nvPr/>
        </p:nvSpPr>
        <p:spPr>
          <a:xfrm>
            <a:off x="3666744" y="3383280"/>
            <a:ext cx="2194560" cy="868680"/>
          </a:xfrm>
          <a:prstGeom prst="rect">
            <a:avLst/>
          </a:prstGeom>
          <a:noFill/>
          <a:ln/>
        </p:spPr>
        <p:txBody>
          <a:bodyPr wrap="square" lIns="0" tIns="0" rIns="0" bIns="0" rtlCol="0" anchor="ctr"/>
          <a:lstStyle/>
          <a:p>
            <a:pPr algn="ctr" indent="0" marL="0">
              <a:buNone/>
            </a:pPr>
            <a:r>
              <a:rPr lang="en-US" sz="4400" b="1" dirty="0">
                <a:solidFill>
                  <a:srgbClr val="38BDF8"/>
                </a:solidFill>
                <a:latin typeface="Outfit" pitchFamily="34" charset="0"/>
                <a:ea typeface="Outfit" pitchFamily="34" charset="-122"/>
                <a:cs typeface="Outfit" pitchFamily="34" charset="-120"/>
              </a:rPr>
              <a:t>20</a:t>
            </a:r>
            <a:endParaRPr lang="en-US" sz="4400" dirty="0"/>
          </a:p>
        </p:txBody>
      </p:sp>
      <p:sp>
        <p:nvSpPr>
          <p:cNvPr id="8" name="Text 6"/>
          <p:cNvSpPr/>
          <p:nvPr/>
        </p:nvSpPr>
        <p:spPr>
          <a:xfrm>
            <a:off x="3666744" y="4343400"/>
            <a:ext cx="2194560" cy="457200"/>
          </a:xfrm>
          <a:prstGeom prst="rect">
            <a:avLst/>
          </a:prstGeom>
          <a:noFill/>
          <a:ln/>
        </p:spPr>
        <p:txBody>
          <a:bodyPr wrap="square" lIns="0" tIns="0" rIns="0" bIns="0" rtlCol="0" anchor="t"/>
          <a:lstStyle/>
          <a:p>
            <a:pPr algn="ctr" indent="0" marL="0">
              <a:buNone/>
            </a:pPr>
            <a:r>
              <a:rPr lang="en-US" sz="1250" dirty="0">
                <a:solidFill>
                  <a:srgbClr val="94A3B8"/>
                </a:solidFill>
                <a:latin typeface="Inter" pitchFamily="34" charset="0"/>
                <a:ea typeface="Inter" pitchFamily="34" charset="-122"/>
                <a:cs typeface="Inter" pitchFamily="34" charset="-120"/>
              </a:rPr>
              <a:t>search phrases each</a:t>
            </a:r>
            <a:endParaRPr lang="en-US" sz="1250" dirty="0"/>
          </a:p>
        </p:txBody>
      </p:sp>
      <p:sp>
        <p:nvSpPr>
          <p:cNvPr id="9" name="Shape 7"/>
          <p:cNvSpPr/>
          <p:nvPr/>
        </p:nvSpPr>
        <p:spPr>
          <a:xfrm>
            <a:off x="6254496" y="3154680"/>
            <a:ext cx="2377440" cy="1920240"/>
          </a:xfrm>
          <a:prstGeom prst="roundRect">
            <a:avLst>
              <a:gd name="adj" fmla="val 5714"/>
            </a:avLst>
          </a:prstGeom>
          <a:solidFill>
            <a:srgbClr val="1E293B">
              <a:alpha val="86000"/>
            </a:srgbClr>
          </a:solidFill>
          <a:ln w="9525">
            <a:solidFill>
              <a:srgbClr val="334155">
                <a:alpha val="65000"/>
              </a:srgbClr>
            </a:solidFill>
            <a:prstDash val="solid"/>
          </a:ln>
          <a:effectLst>
            <a:outerShdw sx="100000" sy="100000" kx="0" ky="0" algn="bl" rotWithShape="0" blurRad="127000" dist="38100" dir="5400000">
              <a:srgbClr val="000000">
                <a:alpha val="35000"/>
              </a:srgbClr>
            </a:outerShdw>
          </a:effectLst>
        </p:spPr>
      </p:sp>
      <p:sp>
        <p:nvSpPr>
          <p:cNvPr id="10" name="Text 8"/>
          <p:cNvSpPr/>
          <p:nvPr/>
        </p:nvSpPr>
        <p:spPr>
          <a:xfrm>
            <a:off x="6345936" y="3383280"/>
            <a:ext cx="2194560" cy="868680"/>
          </a:xfrm>
          <a:prstGeom prst="rect">
            <a:avLst/>
          </a:prstGeom>
          <a:noFill/>
          <a:ln/>
        </p:spPr>
        <p:txBody>
          <a:bodyPr wrap="square" lIns="0" tIns="0" rIns="0" bIns="0" rtlCol="0" anchor="ctr"/>
          <a:lstStyle/>
          <a:p>
            <a:pPr algn="ctr" indent="0" marL="0">
              <a:buNone/>
            </a:pPr>
            <a:r>
              <a:rPr lang="en-US" sz="4400" b="1" dirty="0">
                <a:solidFill>
                  <a:srgbClr val="38BDF8"/>
                </a:solidFill>
                <a:latin typeface="Outfit" pitchFamily="34" charset="0"/>
                <a:ea typeface="Outfit" pitchFamily="34" charset="-122"/>
                <a:cs typeface="Outfit" pitchFamily="34" charset="-120"/>
              </a:rPr>
              <a:t>30 mi</a:t>
            </a:r>
            <a:endParaRPr lang="en-US" sz="4400" dirty="0"/>
          </a:p>
        </p:txBody>
      </p:sp>
      <p:sp>
        <p:nvSpPr>
          <p:cNvPr id="11" name="Text 9"/>
          <p:cNvSpPr/>
          <p:nvPr/>
        </p:nvSpPr>
        <p:spPr>
          <a:xfrm>
            <a:off x="6345936" y="4343400"/>
            <a:ext cx="2194560" cy="457200"/>
          </a:xfrm>
          <a:prstGeom prst="rect">
            <a:avLst/>
          </a:prstGeom>
          <a:noFill/>
          <a:ln/>
        </p:spPr>
        <p:txBody>
          <a:bodyPr wrap="square" lIns="0" tIns="0" rIns="0" bIns="0" rtlCol="0" anchor="t"/>
          <a:lstStyle/>
          <a:p>
            <a:pPr algn="ctr" indent="0" marL="0">
              <a:buNone/>
            </a:pPr>
            <a:r>
              <a:rPr lang="en-US" sz="1250" dirty="0">
                <a:solidFill>
                  <a:srgbClr val="94A3B8"/>
                </a:solidFill>
                <a:latin typeface="Inter" pitchFamily="34" charset="0"/>
                <a:ea typeface="Inter" pitchFamily="34" charset="-122"/>
                <a:cs typeface="Inter" pitchFamily="34" charset="-120"/>
              </a:rPr>
              <a:t>radius around you</a:t>
            </a:r>
            <a:endParaRPr lang="en-US" sz="1250" dirty="0"/>
          </a:p>
        </p:txBody>
      </p:sp>
      <p:sp>
        <p:nvSpPr>
          <p:cNvPr id="12" name="Shape 10"/>
          <p:cNvSpPr/>
          <p:nvPr/>
        </p:nvSpPr>
        <p:spPr>
          <a:xfrm>
            <a:off x="8933688" y="3154680"/>
            <a:ext cx="2377440" cy="1920240"/>
          </a:xfrm>
          <a:prstGeom prst="roundRect">
            <a:avLst>
              <a:gd name="adj" fmla="val 5714"/>
            </a:avLst>
          </a:prstGeom>
          <a:solidFill>
            <a:srgbClr val="1E293B">
              <a:alpha val="86000"/>
            </a:srgbClr>
          </a:solidFill>
          <a:ln w="9525">
            <a:solidFill>
              <a:srgbClr val="334155">
                <a:alpha val="65000"/>
              </a:srgbClr>
            </a:solidFill>
            <a:prstDash val="solid"/>
          </a:ln>
          <a:effectLst>
            <a:outerShdw sx="100000" sy="100000" kx="0" ky="0" algn="bl" rotWithShape="0" blurRad="127000" dist="38100" dir="5400000">
              <a:srgbClr val="000000">
                <a:alpha val="35000"/>
              </a:srgbClr>
            </a:outerShdw>
          </a:effectLst>
        </p:spPr>
      </p:sp>
      <p:sp>
        <p:nvSpPr>
          <p:cNvPr id="13" name="Text 11"/>
          <p:cNvSpPr/>
          <p:nvPr/>
        </p:nvSpPr>
        <p:spPr>
          <a:xfrm>
            <a:off x="9025128" y="3383280"/>
            <a:ext cx="2194560" cy="868680"/>
          </a:xfrm>
          <a:prstGeom prst="rect">
            <a:avLst/>
          </a:prstGeom>
          <a:noFill/>
          <a:ln/>
        </p:spPr>
        <p:txBody>
          <a:bodyPr wrap="square" lIns="0" tIns="0" rIns="0" bIns="0" rtlCol="0" anchor="ctr"/>
          <a:lstStyle/>
          <a:p>
            <a:pPr algn="ctr" indent="0" marL="0">
              <a:buNone/>
            </a:pPr>
            <a:r>
              <a:rPr lang="en-US" sz="4400" b="1" dirty="0">
                <a:solidFill>
                  <a:srgbClr val="38BDF8"/>
                </a:solidFill>
                <a:latin typeface="Outfit" pitchFamily="34" charset="0"/>
                <a:ea typeface="Outfit" pitchFamily="34" charset="-122"/>
                <a:cs typeface="Outfit" pitchFamily="34" charset="-120"/>
              </a:rPr>
              <a:t>4,440</a:t>
            </a:r>
            <a:endParaRPr lang="en-US" sz="4400" dirty="0"/>
          </a:p>
        </p:txBody>
      </p:sp>
      <p:sp>
        <p:nvSpPr>
          <p:cNvPr id="14" name="Text 12"/>
          <p:cNvSpPr/>
          <p:nvPr/>
        </p:nvSpPr>
        <p:spPr>
          <a:xfrm>
            <a:off x="9025128" y="4343400"/>
            <a:ext cx="2194560" cy="457200"/>
          </a:xfrm>
          <a:prstGeom prst="rect">
            <a:avLst/>
          </a:prstGeom>
          <a:noFill/>
          <a:ln/>
        </p:spPr>
        <p:txBody>
          <a:bodyPr wrap="square" lIns="0" tIns="0" rIns="0" bIns="0" rtlCol="0" anchor="t"/>
          <a:lstStyle/>
          <a:p>
            <a:pPr algn="ctr" indent="0" marL="0">
              <a:buNone/>
            </a:pPr>
            <a:r>
              <a:rPr lang="en-US" sz="1250" dirty="0">
                <a:solidFill>
                  <a:srgbClr val="94A3B8"/>
                </a:solidFill>
                <a:latin typeface="Inter" pitchFamily="34" charset="0"/>
                <a:ea typeface="Inter" pitchFamily="34" charset="-122"/>
                <a:cs typeface="Inter" pitchFamily="34" charset="-120"/>
              </a:rPr>
              <a:t>real Google searches</a:t>
            </a:r>
            <a:endParaRPr lang="en-US" sz="1250" dirty="0"/>
          </a:p>
        </p:txBody>
      </p:sp>
      <p:sp>
        <p:nvSpPr>
          <p:cNvPr id="15" name="Text 13"/>
          <p:cNvSpPr/>
          <p:nvPr/>
        </p:nvSpPr>
        <p:spPr>
          <a:xfrm>
            <a:off x="1737360" y="5577840"/>
            <a:ext cx="8686800" cy="457200"/>
          </a:xfrm>
          <a:prstGeom prst="rect">
            <a:avLst/>
          </a:prstGeom>
          <a:noFill/>
          <a:ln/>
        </p:spPr>
        <p:txBody>
          <a:bodyPr wrap="square" lIns="0" tIns="0" rIns="0" bIns="0" rtlCol="0" anchor="ctr"/>
          <a:lstStyle/>
          <a:p>
            <a:pPr algn="ctr" indent="0" marL="0">
              <a:buNone/>
            </a:pPr>
            <a:r>
              <a:rPr lang="en-US" sz="1600" i="1" dirty="0">
                <a:solidFill>
                  <a:srgbClr val="CBD5E1"/>
                </a:solidFill>
                <a:latin typeface="Inter" pitchFamily="34" charset="0"/>
                <a:ea typeface="Inter" pitchFamily="34" charset="-122"/>
                <a:cs typeface="Inter" pitchFamily="34" charset="-120"/>
              </a:rPr>
              <a:t>We did not guess. We measured this chapter, one business at a time.</a:t>
            </a:r>
            <a:endParaRPr lang="en-US" sz="16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822960" y="1051560"/>
            <a:ext cx="6400800" cy="292608"/>
          </a:xfrm>
          <a:prstGeom prst="rect">
            <a:avLst/>
          </a:prstGeom>
          <a:noFill/>
          <a:ln/>
        </p:spPr>
        <p:txBody>
          <a:bodyPr wrap="square" lIns="0" tIns="0" rIns="0" bIns="0" rtlCol="0" anchor="ctr"/>
          <a:lstStyle/>
          <a:p>
            <a:pPr algn="l" indent="0" marL="0">
              <a:buNone/>
            </a:pPr>
            <a:r>
              <a:rPr lang="en-US" sz="1100" b="1" spc="300" kern="0" dirty="0">
                <a:solidFill>
                  <a:srgbClr val="38BDF8"/>
                </a:solidFill>
                <a:latin typeface="Inter" pitchFamily="34" charset="0"/>
                <a:ea typeface="Inter" pitchFamily="34" charset="-122"/>
                <a:cs typeface="Inter" pitchFamily="34" charset="-120"/>
              </a:rPr>
              <a:t>THIS MORNING</a:t>
            </a:r>
            <a:endParaRPr lang="en-US" sz="1100" dirty="0"/>
          </a:p>
        </p:txBody>
      </p:sp>
      <p:sp>
        <p:nvSpPr>
          <p:cNvPr id="3" name="Text 1"/>
          <p:cNvSpPr/>
          <p:nvPr/>
        </p:nvSpPr>
        <p:spPr>
          <a:xfrm>
            <a:off x="795528" y="1463040"/>
            <a:ext cx="9601200" cy="914400"/>
          </a:xfrm>
          <a:prstGeom prst="rect">
            <a:avLst/>
          </a:prstGeom>
          <a:noFill/>
          <a:ln/>
        </p:spPr>
        <p:txBody>
          <a:bodyPr wrap="square" lIns="0" tIns="0" rIns="0" bIns="0" rtlCol="0" anchor="ctr"/>
          <a:lstStyle/>
          <a:p>
            <a:pPr algn="l" indent="0" marL="0">
              <a:lnSpc>
                <a:spcPct val="104000"/>
              </a:lnSpc>
              <a:buNone/>
            </a:pPr>
            <a:r>
              <a:rPr lang="en-US" sz="4000" b="1" dirty="0">
                <a:solidFill>
                  <a:srgbClr val="F8FAFC"/>
                </a:solidFill>
                <a:latin typeface="Outfit" pitchFamily="34" charset="0"/>
                <a:ea typeface="Outfit" pitchFamily="34" charset="-122"/>
                <a:cs typeface="Outfit" pitchFamily="34" charset="-120"/>
              </a:rPr>
              <a:t>Your copy is already on its way.</a:t>
            </a:r>
            <a:endParaRPr lang="en-US" sz="4000" dirty="0"/>
          </a:p>
        </p:txBody>
      </p:sp>
      <p:sp>
        <p:nvSpPr>
          <p:cNvPr id="4" name="Text 2"/>
          <p:cNvSpPr/>
          <p:nvPr/>
        </p:nvSpPr>
        <p:spPr>
          <a:xfrm>
            <a:off x="822960" y="2514600"/>
            <a:ext cx="5852160" cy="914400"/>
          </a:xfrm>
          <a:prstGeom prst="rect">
            <a:avLst/>
          </a:prstGeom>
          <a:noFill/>
          <a:ln/>
        </p:spPr>
        <p:txBody>
          <a:bodyPr wrap="square" lIns="0" tIns="0" rIns="0" bIns="0" rtlCol="0" anchor="t"/>
          <a:lstStyle/>
          <a:p>
            <a:pPr algn="l" indent="0" marL="0">
              <a:lnSpc>
                <a:spcPct val="125000"/>
              </a:lnSpc>
              <a:buNone/>
            </a:pPr>
            <a:r>
              <a:rPr lang="en-US" sz="1550" dirty="0">
                <a:solidFill>
                  <a:srgbClr val="CBD5E1"/>
                </a:solidFill>
                <a:latin typeface="Inter" pitchFamily="34" charset="0"/>
                <a:ea typeface="Inter" pitchFamily="34" charset="-122"/>
                <a:cs typeface="Inter" pitchFamily="34" charset="-120"/>
              </a:rPr>
              <a:t>Every member gets a personalized audit of their own business. Yours, not a template. Read it in five minutes.</a:t>
            </a:r>
            <a:endParaRPr lang="en-US" sz="1550" dirty="0"/>
          </a:p>
        </p:txBody>
      </p:sp>
      <p:sp>
        <p:nvSpPr>
          <p:cNvPr id="5" name="Shape 3"/>
          <p:cNvSpPr/>
          <p:nvPr/>
        </p:nvSpPr>
        <p:spPr>
          <a:xfrm>
            <a:off x="822960" y="3657600"/>
            <a:ext cx="7589520" cy="1463040"/>
          </a:xfrm>
          <a:prstGeom prst="roundRect">
            <a:avLst>
              <a:gd name="adj" fmla="val 7500"/>
            </a:avLst>
          </a:prstGeom>
          <a:solidFill>
            <a:srgbClr val="1E293B">
              <a:alpha val="92000"/>
            </a:srgbClr>
          </a:solidFill>
          <a:ln w="9525">
            <a:solidFill>
              <a:srgbClr val="334155">
                <a:alpha val="65000"/>
              </a:srgbClr>
            </a:solidFill>
            <a:prstDash val="solid"/>
          </a:ln>
          <a:effectLst>
            <a:outerShdw sx="100000" sy="100000" kx="0" ky="0" algn="bl" rotWithShape="0" blurRad="127000" dist="38100" dir="5400000">
              <a:srgbClr val="000000">
                <a:alpha val="35000"/>
              </a:srgbClr>
            </a:outerShdw>
          </a:effectLst>
        </p:spPr>
      </p:sp>
      <p:sp>
        <p:nvSpPr>
          <p:cNvPr id="6" name="Shape 4"/>
          <p:cNvSpPr/>
          <p:nvPr/>
        </p:nvSpPr>
        <p:spPr>
          <a:xfrm>
            <a:off x="1143000" y="3977640"/>
            <a:ext cx="822960" cy="822960"/>
          </a:xfrm>
          <a:prstGeom prst="ellipse">
            <a:avLst/>
          </a:prstGeom>
          <a:solidFill>
            <a:srgbClr val="243146">
              <a:alpha val="90000"/>
            </a:srgbClr>
          </a:solidFill>
          <a:ln w="9525">
            <a:solidFill>
              <a:srgbClr val="334155">
                <a:alpha val="70000"/>
              </a:srgbClr>
            </a:solidFill>
            <a:prstDash val="solid"/>
          </a:ln>
        </p:spPr>
      </p:sp>
      <p:pic>
        <p:nvPicPr>
          <p:cNvPr id="7" name="Image 0" descr="preencoded.png">    </p:cNvPr>
          <p:cNvPicPr>
            <a:picLocks noChangeAspect="1"/>
          </p:cNvPicPr>
          <p:nvPr/>
        </p:nvPicPr>
        <p:blipFill>
          <a:blip r:embed="rId2"/>
          <a:stretch>
            <a:fillRect/>
          </a:stretch>
        </p:blipFill>
        <p:spPr>
          <a:xfrm>
            <a:off x="1356970" y="4191610"/>
            <a:ext cx="395021" cy="395021"/>
          </a:xfrm>
          <a:prstGeom prst="rect">
            <a:avLst/>
          </a:prstGeom>
        </p:spPr>
      </p:pic>
      <p:sp>
        <p:nvSpPr>
          <p:cNvPr id="8" name="Text 5"/>
          <p:cNvSpPr/>
          <p:nvPr/>
        </p:nvSpPr>
        <p:spPr>
          <a:xfrm>
            <a:off x="2240280" y="3913632"/>
            <a:ext cx="5120640" cy="411480"/>
          </a:xfrm>
          <a:prstGeom prst="rect">
            <a:avLst/>
          </a:prstGeom>
          <a:noFill/>
          <a:ln/>
        </p:spPr>
        <p:txBody>
          <a:bodyPr wrap="square" lIns="0" tIns="0" rIns="0" bIns="0" rtlCol="0" anchor="ctr"/>
          <a:lstStyle/>
          <a:p>
            <a:pPr indent="0" marL="0">
              <a:buNone/>
            </a:pPr>
            <a:r>
              <a:rPr lang="en-US" sz="1800" b="1" dirty="0">
                <a:solidFill>
                  <a:srgbClr val="F8FAFC"/>
                </a:solidFill>
                <a:latin typeface="Outfit" pitchFamily="34" charset="0"/>
                <a:ea typeface="Outfit" pitchFamily="34" charset="-122"/>
                <a:cs typeface="Outfit" pitchFamily="34" charset="-120"/>
              </a:rPr>
              <a:t>Your Simple SEO Audit is ready</a:t>
            </a:r>
            <a:endParaRPr lang="en-US" sz="1800" dirty="0"/>
          </a:p>
        </p:txBody>
      </p:sp>
      <p:sp>
        <p:nvSpPr>
          <p:cNvPr id="9" name="Text 6"/>
          <p:cNvSpPr/>
          <p:nvPr/>
        </p:nvSpPr>
        <p:spPr>
          <a:xfrm>
            <a:off x="2240280" y="4370832"/>
            <a:ext cx="5852160" cy="365760"/>
          </a:xfrm>
          <a:prstGeom prst="rect">
            <a:avLst/>
          </a:prstGeom>
          <a:noFill/>
          <a:ln/>
        </p:spPr>
        <p:txBody>
          <a:bodyPr wrap="square" lIns="0" tIns="0" rIns="0" bIns="0" rtlCol="0" anchor="ctr"/>
          <a:lstStyle/>
          <a:p>
            <a:pPr indent="0" marL="0">
              <a:buNone/>
            </a:pPr>
            <a:r>
              <a:rPr lang="en-US" sz="1300" dirty="0">
                <a:solidFill>
                  <a:srgbClr val="CBD5E1"/>
                </a:solidFill>
                <a:latin typeface="Inter" pitchFamily="34" charset="0"/>
                <a:ea typeface="Inter" pitchFamily="34" charset="-122"/>
                <a:cs typeface="Inter" pitchFamily="34" charset="-120"/>
              </a:rPr>
              <a:t>Where you own the shelf  ·  where you are on the edge  ·  three clear actions</a:t>
            </a:r>
            <a:endParaRPr lang="en-US" sz="1300" dirty="0"/>
          </a:p>
        </p:txBody>
      </p:sp>
      <p:sp>
        <p:nvSpPr>
          <p:cNvPr id="10" name="Shape 7"/>
          <p:cNvSpPr/>
          <p:nvPr/>
        </p:nvSpPr>
        <p:spPr>
          <a:xfrm>
            <a:off x="8823960" y="4160520"/>
            <a:ext cx="1188720" cy="457200"/>
          </a:xfrm>
          <a:prstGeom prst="roundRect">
            <a:avLst>
              <a:gd name="adj" fmla="val 50000"/>
            </a:avLst>
          </a:prstGeom>
          <a:solidFill>
            <a:srgbClr val="10B981"/>
          </a:solidFill>
          <a:ln/>
        </p:spPr>
      </p:sp>
      <p:sp>
        <p:nvSpPr>
          <p:cNvPr id="11" name="Text 8"/>
          <p:cNvSpPr/>
          <p:nvPr/>
        </p:nvSpPr>
        <p:spPr>
          <a:xfrm>
            <a:off x="8823960" y="4160520"/>
            <a:ext cx="1188720" cy="457200"/>
          </a:xfrm>
          <a:prstGeom prst="rect">
            <a:avLst/>
          </a:prstGeom>
          <a:noFill/>
          <a:ln/>
        </p:spPr>
        <p:txBody>
          <a:bodyPr wrap="square" lIns="0" tIns="0" rIns="0" bIns="0" rtlCol="0" anchor="ctr"/>
          <a:lstStyle/>
          <a:p>
            <a:pPr algn="ctr" indent="0" marL="0">
              <a:buNone/>
            </a:pPr>
            <a:r>
              <a:rPr lang="en-US" sz="1200" b="1" spc="150" kern="0" dirty="0">
                <a:solidFill>
                  <a:srgbClr val="0B1120"/>
                </a:solidFill>
                <a:latin typeface="Outfit" pitchFamily="34" charset="0"/>
                <a:ea typeface="Outfit" pitchFamily="34" charset="-122"/>
                <a:cs typeface="Outfit" pitchFamily="34" charset="-120"/>
              </a:rPr>
              <a:t>TODAY</a:t>
            </a:r>
            <a:endParaRPr lang="en-US" sz="1200" dirty="0"/>
          </a:p>
        </p:txBody>
      </p:sp>
      <p:sp>
        <p:nvSpPr>
          <p:cNvPr id="12" name="Text 9"/>
          <p:cNvSpPr/>
          <p:nvPr/>
        </p:nvSpPr>
        <p:spPr>
          <a:xfrm>
            <a:off x="822960" y="5440680"/>
            <a:ext cx="7315200" cy="365760"/>
          </a:xfrm>
          <a:prstGeom prst="rect">
            <a:avLst/>
          </a:prstGeom>
          <a:noFill/>
          <a:ln/>
        </p:spPr>
        <p:txBody>
          <a:bodyPr wrap="square" lIns="0" tIns="0" rIns="0" bIns="0" rtlCol="0" anchor="ctr"/>
          <a:lstStyle/>
          <a:p>
            <a:pPr indent="0" marL="0">
              <a:buNone/>
            </a:pPr>
            <a:r>
              <a:rPr lang="en-US" sz="1300" i="1" dirty="0">
                <a:solidFill>
                  <a:srgbClr val="94A3B8"/>
                </a:solidFill>
                <a:latin typeface="Inter" pitchFamily="34" charset="0"/>
                <a:ea typeface="Inter" pitchFamily="34" charset="-122"/>
                <a:cs typeface="Inter" pitchFamily="34" charset="-120"/>
              </a:rPr>
              <a:t>Check the email address your chapter roster has on file.</a:t>
            </a:r>
            <a:endParaRPr lang="en-US" sz="1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822960" y="1965960"/>
            <a:ext cx="7315200" cy="914400"/>
          </a:xfrm>
          <a:prstGeom prst="rect">
            <a:avLst/>
          </a:prstGeom>
          <a:noFill/>
          <a:ln/>
        </p:spPr>
        <p:txBody>
          <a:bodyPr wrap="square" lIns="0" tIns="0" rIns="0" bIns="0" rtlCol="0" anchor="ctr"/>
          <a:lstStyle/>
          <a:p>
            <a:pPr algn="l" indent="0" marL="0">
              <a:lnSpc>
                <a:spcPct val="104000"/>
              </a:lnSpc>
              <a:buNone/>
            </a:pPr>
            <a:r>
              <a:rPr lang="en-US" sz="5800" b="1" dirty="0">
                <a:solidFill>
                  <a:srgbClr val="F8FAFC"/>
                </a:solidFill>
                <a:latin typeface="Outfit" pitchFamily="34" charset="0"/>
                <a:ea typeface="Outfit" pitchFamily="34" charset="-122"/>
                <a:cs typeface="Outfit" pitchFamily="34" charset="-120"/>
              </a:rPr>
              <a:t>Thank you.</a:t>
            </a:r>
            <a:endParaRPr lang="en-US" sz="5800" dirty="0"/>
          </a:p>
        </p:txBody>
      </p:sp>
      <p:sp>
        <p:nvSpPr>
          <p:cNvPr id="3" name="Text 1"/>
          <p:cNvSpPr/>
          <p:nvPr/>
        </p:nvSpPr>
        <p:spPr>
          <a:xfrm>
            <a:off x="850392" y="3200400"/>
            <a:ext cx="6858000" cy="457200"/>
          </a:xfrm>
          <a:prstGeom prst="rect">
            <a:avLst/>
          </a:prstGeom>
          <a:noFill/>
          <a:ln/>
        </p:spPr>
        <p:txBody>
          <a:bodyPr wrap="square" lIns="0" tIns="0" rIns="0" bIns="0" rtlCol="0" anchor="ctr"/>
          <a:lstStyle/>
          <a:p>
            <a:pPr indent="0" marL="0">
              <a:buNone/>
            </a:pPr>
            <a:r>
              <a:rPr lang="en-US" sz="1900" dirty="0">
                <a:solidFill>
                  <a:srgbClr val="38BDF8"/>
                </a:solidFill>
                <a:latin typeface="Inter" pitchFamily="34" charset="0"/>
                <a:ea typeface="Inter" pitchFamily="34" charset="-122"/>
                <a:cs typeface="Inter" pitchFamily="34" charset="-120"/>
              </a:rPr>
              <a:t>Questions about your report? Come find me.</a:t>
            </a:r>
            <a:endParaRPr lang="en-US" sz="1900" dirty="0"/>
          </a:p>
        </p:txBody>
      </p:sp>
      <p:sp>
        <p:nvSpPr>
          <p:cNvPr id="4" name="Shape 2"/>
          <p:cNvSpPr/>
          <p:nvPr/>
        </p:nvSpPr>
        <p:spPr>
          <a:xfrm>
            <a:off x="822960" y="4206240"/>
            <a:ext cx="5394960" cy="1417320"/>
          </a:xfrm>
          <a:prstGeom prst="roundRect">
            <a:avLst>
              <a:gd name="adj" fmla="val 7742"/>
            </a:avLst>
          </a:prstGeom>
          <a:solidFill>
            <a:srgbClr val="1E293B">
              <a:alpha val="78000"/>
            </a:srgbClr>
          </a:solidFill>
          <a:ln w="9525">
            <a:solidFill>
              <a:srgbClr val="334155">
                <a:alpha val="65000"/>
              </a:srgbClr>
            </a:solidFill>
            <a:prstDash val="solid"/>
          </a:ln>
          <a:effectLst>
            <a:outerShdw sx="100000" sy="100000" kx="0" ky="0" algn="bl" rotWithShape="0" blurRad="127000" dist="38100" dir="5400000">
              <a:srgbClr val="000000">
                <a:alpha val="35000"/>
              </a:srgbClr>
            </a:outerShdw>
          </a:effectLst>
        </p:spPr>
      </p:sp>
      <p:sp>
        <p:nvSpPr>
          <p:cNvPr id="5" name="Text 3"/>
          <p:cNvSpPr/>
          <p:nvPr/>
        </p:nvSpPr>
        <p:spPr>
          <a:xfrm>
            <a:off x="1143000" y="4434840"/>
            <a:ext cx="4572000" cy="365760"/>
          </a:xfrm>
          <a:prstGeom prst="rect">
            <a:avLst/>
          </a:prstGeom>
          <a:noFill/>
          <a:ln/>
        </p:spPr>
        <p:txBody>
          <a:bodyPr wrap="square" lIns="0" tIns="0" rIns="0" bIns="0" rtlCol="0" anchor="ctr"/>
          <a:lstStyle/>
          <a:p>
            <a:pPr indent="0" marL="0">
              <a:buNone/>
            </a:pPr>
            <a:r>
              <a:rPr lang="en-US" sz="1800" b="1" dirty="0">
                <a:solidFill>
                  <a:srgbClr val="F8FAFC"/>
                </a:solidFill>
                <a:latin typeface="Outfit" pitchFamily="34" charset="0"/>
                <a:ea typeface="Outfit" pitchFamily="34" charset="-122"/>
                <a:cs typeface="Outfit" pitchFamily="34" charset="-120"/>
              </a:rPr>
              <a:t>Eric Kirby</a:t>
            </a:r>
            <a:endParaRPr lang="en-US" sz="1800" dirty="0"/>
          </a:p>
        </p:txBody>
      </p:sp>
      <p:sp>
        <p:nvSpPr>
          <p:cNvPr id="6" name="Text 4"/>
          <p:cNvSpPr/>
          <p:nvPr/>
        </p:nvSpPr>
        <p:spPr>
          <a:xfrm>
            <a:off x="1143000" y="4846320"/>
            <a:ext cx="4846320" cy="292608"/>
          </a:xfrm>
          <a:prstGeom prst="rect">
            <a:avLst/>
          </a:prstGeom>
          <a:noFill/>
          <a:ln/>
        </p:spPr>
        <p:txBody>
          <a:bodyPr wrap="square" lIns="0" tIns="0" rIns="0" bIns="0" rtlCol="0" anchor="ctr"/>
          <a:lstStyle/>
          <a:p>
            <a:pPr indent="0" marL="0">
              <a:buNone/>
            </a:pPr>
            <a:r>
              <a:rPr lang="en-US" sz="1300" dirty="0">
                <a:solidFill>
                  <a:srgbClr val="CBD5E1"/>
                </a:solidFill>
                <a:latin typeface="Inter" pitchFamily="34" charset="0"/>
                <a:ea typeface="Inter" pitchFamily="34" charset="-122"/>
                <a:cs typeface="Inter" pitchFamily="34" charset="-120"/>
              </a:rPr>
              <a:t>Synergy Telecom  ·  synergytelecom.org</a:t>
            </a:r>
            <a:endParaRPr lang="en-US" sz="1300" dirty="0"/>
          </a:p>
        </p:txBody>
      </p:sp>
      <p:sp>
        <p:nvSpPr>
          <p:cNvPr id="7" name="Text 5"/>
          <p:cNvSpPr/>
          <p:nvPr/>
        </p:nvSpPr>
        <p:spPr>
          <a:xfrm>
            <a:off x="1143000" y="5157216"/>
            <a:ext cx="4846320" cy="292608"/>
          </a:xfrm>
          <a:prstGeom prst="rect">
            <a:avLst/>
          </a:prstGeom>
          <a:noFill/>
          <a:ln/>
        </p:spPr>
        <p:txBody>
          <a:bodyPr wrap="square" lIns="0" tIns="0" rIns="0" bIns="0" rtlCol="0" anchor="ctr"/>
          <a:lstStyle/>
          <a:p>
            <a:pPr indent="0" marL="0">
              <a:buNone/>
            </a:pPr>
            <a:r>
              <a:rPr lang="en-US" sz="1300" dirty="0">
                <a:solidFill>
                  <a:srgbClr val="94A3B8"/>
                </a:solidFill>
                <a:latin typeface="Inter" pitchFamily="34" charset="0"/>
                <a:ea typeface="Inter" pitchFamily="34" charset="-122"/>
                <a:cs typeface="Inter" pitchFamily="34" charset="-120"/>
              </a:rPr>
              <a:t>Eric@synergytelecom.org</a:t>
            </a:r>
            <a:endParaRPr lang="en-US" sz="1300" dirty="0"/>
          </a:p>
        </p:txBody>
      </p:sp>
      <p:sp>
        <p:nvSpPr>
          <p:cNvPr id="8" name="Text 6"/>
          <p:cNvSpPr/>
          <p:nvPr/>
        </p:nvSpPr>
        <p:spPr>
          <a:xfrm>
            <a:off x="850392" y="6172200"/>
            <a:ext cx="5486400" cy="320040"/>
          </a:xfrm>
          <a:prstGeom prst="rect">
            <a:avLst/>
          </a:prstGeom>
          <a:noFill/>
          <a:ln/>
        </p:spPr>
        <p:txBody>
          <a:bodyPr wrap="square" lIns="0" tIns="0" rIns="0" bIns="0" rtlCol="0" anchor="ctr"/>
          <a:lstStyle/>
          <a:p>
            <a:pPr indent="0" marL="0">
              <a:buNone/>
            </a:pPr>
            <a:r>
              <a:rPr lang="en-US" sz="1100" dirty="0">
                <a:solidFill>
                  <a:srgbClr val="94A3B8">
                    <a:alpha val="80000"/>
                  </a:srgbClr>
                </a:solidFill>
                <a:latin typeface="Inter" pitchFamily="34" charset="0"/>
                <a:ea typeface="Inter" pitchFamily="34" charset="-122"/>
                <a:cs typeface="Inter" pitchFamily="34" charset="-120"/>
              </a:rPr>
              <a:t>Audit reports built with Forge Dev Studio</a:t>
            </a:r>
            <a:endParaRPr lang="en-US" sz="1100" dirty="0"/>
          </a:p>
        </p:txBody>
      </p:sp>
      <p:sp>
        <p:nvSpPr>
          <p:cNvPr id="9" name="Shape 7"/>
          <p:cNvSpPr/>
          <p:nvPr/>
        </p:nvSpPr>
        <p:spPr>
          <a:xfrm>
            <a:off x="8229600" y="1965960"/>
            <a:ext cx="2926080" cy="2926080"/>
          </a:xfrm>
          <a:prstGeom prst="ellipse">
            <a:avLst/>
          </a:prstGeom>
          <a:ln w="12700">
            <a:solidFill>
              <a:srgbClr val="3B82F6">
                <a:alpha val="28000"/>
              </a:srgbClr>
            </a:solidFill>
            <a:prstDash val="solid"/>
          </a:ln>
        </p:spPr>
      </p:sp>
      <p:sp>
        <p:nvSpPr>
          <p:cNvPr id="10" name="Shape 8"/>
          <p:cNvSpPr/>
          <p:nvPr/>
        </p:nvSpPr>
        <p:spPr>
          <a:xfrm>
            <a:off x="9189720" y="2926080"/>
            <a:ext cx="1005840" cy="1005840"/>
          </a:xfrm>
          <a:prstGeom prst="ellipse">
            <a:avLst/>
          </a:prstGeom>
          <a:solidFill>
            <a:srgbClr val="243146"/>
          </a:solidFill>
          <a:ln w="9525">
            <a:solidFill>
              <a:srgbClr val="334155">
                <a:alpha val="70000"/>
              </a:srgbClr>
            </a:solidFill>
            <a:prstDash val="solid"/>
          </a:ln>
        </p:spPr>
      </p:sp>
      <p:pic>
        <p:nvPicPr>
          <p:cNvPr id="11" name="Image 0" descr="preencoded.png">    </p:cNvPr>
          <p:cNvPicPr>
            <a:picLocks noChangeAspect="1"/>
          </p:cNvPicPr>
          <p:nvPr/>
        </p:nvPicPr>
        <p:blipFill>
          <a:blip r:embed="rId2"/>
          <a:stretch>
            <a:fillRect/>
          </a:stretch>
        </p:blipFill>
        <p:spPr>
          <a:xfrm>
            <a:off x="9451238" y="3187598"/>
            <a:ext cx="482803" cy="482803"/>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Synergy Telecom</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Demystifying SEO</dc:title>
  <dc:subject>PptxGenJS Presentation</dc:subject>
  <dc:creator>Eric Kirby</dc:creator>
  <cp:lastModifiedBy>Eric Kirby</cp:lastModifiedBy>
  <cp:revision>1</cp:revision>
  <dcterms:created xsi:type="dcterms:W3CDTF">2026-07-21T04:02:07Z</dcterms:created>
  <dcterms:modified xsi:type="dcterms:W3CDTF">2026-07-21T04:02:07Z</dcterms:modified>
</cp:coreProperties>
</file>